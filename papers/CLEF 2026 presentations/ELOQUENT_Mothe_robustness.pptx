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5.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4.xml" ContentType="application/vnd.openxmlformats-officedocument.presentationml.slide+xml"/>
  <Override PartName="/ppt/slides/slide13.xml" ContentType="application/vnd.openxmlformats-officedocument.presentationml.slide+xml"/>
  <Override PartName="/ppt/slides/slide12.xml" ContentType="application/vnd.openxmlformats-officedocument.presentationml.slide+xml"/>
  <Override PartName="/ppt/slides/slide11.xml" ContentType="application/vnd.openxmlformats-officedocument.presentationml.slide+xml"/>
  <Override PartName="/ppt/slides/slide3.xml" ContentType="application/vnd.openxmlformats-officedocument.presentationml.slide+xml"/>
  <Override PartName="/ppt/slides/slide2.xml" ContentType="application/vnd.openxmlformats-officedocument.presentationml.slide+xml"/>
  <Override PartName="/ppt/slides/slide1.xml" ContentType="application/vnd.openxmlformats-officedocument.presentationml.slide+xml"/>
  <Override PartName="/ppt/slides/slide16.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9.xml" ContentType="application/vnd.openxmlformats-officedocument.presentationml.slideLayout+xml"/>
  <Override PartName="/ppt/slideLayouts/slideLayout8.xml" ContentType="application/vnd.openxmlformats-officedocument.presentationml.slideLayout+xml"/>
  <Override PartName="/ppt/slideLayouts/slideLayout7.xml" ContentType="application/vnd.openxmlformats-officedocument.presentationml.slideLayout+xml"/>
  <Override PartName="/ppt/slideLayouts/slideLayout6.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notesSlides/notesSlide1.xml" ContentType="application/vnd.openxmlformats-officedocument.presentationml.notesSlide+xml"/>
  <Override PartName="/ppt/theme/theme2.xml" ContentType="application/vnd.openxmlformats-officedocument.theme+xml"/>
  <Override PartName="/ppt/notesMasters/notesMaster1.xml" ContentType="application/vnd.openxmlformats-officedocument.presentationml.notesMaster+xml"/>
  <Override PartName="/ppt/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6" r:id="rId2"/>
    <p:sldId id="257" r:id="rId3"/>
    <p:sldId id="260" r:id="rId4"/>
    <p:sldId id="261" r:id="rId5"/>
    <p:sldId id="262" r:id="rId6"/>
    <p:sldId id="263" r:id="rId7"/>
    <p:sldId id="264" r:id="rId8"/>
    <p:sldId id="265" r:id="rId9"/>
    <p:sldId id="258" r:id="rId10"/>
    <p:sldId id="259" r:id="rId11"/>
    <p:sldId id="266" r:id="rId12"/>
    <p:sldId id="267" r:id="rId13"/>
    <p:sldId id="268" r:id="rId14"/>
    <p:sldId id="270" r:id="rId15"/>
    <p:sldId id="271" r:id="rId16"/>
    <p:sldId id="272" r:id="rId17"/>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8" autoAdjust="0"/>
    <p:restoredTop sz="94660"/>
  </p:normalViewPr>
  <p:slideViewPr>
    <p:cSldViewPr snapToGrid="0">
      <p:cViewPr varScale="1">
        <p:scale>
          <a:sx n="70" d="100"/>
          <a:sy n="70" d="100"/>
        </p:scale>
        <p:origin x="459" y="48"/>
      </p:cViewPr>
      <p:guideLst/>
    </p:cSldViewPr>
  </p:slideViewPr>
  <p:notesTextViewPr>
    <p:cViewPr>
      <p:scale>
        <a:sx n="1" d="1"/>
        <a:sy n="1" d="1"/>
      </p:scale>
      <p:origin x="0" y="0"/>
    </p:cViewPr>
  </p:notesTextViewPr>
  <p:notesViewPr>
    <p:cSldViewPr snapToGrid="0">
      <p:cViewPr varScale="1">
        <p:scale>
          <a:sx n="53" d="100"/>
          <a:sy n="53" d="100"/>
        </p:scale>
        <p:origin x="2586" y="51"/>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customXml" Target="../customXml/item3.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customXml" Target="../customXml/item2.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customXml" Target="../customXml/item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CA86D4D-E941-4EB7-86CD-7B67070BC22C}" type="datetimeFigureOut">
              <a:rPr lang="fr-FR" smtClean="0"/>
              <a:t>22/09/2026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6BD3E1E-FEE5-4654-A200-FE71D964C0A5}" type="slidenum">
              <a:rPr lang="fr-FR" smtClean="0"/>
              <a:t>‹N°›</a:t>
            </a:fld>
            <a:endParaRPr lang="fr-FR"/>
          </a:p>
        </p:txBody>
      </p:sp>
    </p:spTree>
    <p:extLst>
      <p:ext uri="{BB962C8B-B14F-4D97-AF65-F5344CB8AC3E}">
        <p14:creationId xmlns:p14="http://schemas.microsoft.com/office/powerpoint/2010/main" val="14673736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lvl="0" eaLnBrk="0" fontAlgn="base" hangingPunct="0">
              <a:lnSpc>
                <a:spcPct val="150000"/>
              </a:lnSpc>
              <a:spcBef>
                <a:spcPct val="0"/>
              </a:spcBef>
              <a:spcAft>
                <a:spcPct val="0"/>
              </a:spcAft>
            </a:pPr>
            <a:r>
              <a:rPr lang="en-US" sz="1400"/>
              <a:t>Participants tested whether LLM responses change appropriately according to cultural context. </a:t>
            </a:r>
          </a:p>
          <a:p>
            <a:pPr lvl="0" eaLnBrk="0" fontAlgn="base" hangingPunct="0">
              <a:lnSpc>
                <a:spcPct val="150000"/>
              </a:lnSpc>
              <a:spcBef>
                <a:spcPct val="0"/>
              </a:spcBef>
              <a:spcAft>
                <a:spcPct val="0"/>
              </a:spcAft>
            </a:pPr>
            <a:r>
              <a:rPr lang="en-US" sz="1400"/>
              <a:t> Two settings: </a:t>
            </a:r>
          </a:p>
          <a:p>
            <a:pPr lvl="0" eaLnBrk="0" fontAlgn="base" hangingPunct="0">
              <a:lnSpc>
                <a:spcPct val="150000"/>
              </a:lnSpc>
              <a:spcBef>
                <a:spcPct val="0"/>
              </a:spcBef>
              <a:spcAft>
                <a:spcPct val="0"/>
              </a:spcAft>
              <a:buFontTx/>
              <a:buChar char="•"/>
            </a:pPr>
            <a:r>
              <a:rPr lang="en-US" b="1"/>
              <a:t> unanchored</a:t>
            </a:r>
            <a:r>
              <a:rPr lang="en-US"/>
              <a:t>, where culture had to be inferred largely from the language, and </a:t>
            </a:r>
          </a:p>
          <a:p>
            <a:pPr lvl="0" eaLnBrk="0" fontAlgn="base" hangingPunct="0">
              <a:lnSpc>
                <a:spcPct val="150000"/>
              </a:lnSpc>
              <a:spcBef>
                <a:spcPct val="0"/>
              </a:spcBef>
              <a:spcAft>
                <a:spcPct val="0"/>
              </a:spcAft>
              <a:buFontTx/>
              <a:buChar char="•"/>
            </a:pPr>
            <a:r>
              <a:rPr lang="en-US" b="1"/>
              <a:t> anchored</a:t>
            </a:r>
            <a:r>
              <a:rPr lang="en-US"/>
              <a:t>, where location/cultural information was explicitly provided.</a:t>
            </a:r>
            <a:endParaRPr lang="fr-FR" altLang="fr-FR">
              <a:latin typeface="Arial" panose="020B0604020202020204" pitchFamily="34" charset="0"/>
            </a:endParaRPr>
          </a:p>
          <a:p>
            <a:endParaRPr lang="fr-FR"/>
          </a:p>
        </p:txBody>
      </p:sp>
      <p:sp>
        <p:nvSpPr>
          <p:cNvPr id="4" name="Espace réservé du numéro de diapositive 3"/>
          <p:cNvSpPr>
            <a:spLocks noGrp="1"/>
          </p:cNvSpPr>
          <p:nvPr>
            <p:ph type="sldNum" sz="quarter" idx="5"/>
          </p:nvPr>
        </p:nvSpPr>
        <p:spPr/>
        <p:txBody>
          <a:bodyPr/>
          <a:lstStyle/>
          <a:p>
            <a:fld id="{96BD3E1E-FEE5-4654-A200-FE71D964C0A5}" type="slidenum">
              <a:rPr lang="fr-FR" smtClean="0"/>
              <a:t>2</a:t>
            </a:fld>
            <a:endParaRPr lang="fr-FR"/>
          </a:p>
        </p:txBody>
      </p:sp>
    </p:spTree>
    <p:extLst>
      <p:ext uri="{BB962C8B-B14F-4D97-AF65-F5344CB8AC3E}">
        <p14:creationId xmlns:p14="http://schemas.microsoft.com/office/powerpoint/2010/main" val="41536619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DBEB88A-9DD5-4A60-9BBE-99D1DBFF9945}"/>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AFE38FAB-00C9-41E4-98C7-B609ADDEB6B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D6227716-29CD-4C8F-A516-7BF1C3B2967B}"/>
              </a:ext>
            </a:extLst>
          </p:cNvPr>
          <p:cNvSpPr>
            <a:spLocks noGrp="1"/>
          </p:cNvSpPr>
          <p:nvPr>
            <p:ph type="dt" sz="half" idx="10"/>
          </p:nvPr>
        </p:nvSpPr>
        <p:spPr/>
        <p:txBody>
          <a:bodyPr/>
          <a:lstStyle/>
          <a:p>
            <a:fld id="{C893598D-F661-4DE5-9C8A-0B82E780DF65}" type="datetimeFigureOut">
              <a:rPr lang="fr-FR" smtClean="0"/>
              <a:t>22/09/2026</a:t>
            </a:fld>
            <a:endParaRPr lang="fr-FR"/>
          </a:p>
        </p:txBody>
      </p:sp>
      <p:sp>
        <p:nvSpPr>
          <p:cNvPr id="5" name="Espace réservé du pied de page 4">
            <a:extLst>
              <a:ext uri="{FF2B5EF4-FFF2-40B4-BE49-F238E27FC236}">
                <a16:creationId xmlns:a16="http://schemas.microsoft.com/office/drawing/2014/main" id="{8BCE2E89-69D3-45EA-8133-236517B256A7}"/>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5E64F287-1649-4AD2-811C-1B06D3F85DF4}"/>
              </a:ext>
            </a:extLst>
          </p:cNvPr>
          <p:cNvSpPr>
            <a:spLocks noGrp="1"/>
          </p:cNvSpPr>
          <p:nvPr>
            <p:ph type="sldNum" sz="quarter" idx="12"/>
          </p:nvPr>
        </p:nvSpPr>
        <p:spPr/>
        <p:txBody>
          <a:bodyPr/>
          <a:lstStyle/>
          <a:p>
            <a:fld id="{5B6E499A-17AF-4546-85A7-EA689F445D55}" type="slidenum">
              <a:rPr lang="fr-FR" smtClean="0"/>
              <a:t>‹N°›</a:t>
            </a:fld>
            <a:endParaRPr lang="fr-FR"/>
          </a:p>
        </p:txBody>
      </p:sp>
    </p:spTree>
    <p:extLst>
      <p:ext uri="{BB962C8B-B14F-4D97-AF65-F5344CB8AC3E}">
        <p14:creationId xmlns:p14="http://schemas.microsoft.com/office/powerpoint/2010/main" val="2297557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5252724-8795-4DE8-94A9-C31F58735A57}"/>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328D0156-06AC-43B9-B539-3B56DACB49F9}"/>
              </a:ext>
            </a:extLst>
          </p:cNvPr>
          <p:cNvSpPr>
            <a:spLocks noGrp="1"/>
          </p:cNvSpPr>
          <p:nvPr>
            <p:ph idx="1"/>
          </p:nvPr>
        </p:nvSpPr>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5C5E49FA-FB9F-431C-96CB-B226F7E06A05}"/>
              </a:ext>
            </a:extLst>
          </p:cNvPr>
          <p:cNvSpPr>
            <a:spLocks noGrp="1"/>
          </p:cNvSpPr>
          <p:nvPr>
            <p:ph type="dt" sz="half" idx="10"/>
          </p:nvPr>
        </p:nvSpPr>
        <p:spPr/>
        <p:txBody>
          <a:bodyPr/>
          <a:lstStyle/>
          <a:p>
            <a:fld id="{C893598D-F661-4DE5-9C8A-0B82E780DF65}" type="datetimeFigureOut">
              <a:rPr lang="fr-FR" smtClean="0"/>
              <a:t>22/09/2026</a:t>
            </a:fld>
            <a:endParaRPr lang="fr-FR"/>
          </a:p>
        </p:txBody>
      </p:sp>
      <p:sp>
        <p:nvSpPr>
          <p:cNvPr id="5" name="Espace réservé du pied de page 4">
            <a:extLst>
              <a:ext uri="{FF2B5EF4-FFF2-40B4-BE49-F238E27FC236}">
                <a16:creationId xmlns:a16="http://schemas.microsoft.com/office/drawing/2014/main" id="{48B9AEB3-1071-418B-BD50-4BF9AF301AAA}"/>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F633D99E-07F2-42FA-97E9-943C28F7300B}"/>
              </a:ext>
            </a:extLst>
          </p:cNvPr>
          <p:cNvSpPr>
            <a:spLocks noGrp="1"/>
          </p:cNvSpPr>
          <p:nvPr>
            <p:ph type="sldNum" sz="quarter" idx="12"/>
          </p:nvPr>
        </p:nvSpPr>
        <p:spPr/>
        <p:txBody>
          <a:bodyPr/>
          <a:lstStyle/>
          <a:p>
            <a:fld id="{5B6E499A-17AF-4546-85A7-EA689F445D55}" type="slidenum">
              <a:rPr lang="fr-FR" smtClean="0"/>
              <a:t>‹N°›</a:t>
            </a:fld>
            <a:endParaRPr lang="fr-FR"/>
          </a:p>
        </p:txBody>
      </p:sp>
    </p:spTree>
    <p:extLst>
      <p:ext uri="{BB962C8B-B14F-4D97-AF65-F5344CB8AC3E}">
        <p14:creationId xmlns:p14="http://schemas.microsoft.com/office/powerpoint/2010/main" val="36892640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3F4E141-1AB5-4783-8FDB-AEB77AFE325B}"/>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5C28702E-DDAD-454E-870E-73A51577AA9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Modifier les styles du texte du masque</a:t>
            </a:r>
          </a:p>
        </p:txBody>
      </p:sp>
      <p:sp>
        <p:nvSpPr>
          <p:cNvPr id="4" name="Espace réservé de la date 3">
            <a:extLst>
              <a:ext uri="{FF2B5EF4-FFF2-40B4-BE49-F238E27FC236}">
                <a16:creationId xmlns:a16="http://schemas.microsoft.com/office/drawing/2014/main" id="{A8F633F8-ED9C-4DF1-B06F-1B1F0C2E9944}"/>
              </a:ext>
            </a:extLst>
          </p:cNvPr>
          <p:cNvSpPr>
            <a:spLocks noGrp="1"/>
          </p:cNvSpPr>
          <p:nvPr>
            <p:ph type="dt" sz="half" idx="10"/>
          </p:nvPr>
        </p:nvSpPr>
        <p:spPr/>
        <p:txBody>
          <a:bodyPr/>
          <a:lstStyle/>
          <a:p>
            <a:fld id="{C893598D-F661-4DE5-9C8A-0B82E780DF65}" type="datetimeFigureOut">
              <a:rPr lang="fr-FR" smtClean="0"/>
              <a:t>22/09/2026</a:t>
            </a:fld>
            <a:endParaRPr lang="fr-FR"/>
          </a:p>
        </p:txBody>
      </p:sp>
      <p:sp>
        <p:nvSpPr>
          <p:cNvPr id="5" name="Espace réservé du pied de page 4">
            <a:extLst>
              <a:ext uri="{FF2B5EF4-FFF2-40B4-BE49-F238E27FC236}">
                <a16:creationId xmlns:a16="http://schemas.microsoft.com/office/drawing/2014/main" id="{8214F3A6-350A-4E33-AA56-F1B67F06C95C}"/>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AA983501-9AF8-4194-9E07-714A1D22D01F}"/>
              </a:ext>
            </a:extLst>
          </p:cNvPr>
          <p:cNvSpPr>
            <a:spLocks noGrp="1"/>
          </p:cNvSpPr>
          <p:nvPr>
            <p:ph type="sldNum" sz="quarter" idx="12"/>
          </p:nvPr>
        </p:nvSpPr>
        <p:spPr/>
        <p:txBody>
          <a:bodyPr/>
          <a:lstStyle/>
          <a:p>
            <a:fld id="{5B6E499A-17AF-4546-85A7-EA689F445D55}" type="slidenum">
              <a:rPr lang="fr-FR" smtClean="0"/>
              <a:t>‹N°›</a:t>
            </a:fld>
            <a:endParaRPr lang="fr-FR"/>
          </a:p>
        </p:txBody>
      </p:sp>
    </p:spTree>
    <p:extLst>
      <p:ext uri="{BB962C8B-B14F-4D97-AF65-F5344CB8AC3E}">
        <p14:creationId xmlns:p14="http://schemas.microsoft.com/office/powerpoint/2010/main" val="12558887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08694B3-3CA4-4FA4-A1AE-985B5D2FA79B}"/>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4884F761-2B93-4D40-B61E-331E3C814080}"/>
              </a:ext>
            </a:extLst>
          </p:cNvPr>
          <p:cNvSpPr>
            <a:spLocks noGrp="1"/>
          </p:cNvSpPr>
          <p:nvPr>
            <p:ph sz="half" idx="1"/>
          </p:nvPr>
        </p:nvSpPr>
        <p:spPr>
          <a:xfrm>
            <a:off x="838200" y="1825625"/>
            <a:ext cx="5181600" cy="435133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263B28F8-4136-4B57-9DFB-8BBBEE2FA922}"/>
              </a:ext>
            </a:extLst>
          </p:cNvPr>
          <p:cNvSpPr>
            <a:spLocks noGrp="1"/>
          </p:cNvSpPr>
          <p:nvPr>
            <p:ph sz="half" idx="2"/>
          </p:nvPr>
        </p:nvSpPr>
        <p:spPr>
          <a:xfrm>
            <a:off x="6172200" y="1825625"/>
            <a:ext cx="5181600" cy="435133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8711EFD6-07FB-4692-B0C7-0DF04593E9C3}"/>
              </a:ext>
            </a:extLst>
          </p:cNvPr>
          <p:cNvSpPr>
            <a:spLocks noGrp="1"/>
          </p:cNvSpPr>
          <p:nvPr>
            <p:ph type="dt" sz="half" idx="10"/>
          </p:nvPr>
        </p:nvSpPr>
        <p:spPr/>
        <p:txBody>
          <a:bodyPr/>
          <a:lstStyle/>
          <a:p>
            <a:fld id="{C893598D-F661-4DE5-9C8A-0B82E780DF65}" type="datetimeFigureOut">
              <a:rPr lang="fr-FR" smtClean="0"/>
              <a:t>22/09/2026</a:t>
            </a:fld>
            <a:endParaRPr lang="fr-FR"/>
          </a:p>
        </p:txBody>
      </p:sp>
      <p:sp>
        <p:nvSpPr>
          <p:cNvPr id="6" name="Espace réservé du pied de page 5">
            <a:extLst>
              <a:ext uri="{FF2B5EF4-FFF2-40B4-BE49-F238E27FC236}">
                <a16:creationId xmlns:a16="http://schemas.microsoft.com/office/drawing/2014/main" id="{06EBAC1B-5FFC-48B4-BA28-A2CBA79AFE77}"/>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9AFFB7C9-0E05-460F-9244-FB1F17580838}"/>
              </a:ext>
            </a:extLst>
          </p:cNvPr>
          <p:cNvSpPr>
            <a:spLocks noGrp="1"/>
          </p:cNvSpPr>
          <p:nvPr>
            <p:ph type="sldNum" sz="quarter" idx="12"/>
          </p:nvPr>
        </p:nvSpPr>
        <p:spPr/>
        <p:txBody>
          <a:bodyPr/>
          <a:lstStyle/>
          <a:p>
            <a:fld id="{5B6E499A-17AF-4546-85A7-EA689F445D55}" type="slidenum">
              <a:rPr lang="fr-FR" smtClean="0"/>
              <a:t>‹N°›</a:t>
            </a:fld>
            <a:endParaRPr lang="fr-FR"/>
          </a:p>
        </p:txBody>
      </p:sp>
    </p:spTree>
    <p:extLst>
      <p:ext uri="{BB962C8B-B14F-4D97-AF65-F5344CB8AC3E}">
        <p14:creationId xmlns:p14="http://schemas.microsoft.com/office/powerpoint/2010/main" val="11362860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D956084-5BE0-4A2E-BF2B-F6355BCE82DC}"/>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95E1ADA9-2206-4B95-B722-9A6CCB72F8E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4" name="Espace réservé du contenu 3">
            <a:extLst>
              <a:ext uri="{FF2B5EF4-FFF2-40B4-BE49-F238E27FC236}">
                <a16:creationId xmlns:a16="http://schemas.microsoft.com/office/drawing/2014/main" id="{6543EC6A-2BD2-4F99-9273-34EBE47197B7}"/>
              </a:ext>
            </a:extLst>
          </p:cNvPr>
          <p:cNvSpPr>
            <a:spLocks noGrp="1"/>
          </p:cNvSpPr>
          <p:nvPr>
            <p:ph sz="half" idx="2"/>
          </p:nvPr>
        </p:nvSpPr>
        <p:spPr>
          <a:xfrm>
            <a:off x="839788" y="2505075"/>
            <a:ext cx="5157787" cy="368458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7BA5856A-7622-46BA-A1AF-B465AB19314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6" name="Espace réservé du contenu 5">
            <a:extLst>
              <a:ext uri="{FF2B5EF4-FFF2-40B4-BE49-F238E27FC236}">
                <a16:creationId xmlns:a16="http://schemas.microsoft.com/office/drawing/2014/main" id="{C2E93568-F4AD-422B-ABC2-4A47266FE2AE}"/>
              </a:ext>
            </a:extLst>
          </p:cNvPr>
          <p:cNvSpPr>
            <a:spLocks noGrp="1"/>
          </p:cNvSpPr>
          <p:nvPr>
            <p:ph sz="quarter" idx="4"/>
          </p:nvPr>
        </p:nvSpPr>
        <p:spPr>
          <a:xfrm>
            <a:off x="6172200" y="2505075"/>
            <a:ext cx="5183188" cy="368458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8417272E-B0BC-49AC-BB77-4545CB0FBAD9}"/>
              </a:ext>
            </a:extLst>
          </p:cNvPr>
          <p:cNvSpPr>
            <a:spLocks noGrp="1"/>
          </p:cNvSpPr>
          <p:nvPr>
            <p:ph type="dt" sz="half" idx="10"/>
          </p:nvPr>
        </p:nvSpPr>
        <p:spPr/>
        <p:txBody>
          <a:bodyPr/>
          <a:lstStyle/>
          <a:p>
            <a:fld id="{C893598D-F661-4DE5-9C8A-0B82E780DF65}" type="datetimeFigureOut">
              <a:rPr lang="fr-FR" smtClean="0"/>
              <a:t>22/09/2026</a:t>
            </a:fld>
            <a:endParaRPr lang="fr-FR"/>
          </a:p>
        </p:txBody>
      </p:sp>
      <p:sp>
        <p:nvSpPr>
          <p:cNvPr id="8" name="Espace réservé du pied de page 7">
            <a:extLst>
              <a:ext uri="{FF2B5EF4-FFF2-40B4-BE49-F238E27FC236}">
                <a16:creationId xmlns:a16="http://schemas.microsoft.com/office/drawing/2014/main" id="{D054A137-D4B5-407F-8430-FE5F13678E84}"/>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76DAD6B9-2E1C-4366-9E1E-CE64EDB4E43B}"/>
              </a:ext>
            </a:extLst>
          </p:cNvPr>
          <p:cNvSpPr>
            <a:spLocks noGrp="1"/>
          </p:cNvSpPr>
          <p:nvPr>
            <p:ph type="sldNum" sz="quarter" idx="12"/>
          </p:nvPr>
        </p:nvSpPr>
        <p:spPr/>
        <p:txBody>
          <a:bodyPr/>
          <a:lstStyle/>
          <a:p>
            <a:fld id="{5B6E499A-17AF-4546-85A7-EA689F445D55}" type="slidenum">
              <a:rPr lang="fr-FR" smtClean="0"/>
              <a:t>‹N°›</a:t>
            </a:fld>
            <a:endParaRPr lang="fr-FR"/>
          </a:p>
        </p:txBody>
      </p:sp>
    </p:spTree>
    <p:extLst>
      <p:ext uri="{BB962C8B-B14F-4D97-AF65-F5344CB8AC3E}">
        <p14:creationId xmlns:p14="http://schemas.microsoft.com/office/powerpoint/2010/main" val="33209634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DB1755D-E2E9-47AF-A3FC-63D60A93E4B3}"/>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E22C3A45-71E4-4BDC-975F-7BC4D9E3CA91}"/>
              </a:ext>
            </a:extLst>
          </p:cNvPr>
          <p:cNvSpPr>
            <a:spLocks noGrp="1"/>
          </p:cNvSpPr>
          <p:nvPr>
            <p:ph type="dt" sz="half" idx="10"/>
          </p:nvPr>
        </p:nvSpPr>
        <p:spPr/>
        <p:txBody>
          <a:bodyPr/>
          <a:lstStyle/>
          <a:p>
            <a:fld id="{C893598D-F661-4DE5-9C8A-0B82E780DF65}" type="datetimeFigureOut">
              <a:rPr lang="fr-FR" smtClean="0"/>
              <a:t>22/09/2026</a:t>
            </a:fld>
            <a:endParaRPr lang="fr-FR"/>
          </a:p>
        </p:txBody>
      </p:sp>
      <p:sp>
        <p:nvSpPr>
          <p:cNvPr id="4" name="Espace réservé du pied de page 3">
            <a:extLst>
              <a:ext uri="{FF2B5EF4-FFF2-40B4-BE49-F238E27FC236}">
                <a16:creationId xmlns:a16="http://schemas.microsoft.com/office/drawing/2014/main" id="{833C8D37-28CE-4268-804D-313CCFAA0F3A}"/>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81E47E9E-17DA-4172-9DF1-7E34F6954581}"/>
              </a:ext>
            </a:extLst>
          </p:cNvPr>
          <p:cNvSpPr>
            <a:spLocks noGrp="1"/>
          </p:cNvSpPr>
          <p:nvPr>
            <p:ph type="sldNum" sz="quarter" idx="12"/>
          </p:nvPr>
        </p:nvSpPr>
        <p:spPr/>
        <p:txBody>
          <a:bodyPr/>
          <a:lstStyle/>
          <a:p>
            <a:fld id="{5B6E499A-17AF-4546-85A7-EA689F445D55}" type="slidenum">
              <a:rPr lang="fr-FR" smtClean="0"/>
              <a:t>‹N°›</a:t>
            </a:fld>
            <a:endParaRPr lang="fr-FR"/>
          </a:p>
        </p:txBody>
      </p:sp>
    </p:spTree>
    <p:extLst>
      <p:ext uri="{BB962C8B-B14F-4D97-AF65-F5344CB8AC3E}">
        <p14:creationId xmlns:p14="http://schemas.microsoft.com/office/powerpoint/2010/main" val="19408968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5A02ECE5-3244-4BEE-A199-E232CE492553}"/>
              </a:ext>
            </a:extLst>
          </p:cNvPr>
          <p:cNvSpPr>
            <a:spLocks noGrp="1"/>
          </p:cNvSpPr>
          <p:nvPr>
            <p:ph type="dt" sz="half" idx="10"/>
          </p:nvPr>
        </p:nvSpPr>
        <p:spPr/>
        <p:txBody>
          <a:bodyPr/>
          <a:lstStyle/>
          <a:p>
            <a:fld id="{C893598D-F661-4DE5-9C8A-0B82E780DF65}" type="datetimeFigureOut">
              <a:rPr lang="fr-FR" smtClean="0"/>
              <a:t>22/09/2026</a:t>
            </a:fld>
            <a:endParaRPr lang="fr-FR"/>
          </a:p>
        </p:txBody>
      </p:sp>
      <p:sp>
        <p:nvSpPr>
          <p:cNvPr id="3" name="Espace réservé du pied de page 2">
            <a:extLst>
              <a:ext uri="{FF2B5EF4-FFF2-40B4-BE49-F238E27FC236}">
                <a16:creationId xmlns:a16="http://schemas.microsoft.com/office/drawing/2014/main" id="{9038033C-D407-43E5-A13E-A52FA05C0CE2}"/>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C08C84B8-2019-4E7A-AB31-5E081BEE4E28}"/>
              </a:ext>
            </a:extLst>
          </p:cNvPr>
          <p:cNvSpPr>
            <a:spLocks noGrp="1"/>
          </p:cNvSpPr>
          <p:nvPr>
            <p:ph type="sldNum" sz="quarter" idx="12"/>
          </p:nvPr>
        </p:nvSpPr>
        <p:spPr/>
        <p:txBody>
          <a:bodyPr/>
          <a:lstStyle/>
          <a:p>
            <a:fld id="{5B6E499A-17AF-4546-85A7-EA689F445D55}" type="slidenum">
              <a:rPr lang="fr-FR" smtClean="0"/>
              <a:t>‹N°›</a:t>
            </a:fld>
            <a:endParaRPr lang="fr-FR"/>
          </a:p>
        </p:txBody>
      </p:sp>
    </p:spTree>
    <p:extLst>
      <p:ext uri="{BB962C8B-B14F-4D97-AF65-F5344CB8AC3E}">
        <p14:creationId xmlns:p14="http://schemas.microsoft.com/office/powerpoint/2010/main" val="38738367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92C3328-40A9-41A2-8050-A9A828B2A9A0}"/>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FF9748DB-6369-436E-A35F-0266E0AF552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9201D07A-79F8-4BF1-90DB-339C9CD79C9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a:t>
            </a:r>
          </a:p>
        </p:txBody>
      </p:sp>
      <p:sp>
        <p:nvSpPr>
          <p:cNvPr id="5" name="Espace réservé de la date 4">
            <a:extLst>
              <a:ext uri="{FF2B5EF4-FFF2-40B4-BE49-F238E27FC236}">
                <a16:creationId xmlns:a16="http://schemas.microsoft.com/office/drawing/2014/main" id="{9759A0D8-D9C8-46C4-B6F1-9B00781082EA}"/>
              </a:ext>
            </a:extLst>
          </p:cNvPr>
          <p:cNvSpPr>
            <a:spLocks noGrp="1"/>
          </p:cNvSpPr>
          <p:nvPr>
            <p:ph type="dt" sz="half" idx="10"/>
          </p:nvPr>
        </p:nvSpPr>
        <p:spPr/>
        <p:txBody>
          <a:bodyPr/>
          <a:lstStyle/>
          <a:p>
            <a:fld id="{C893598D-F661-4DE5-9C8A-0B82E780DF65}" type="datetimeFigureOut">
              <a:rPr lang="fr-FR" smtClean="0"/>
              <a:t>22/09/2026</a:t>
            </a:fld>
            <a:endParaRPr lang="fr-FR"/>
          </a:p>
        </p:txBody>
      </p:sp>
      <p:sp>
        <p:nvSpPr>
          <p:cNvPr id="6" name="Espace réservé du pied de page 5">
            <a:extLst>
              <a:ext uri="{FF2B5EF4-FFF2-40B4-BE49-F238E27FC236}">
                <a16:creationId xmlns:a16="http://schemas.microsoft.com/office/drawing/2014/main" id="{35CBC020-0258-499D-9849-5271DBF54EEB}"/>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28B09419-F259-48E0-9A42-73AC5F4CF1EB}"/>
              </a:ext>
            </a:extLst>
          </p:cNvPr>
          <p:cNvSpPr>
            <a:spLocks noGrp="1"/>
          </p:cNvSpPr>
          <p:nvPr>
            <p:ph type="sldNum" sz="quarter" idx="12"/>
          </p:nvPr>
        </p:nvSpPr>
        <p:spPr/>
        <p:txBody>
          <a:bodyPr/>
          <a:lstStyle/>
          <a:p>
            <a:fld id="{5B6E499A-17AF-4546-85A7-EA689F445D55}" type="slidenum">
              <a:rPr lang="fr-FR" smtClean="0"/>
              <a:t>‹N°›</a:t>
            </a:fld>
            <a:endParaRPr lang="fr-FR"/>
          </a:p>
        </p:txBody>
      </p:sp>
    </p:spTree>
    <p:extLst>
      <p:ext uri="{BB962C8B-B14F-4D97-AF65-F5344CB8AC3E}">
        <p14:creationId xmlns:p14="http://schemas.microsoft.com/office/powerpoint/2010/main" val="30481209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83D403E-9645-4505-A1EE-EEA31EC27C64}"/>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CCF1B0D9-ECA5-4263-899C-A3DF851FFA0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7B4960E9-7352-44B4-A81B-3DE4F3AFD3A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a:t>
            </a:r>
          </a:p>
        </p:txBody>
      </p:sp>
      <p:sp>
        <p:nvSpPr>
          <p:cNvPr id="5" name="Espace réservé de la date 4">
            <a:extLst>
              <a:ext uri="{FF2B5EF4-FFF2-40B4-BE49-F238E27FC236}">
                <a16:creationId xmlns:a16="http://schemas.microsoft.com/office/drawing/2014/main" id="{DC34FE5C-7E1B-4842-9079-7625625D20A0}"/>
              </a:ext>
            </a:extLst>
          </p:cNvPr>
          <p:cNvSpPr>
            <a:spLocks noGrp="1"/>
          </p:cNvSpPr>
          <p:nvPr>
            <p:ph type="dt" sz="half" idx="10"/>
          </p:nvPr>
        </p:nvSpPr>
        <p:spPr/>
        <p:txBody>
          <a:bodyPr/>
          <a:lstStyle/>
          <a:p>
            <a:fld id="{C893598D-F661-4DE5-9C8A-0B82E780DF65}" type="datetimeFigureOut">
              <a:rPr lang="fr-FR" smtClean="0"/>
              <a:t>22/09/2026</a:t>
            </a:fld>
            <a:endParaRPr lang="fr-FR"/>
          </a:p>
        </p:txBody>
      </p:sp>
      <p:sp>
        <p:nvSpPr>
          <p:cNvPr id="6" name="Espace réservé du pied de page 5">
            <a:extLst>
              <a:ext uri="{FF2B5EF4-FFF2-40B4-BE49-F238E27FC236}">
                <a16:creationId xmlns:a16="http://schemas.microsoft.com/office/drawing/2014/main" id="{5A547A36-6349-42A2-9686-A2D8998A596A}"/>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DA46AA83-6994-4AD1-8900-682A58435B3E}"/>
              </a:ext>
            </a:extLst>
          </p:cNvPr>
          <p:cNvSpPr>
            <a:spLocks noGrp="1"/>
          </p:cNvSpPr>
          <p:nvPr>
            <p:ph type="sldNum" sz="quarter" idx="12"/>
          </p:nvPr>
        </p:nvSpPr>
        <p:spPr/>
        <p:txBody>
          <a:bodyPr/>
          <a:lstStyle/>
          <a:p>
            <a:fld id="{5B6E499A-17AF-4546-85A7-EA689F445D55}" type="slidenum">
              <a:rPr lang="fr-FR" smtClean="0"/>
              <a:t>‹N°›</a:t>
            </a:fld>
            <a:endParaRPr lang="fr-FR"/>
          </a:p>
        </p:txBody>
      </p:sp>
    </p:spTree>
    <p:extLst>
      <p:ext uri="{BB962C8B-B14F-4D97-AF65-F5344CB8AC3E}">
        <p14:creationId xmlns:p14="http://schemas.microsoft.com/office/powerpoint/2010/main" val="11521316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4BC4EA1-5401-4064-A87C-297F4C286BDE}"/>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C736B60C-3CF5-432F-94EC-D0F1E3A0CCEA}"/>
              </a:ext>
            </a:extLst>
          </p:cNvPr>
          <p:cNvSpPr>
            <a:spLocks noGrp="1"/>
          </p:cNvSpPr>
          <p:nvPr>
            <p:ph type="body" orient="vert" idx="1"/>
          </p:nvPr>
        </p:nvSpPr>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67B96648-B1B7-4B63-B0E8-B6B891999624}"/>
              </a:ext>
            </a:extLst>
          </p:cNvPr>
          <p:cNvSpPr>
            <a:spLocks noGrp="1"/>
          </p:cNvSpPr>
          <p:nvPr>
            <p:ph type="dt" sz="half" idx="10"/>
          </p:nvPr>
        </p:nvSpPr>
        <p:spPr/>
        <p:txBody>
          <a:bodyPr/>
          <a:lstStyle/>
          <a:p>
            <a:fld id="{C893598D-F661-4DE5-9C8A-0B82E780DF65}" type="datetimeFigureOut">
              <a:rPr lang="fr-FR" smtClean="0"/>
              <a:t>22/09/2026</a:t>
            </a:fld>
            <a:endParaRPr lang="fr-FR"/>
          </a:p>
        </p:txBody>
      </p:sp>
      <p:sp>
        <p:nvSpPr>
          <p:cNvPr id="5" name="Espace réservé du pied de page 4">
            <a:extLst>
              <a:ext uri="{FF2B5EF4-FFF2-40B4-BE49-F238E27FC236}">
                <a16:creationId xmlns:a16="http://schemas.microsoft.com/office/drawing/2014/main" id="{A60E1CDB-A39E-4901-A8C6-C1FB67F1899B}"/>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664306CC-119A-41F7-A0BB-BAA6846D3386}"/>
              </a:ext>
            </a:extLst>
          </p:cNvPr>
          <p:cNvSpPr>
            <a:spLocks noGrp="1"/>
          </p:cNvSpPr>
          <p:nvPr>
            <p:ph type="sldNum" sz="quarter" idx="12"/>
          </p:nvPr>
        </p:nvSpPr>
        <p:spPr/>
        <p:txBody>
          <a:bodyPr/>
          <a:lstStyle/>
          <a:p>
            <a:fld id="{5B6E499A-17AF-4546-85A7-EA689F445D55}" type="slidenum">
              <a:rPr lang="fr-FR" smtClean="0"/>
              <a:t>‹N°›</a:t>
            </a:fld>
            <a:endParaRPr lang="fr-FR"/>
          </a:p>
        </p:txBody>
      </p:sp>
    </p:spTree>
    <p:extLst>
      <p:ext uri="{BB962C8B-B14F-4D97-AF65-F5344CB8AC3E}">
        <p14:creationId xmlns:p14="http://schemas.microsoft.com/office/powerpoint/2010/main" val="6040627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451391CF-3CAD-4727-A401-D78112220C0A}"/>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2D5812B2-DA25-422D-A269-89F55602ACB9}"/>
              </a:ext>
            </a:extLst>
          </p:cNvPr>
          <p:cNvSpPr>
            <a:spLocks noGrp="1"/>
          </p:cNvSpPr>
          <p:nvPr>
            <p:ph type="body" orient="vert" idx="1"/>
          </p:nvPr>
        </p:nvSpPr>
        <p:spPr>
          <a:xfrm>
            <a:off x="838200" y="365125"/>
            <a:ext cx="7734300" cy="5811838"/>
          </a:xfrm>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9B53F365-3991-4C70-86F8-732831F1D4ED}"/>
              </a:ext>
            </a:extLst>
          </p:cNvPr>
          <p:cNvSpPr>
            <a:spLocks noGrp="1"/>
          </p:cNvSpPr>
          <p:nvPr>
            <p:ph type="dt" sz="half" idx="10"/>
          </p:nvPr>
        </p:nvSpPr>
        <p:spPr/>
        <p:txBody>
          <a:bodyPr/>
          <a:lstStyle/>
          <a:p>
            <a:fld id="{C893598D-F661-4DE5-9C8A-0B82E780DF65}" type="datetimeFigureOut">
              <a:rPr lang="fr-FR" smtClean="0"/>
              <a:t>22/09/2026</a:t>
            </a:fld>
            <a:endParaRPr lang="fr-FR"/>
          </a:p>
        </p:txBody>
      </p:sp>
      <p:sp>
        <p:nvSpPr>
          <p:cNvPr id="5" name="Espace réservé du pied de page 4">
            <a:extLst>
              <a:ext uri="{FF2B5EF4-FFF2-40B4-BE49-F238E27FC236}">
                <a16:creationId xmlns:a16="http://schemas.microsoft.com/office/drawing/2014/main" id="{64AA6F2A-96F5-4395-A0CC-D303A9BA9539}"/>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F4E30E36-CCF4-4726-8619-385826B9C856}"/>
              </a:ext>
            </a:extLst>
          </p:cNvPr>
          <p:cNvSpPr>
            <a:spLocks noGrp="1"/>
          </p:cNvSpPr>
          <p:nvPr>
            <p:ph type="sldNum" sz="quarter" idx="12"/>
          </p:nvPr>
        </p:nvSpPr>
        <p:spPr/>
        <p:txBody>
          <a:bodyPr/>
          <a:lstStyle/>
          <a:p>
            <a:fld id="{5B6E499A-17AF-4546-85A7-EA689F445D55}" type="slidenum">
              <a:rPr lang="fr-FR" smtClean="0"/>
              <a:t>‹N°›</a:t>
            </a:fld>
            <a:endParaRPr lang="fr-FR"/>
          </a:p>
        </p:txBody>
      </p:sp>
    </p:spTree>
    <p:extLst>
      <p:ext uri="{BB962C8B-B14F-4D97-AF65-F5344CB8AC3E}">
        <p14:creationId xmlns:p14="http://schemas.microsoft.com/office/powerpoint/2010/main" val="24079085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A541ACCF-6A9D-4BD0-A8B1-C10AB7C351B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6AF59845-8129-414C-B644-9B7139254B7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A74BE26C-C21C-403B-B20D-B7F168952D0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893598D-F661-4DE5-9C8A-0B82E780DF65}" type="datetimeFigureOut">
              <a:rPr lang="fr-FR" smtClean="0"/>
              <a:t>22/09/2026</a:t>
            </a:fld>
            <a:endParaRPr lang="fr-FR"/>
          </a:p>
        </p:txBody>
      </p:sp>
      <p:sp>
        <p:nvSpPr>
          <p:cNvPr id="5" name="Espace réservé du pied de page 4">
            <a:extLst>
              <a:ext uri="{FF2B5EF4-FFF2-40B4-BE49-F238E27FC236}">
                <a16:creationId xmlns:a16="http://schemas.microsoft.com/office/drawing/2014/main" id="{2C55A7BB-C00E-498C-8F82-2D3F70E0061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33EBCC8E-9D17-4354-9F8C-1A5FD7D5CD3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B6E499A-17AF-4546-85A7-EA689F445D55}" type="slidenum">
              <a:rPr lang="fr-FR" smtClean="0"/>
              <a:t>‹N°›</a:t>
            </a:fld>
            <a:endParaRPr lang="fr-FR"/>
          </a:p>
        </p:txBody>
      </p:sp>
    </p:spTree>
    <p:extLst>
      <p:ext uri="{BB962C8B-B14F-4D97-AF65-F5344CB8AC3E}">
        <p14:creationId xmlns:p14="http://schemas.microsoft.com/office/powerpoint/2010/main" val="381247969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19CF702-5730-46EF-89A3-A6CFA349E9B6}"/>
              </a:ext>
            </a:extLst>
          </p:cNvPr>
          <p:cNvSpPr>
            <a:spLocks noGrp="1"/>
          </p:cNvSpPr>
          <p:nvPr>
            <p:ph type="ctrTitle"/>
          </p:nvPr>
        </p:nvSpPr>
        <p:spPr/>
        <p:txBody>
          <a:bodyPr/>
          <a:lstStyle/>
          <a:p>
            <a:endParaRPr lang="fr-FR"/>
          </a:p>
        </p:txBody>
      </p:sp>
      <p:sp>
        <p:nvSpPr>
          <p:cNvPr id="3" name="Sous-titre 2">
            <a:extLst>
              <a:ext uri="{FF2B5EF4-FFF2-40B4-BE49-F238E27FC236}">
                <a16:creationId xmlns:a16="http://schemas.microsoft.com/office/drawing/2014/main" id="{38614F9C-DA6B-4471-80CD-8A487402298F}"/>
              </a:ext>
            </a:extLst>
          </p:cNvPr>
          <p:cNvSpPr>
            <a:spLocks noGrp="1"/>
          </p:cNvSpPr>
          <p:nvPr>
            <p:ph type="subTitle" idx="1"/>
          </p:nvPr>
        </p:nvSpPr>
        <p:spPr/>
        <p:txBody>
          <a:bodyPr/>
          <a:lstStyle/>
          <a:p>
            <a:endParaRPr lang="fr-FR"/>
          </a:p>
        </p:txBody>
      </p:sp>
    </p:spTree>
    <p:extLst>
      <p:ext uri="{BB962C8B-B14F-4D97-AF65-F5344CB8AC3E}">
        <p14:creationId xmlns:p14="http://schemas.microsoft.com/office/powerpoint/2010/main" val="21973560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8AA728C-0DD5-42BB-9BAB-E40861E4F123}"/>
              </a:ext>
            </a:extLst>
          </p:cNvPr>
          <p:cNvSpPr>
            <a:spLocks noGrp="1"/>
          </p:cNvSpPr>
          <p:nvPr>
            <p:ph type="title"/>
          </p:nvPr>
        </p:nvSpPr>
        <p:spPr/>
        <p:txBody>
          <a:bodyPr/>
          <a:lstStyle/>
          <a:p>
            <a:r>
              <a:rPr lang="fr-FR"/>
              <a:t>What was the challenge?</a:t>
            </a:r>
          </a:p>
        </p:txBody>
      </p:sp>
      <p:sp>
        <p:nvSpPr>
          <p:cNvPr id="4" name="Rectangle 1">
            <a:extLst>
              <a:ext uri="{FF2B5EF4-FFF2-40B4-BE49-F238E27FC236}">
                <a16:creationId xmlns:a16="http://schemas.microsoft.com/office/drawing/2014/main" id="{3E057532-73F0-42FE-8DD2-53622982B27A}"/>
              </a:ext>
            </a:extLst>
          </p:cNvPr>
          <p:cNvSpPr>
            <a:spLocks noGrp="1" noChangeArrowheads="1"/>
          </p:cNvSpPr>
          <p:nvPr>
            <p:ph idx="1"/>
          </p:nvPr>
        </p:nvSpPr>
        <p:spPr bwMode="auto">
          <a:xfrm>
            <a:off x="838200" y="2241207"/>
            <a:ext cx="237566" cy="463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lvl="0" indent="0" eaLnBrk="0" fontAlgn="base" hangingPunct="0">
              <a:lnSpc>
                <a:spcPct val="150000"/>
              </a:lnSpc>
              <a:spcBef>
                <a:spcPct val="0"/>
              </a:spcBef>
              <a:spcAft>
                <a:spcPct val="0"/>
              </a:spcAft>
              <a:buNone/>
            </a:pPr>
            <a:r>
              <a:rPr lang="en-US" sz="1800"/>
              <a:t> </a:t>
            </a:r>
            <a:endParaRPr kumimoji="0" lang="fr-FR" altLang="fr-FR" sz="2000" b="0" i="0" u="none" strike="noStrike" cap="none" normalizeH="0" baseline="0">
              <a:ln>
                <a:noFill/>
              </a:ln>
              <a:solidFill>
                <a:schemeClr val="tx1"/>
              </a:solidFill>
              <a:effectLst/>
              <a:latin typeface="Arial" panose="020B0604020202020204" pitchFamily="34" charset="0"/>
            </a:endParaRPr>
          </a:p>
        </p:txBody>
      </p:sp>
      <p:pic>
        <p:nvPicPr>
          <p:cNvPr id="5" name="Image 4">
            <a:extLst>
              <a:ext uri="{FF2B5EF4-FFF2-40B4-BE49-F238E27FC236}">
                <a16:creationId xmlns:a16="http://schemas.microsoft.com/office/drawing/2014/main" id="{84015894-9DAB-47FE-9530-3BA43EDAFBE4}"/>
              </a:ext>
            </a:extLst>
          </p:cNvPr>
          <p:cNvPicPr>
            <a:picLocks noChangeAspect="1"/>
          </p:cNvPicPr>
          <p:nvPr/>
        </p:nvPicPr>
        <p:blipFill>
          <a:blip r:embed="rId3"/>
          <a:stretch>
            <a:fillRect/>
          </a:stretch>
        </p:blipFill>
        <p:spPr>
          <a:xfrm>
            <a:off x="2966915" y="1435762"/>
            <a:ext cx="8878539" cy="5134692"/>
          </a:xfrm>
          <a:prstGeom prst="rect">
            <a:avLst/>
          </a:prstGeom>
        </p:spPr>
      </p:pic>
    </p:spTree>
    <p:extLst>
      <p:ext uri="{BB962C8B-B14F-4D97-AF65-F5344CB8AC3E}">
        <p14:creationId xmlns:p14="http://schemas.microsoft.com/office/powerpoint/2010/main" val="41061155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8AA728C-0DD5-42BB-9BAB-E40861E4F123}"/>
              </a:ext>
            </a:extLst>
          </p:cNvPr>
          <p:cNvSpPr>
            <a:spLocks noGrp="1"/>
          </p:cNvSpPr>
          <p:nvPr>
            <p:ph type="title"/>
          </p:nvPr>
        </p:nvSpPr>
        <p:spPr/>
        <p:txBody>
          <a:bodyPr/>
          <a:lstStyle/>
          <a:p>
            <a:r>
              <a:rPr lang="fr-FR"/>
              <a:t>Participants in brief</a:t>
            </a:r>
          </a:p>
        </p:txBody>
      </p:sp>
      <p:sp>
        <p:nvSpPr>
          <p:cNvPr id="4" name="Rectangle 1">
            <a:extLst>
              <a:ext uri="{FF2B5EF4-FFF2-40B4-BE49-F238E27FC236}">
                <a16:creationId xmlns:a16="http://schemas.microsoft.com/office/drawing/2014/main" id="{3E057532-73F0-42FE-8DD2-53622982B27A}"/>
              </a:ext>
            </a:extLst>
          </p:cNvPr>
          <p:cNvSpPr>
            <a:spLocks noGrp="1" noChangeArrowheads="1"/>
          </p:cNvSpPr>
          <p:nvPr>
            <p:ph idx="1"/>
          </p:nvPr>
        </p:nvSpPr>
        <p:spPr bwMode="auto">
          <a:xfrm>
            <a:off x="838200" y="1929063"/>
            <a:ext cx="8703024" cy="25340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fr-FR" altLang="fr-FR" sz="1800" b="1" i="0" u="none" strike="noStrike" cap="none" normalizeH="0" baseline="0">
                <a:ln>
                  <a:noFill/>
                </a:ln>
                <a:solidFill>
                  <a:schemeClr val="tx1"/>
                </a:solidFill>
                <a:effectLst/>
                <a:latin typeface="Arial" panose="020B0604020202020204" pitchFamily="34" charset="0"/>
              </a:rPr>
              <a:t> Conversation context and memory</a:t>
            </a:r>
            <a:r>
              <a:rPr kumimoji="0" lang="fr-FR" altLang="fr-FR" sz="1800" b="0" i="0" u="none" strike="noStrike" cap="none" normalizeH="0" baseline="0">
                <a:ln>
                  <a:noFill/>
                </a:ln>
                <a:solidFill>
                  <a:schemeClr val="tx1"/>
                </a:solidFill>
                <a:effectLst/>
                <a:latin typeface="Arial" panose="020B0604020202020204" pitchFamily="34" charset="0"/>
              </a:rPr>
              <a:t> — Univ. of Amsterdam; </a:t>
            </a:r>
          </a:p>
          <a:p>
            <a:pPr marL="0" marR="0" lvl="0" indent="0" algn="l" defTabSz="914400" rtl="0" eaLnBrk="0" fontAlgn="base" latinLnBrk="0" hangingPunct="0">
              <a:lnSpc>
                <a:spcPct val="150000"/>
              </a:lnSpc>
              <a:spcBef>
                <a:spcPct val="0"/>
              </a:spcBef>
              <a:spcAft>
                <a:spcPct val="0"/>
              </a:spcAft>
              <a:buClrTx/>
              <a:buSzTx/>
              <a:buFontTx/>
              <a:buChar char="•"/>
              <a:tabLst/>
            </a:pPr>
            <a:r>
              <a:rPr lang="fr-FR" altLang="fr-FR" sz="1800" b="1">
                <a:latin typeface="Arial" panose="020B0604020202020204" pitchFamily="34" charset="0"/>
              </a:rPr>
              <a:t> P</a:t>
            </a:r>
            <a:r>
              <a:rPr kumimoji="0" lang="fr-FR" altLang="fr-FR" sz="1800" b="1" i="0" u="none" strike="noStrike" cap="none" normalizeH="0" baseline="0">
                <a:ln>
                  <a:noFill/>
                </a:ln>
                <a:solidFill>
                  <a:schemeClr val="tx1"/>
                </a:solidFill>
                <a:effectLst/>
                <a:latin typeface="Arial" panose="020B0604020202020204" pitchFamily="34" charset="0"/>
              </a:rPr>
              <a:t>rompting strategies/personas/reasoning</a:t>
            </a:r>
            <a:r>
              <a:rPr kumimoji="0" lang="fr-FR" altLang="fr-FR" sz="1800" b="0" i="0" u="none" strike="noStrike" cap="none" normalizeH="0" baseline="0">
                <a:ln>
                  <a:noFill/>
                </a:ln>
                <a:solidFill>
                  <a:schemeClr val="tx1"/>
                </a:solidFill>
                <a:effectLst/>
                <a:latin typeface="Arial" panose="020B0604020202020204" pitchFamily="34" charset="0"/>
              </a:rPr>
              <a:t> — Univ. of Pavia;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fr-FR" altLang="fr-FR" sz="1800" b="1" i="0" u="none" strike="noStrike" cap="none" normalizeH="0" baseline="0">
                <a:ln>
                  <a:noFill/>
                </a:ln>
                <a:solidFill>
                  <a:schemeClr val="tx1"/>
                </a:solidFill>
                <a:effectLst/>
                <a:latin typeface="Arial" panose="020B0604020202020204" pitchFamily="34" charset="0"/>
              </a:rPr>
              <a:t> RAG × reasoning</a:t>
            </a:r>
            <a:r>
              <a:rPr kumimoji="0" lang="fr-FR" altLang="fr-FR" sz="1800" b="0" i="0" u="none" strike="noStrike" cap="none" normalizeH="0" baseline="0">
                <a:ln>
                  <a:noFill/>
                </a:ln>
                <a:solidFill>
                  <a:schemeClr val="tx1"/>
                </a:solidFill>
                <a:effectLst/>
                <a:latin typeface="Arial" panose="020B0604020202020204" pitchFamily="34" charset="0"/>
              </a:rPr>
              <a:t> — TU Wien; </a:t>
            </a:r>
          </a:p>
          <a:p>
            <a:pPr marL="0" lvl="0" indent="0" eaLnBrk="0" fontAlgn="base" hangingPunct="0">
              <a:lnSpc>
                <a:spcPct val="150000"/>
              </a:lnSpc>
              <a:spcBef>
                <a:spcPct val="0"/>
              </a:spcBef>
              <a:spcAft>
                <a:spcPct val="0"/>
              </a:spcAft>
              <a:buFontTx/>
              <a:buChar char="•"/>
            </a:pPr>
            <a:r>
              <a:rPr kumimoji="0" lang="fr-FR" altLang="fr-FR" sz="1800" b="1" i="0" u="none" strike="noStrike" cap="none" normalizeH="0" baseline="0">
                <a:ln>
                  <a:noFill/>
                </a:ln>
                <a:solidFill>
                  <a:schemeClr val="tx1"/>
                </a:solidFill>
                <a:effectLst/>
                <a:latin typeface="Arial" panose="020B0604020202020204" pitchFamily="34" charset="0"/>
              </a:rPr>
              <a:t> Cultural knowledge injection / multilingual RAG</a:t>
            </a:r>
            <a:r>
              <a:rPr kumimoji="0" lang="fr-FR" altLang="fr-FR" sz="1800" b="0" i="0" u="none" strike="noStrike" cap="none" normalizeH="0" baseline="0">
                <a:ln>
                  <a:noFill/>
                </a:ln>
                <a:solidFill>
                  <a:schemeClr val="tx1"/>
                </a:solidFill>
                <a:effectLst/>
                <a:latin typeface="Arial" panose="020B0604020202020204" pitchFamily="34" charset="0"/>
              </a:rPr>
              <a:t> — SRH</a:t>
            </a:r>
            <a:r>
              <a:rPr lang="fr-FR" altLang="fr-FR" sz="1800">
                <a:latin typeface="Arial" panose="020B0604020202020204" pitchFamily="34" charset="0"/>
              </a:rPr>
              <a:t> </a:t>
            </a:r>
            <a:r>
              <a:rPr lang="fr-FR" sz="1800">
                <a:latin typeface="Arial" panose="020B0604020202020204" pitchFamily="34" charset="0"/>
              </a:rPr>
              <a:t>University Heidelberg;</a:t>
            </a:r>
            <a:endParaRPr lang="fr-FR" altLang="fr-FR" sz="1800">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fr-FR" altLang="fr-FR" sz="1800" b="1" i="0" u="none" strike="noStrike" cap="none" normalizeH="0" baseline="0">
                <a:ln>
                  <a:noFill/>
                </a:ln>
                <a:solidFill>
                  <a:schemeClr val="tx1"/>
                </a:solidFill>
                <a:effectLst/>
                <a:latin typeface="Arial" panose="020B0604020202020204" pitchFamily="34" charset="0"/>
              </a:rPr>
              <a:t> Generation-parameter variation</a:t>
            </a:r>
            <a:r>
              <a:rPr kumimoji="0" lang="fr-FR" altLang="fr-FR" sz="1800" b="0" i="0" u="none" strike="noStrike" cap="none" normalizeH="0" baseline="0">
                <a:ln>
                  <a:noFill/>
                </a:ln>
                <a:solidFill>
                  <a:schemeClr val="tx1"/>
                </a:solidFill>
                <a:effectLst/>
                <a:latin typeface="Arial" panose="020B0604020202020204" pitchFamily="34" charset="0"/>
              </a:rPr>
              <a:t> — MIAGE M2 Univ. Toulouse;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fr-FR" altLang="fr-FR" sz="1800" b="1" i="0" u="none" strike="noStrike" cap="none" normalizeH="0" baseline="0">
                <a:ln>
                  <a:noFill/>
                </a:ln>
                <a:solidFill>
                  <a:schemeClr val="tx1"/>
                </a:solidFill>
                <a:effectLst/>
                <a:latin typeface="Arial" panose="020B0604020202020204" pitchFamily="34" charset="0"/>
              </a:rPr>
              <a:t> Linguistic and clustering analysis of outputs</a:t>
            </a:r>
            <a:r>
              <a:rPr kumimoji="0" lang="fr-FR" altLang="fr-FR" sz="1800" b="0" i="0" u="none" strike="noStrike" cap="none" normalizeH="0" baseline="0">
                <a:ln>
                  <a:noFill/>
                </a:ln>
                <a:solidFill>
                  <a:schemeClr val="tx1"/>
                </a:solidFill>
                <a:effectLst/>
                <a:latin typeface="Arial" panose="020B0604020202020204" pitchFamily="34" charset="0"/>
              </a:rPr>
              <a:t> — Univ. Toulouse L3. </a:t>
            </a:r>
          </a:p>
        </p:txBody>
      </p:sp>
    </p:spTree>
    <p:extLst>
      <p:ext uri="{BB962C8B-B14F-4D97-AF65-F5344CB8AC3E}">
        <p14:creationId xmlns:p14="http://schemas.microsoft.com/office/powerpoint/2010/main" val="28946175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8AA728C-0DD5-42BB-9BAB-E40861E4F123}"/>
              </a:ext>
            </a:extLst>
          </p:cNvPr>
          <p:cNvSpPr>
            <a:spLocks noGrp="1"/>
          </p:cNvSpPr>
          <p:nvPr>
            <p:ph type="title"/>
          </p:nvPr>
        </p:nvSpPr>
        <p:spPr>
          <a:xfrm>
            <a:off x="838200" y="-64782"/>
            <a:ext cx="10515600" cy="1325563"/>
          </a:xfrm>
        </p:spPr>
        <p:txBody>
          <a:bodyPr/>
          <a:lstStyle/>
          <a:p>
            <a:r>
              <a:rPr lang="fr-FR"/>
              <a:t>Overview – Team submissions</a:t>
            </a:r>
          </a:p>
        </p:txBody>
      </p:sp>
      <p:sp>
        <p:nvSpPr>
          <p:cNvPr id="5" name="Espace réservé du contenu 4">
            <a:extLst>
              <a:ext uri="{FF2B5EF4-FFF2-40B4-BE49-F238E27FC236}">
                <a16:creationId xmlns:a16="http://schemas.microsoft.com/office/drawing/2014/main" id="{F3CC1F00-00C5-4558-9F15-F4136280BCC8}"/>
              </a:ext>
            </a:extLst>
          </p:cNvPr>
          <p:cNvSpPr>
            <a:spLocks noGrp="1"/>
          </p:cNvSpPr>
          <p:nvPr>
            <p:ph idx="1"/>
          </p:nvPr>
        </p:nvSpPr>
        <p:spPr/>
        <p:txBody>
          <a:bodyPr/>
          <a:lstStyle/>
          <a:p>
            <a:r>
              <a:rPr lang="en-US" b="1"/>
              <a:t>Context and memory — UAmsterdam</a:t>
            </a:r>
            <a:br>
              <a:rPr lang="en-US"/>
            </a:br>
            <a:br>
              <a:rPr lang="en-US"/>
            </a:br>
            <a:r>
              <a:rPr lang="en-US"/>
              <a:t>They tested five models and investigated whether </a:t>
            </a:r>
            <a:r>
              <a:rPr lang="en-US" b="1"/>
              <a:t>preceding conversation, retrieved user memory, and different system-prompt </a:t>
            </a:r>
            <a:r>
              <a:rPr lang="en-US"/>
              <a:t>framings changed cultural behaviour. </a:t>
            </a:r>
            <a:br>
              <a:rPr lang="en-US"/>
            </a:br>
            <a:r>
              <a:rPr lang="en-US"/>
              <a:t>Even neutral additional context could reduce CSP, while conflicting context could pull answers toward another culture or even override an explicitly named country. </a:t>
            </a:r>
            <a:endParaRPr lang="fr-FR"/>
          </a:p>
        </p:txBody>
      </p:sp>
    </p:spTree>
    <p:extLst>
      <p:ext uri="{BB962C8B-B14F-4D97-AF65-F5344CB8AC3E}">
        <p14:creationId xmlns:p14="http://schemas.microsoft.com/office/powerpoint/2010/main" val="711160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8AA728C-0DD5-42BB-9BAB-E40861E4F123}"/>
              </a:ext>
            </a:extLst>
          </p:cNvPr>
          <p:cNvSpPr>
            <a:spLocks noGrp="1"/>
          </p:cNvSpPr>
          <p:nvPr>
            <p:ph type="title"/>
          </p:nvPr>
        </p:nvSpPr>
        <p:spPr>
          <a:xfrm>
            <a:off x="838200" y="-64782"/>
            <a:ext cx="10515600" cy="1325563"/>
          </a:xfrm>
        </p:spPr>
        <p:txBody>
          <a:bodyPr/>
          <a:lstStyle/>
          <a:p>
            <a:r>
              <a:rPr lang="fr-FR"/>
              <a:t>Overview – Team submissions</a:t>
            </a:r>
          </a:p>
        </p:txBody>
      </p:sp>
      <p:sp>
        <p:nvSpPr>
          <p:cNvPr id="5" name="Espace réservé du contenu 4">
            <a:extLst>
              <a:ext uri="{FF2B5EF4-FFF2-40B4-BE49-F238E27FC236}">
                <a16:creationId xmlns:a16="http://schemas.microsoft.com/office/drawing/2014/main" id="{F3CC1F00-00C5-4558-9F15-F4136280BCC8}"/>
              </a:ext>
            </a:extLst>
          </p:cNvPr>
          <p:cNvSpPr>
            <a:spLocks noGrp="1"/>
          </p:cNvSpPr>
          <p:nvPr>
            <p:ph idx="1"/>
          </p:nvPr>
        </p:nvSpPr>
        <p:spPr/>
        <p:txBody>
          <a:bodyPr/>
          <a:lstStyle/>
          <a:p>
            <a:r>
              <a:rPr lang="en-US" b="1"/>
              <a:t>Can better prompting make models culturally aware? — Pavia</a:t>
            </a:r>
          </a:p>
          <a:p>
            <a:pPr marL="0" indent="0">
              <a:buNone/>
            </a:pPr>
            <a:br>
              <a:rPr lang="en-US"/>
            </a:br>
            <a:r>
              <a:rPr lang="en-US"/>
              <a:t>They compared baseline prompting with </a:t>
            </a:r>
            <a:r>
              <a:rPr lang="en-US" b="1"/>
              <a:t>chain-of-thought, personas, uncertainty-aware prompting</a:t>
            </a:r>
            <a:r>
              <a:rPr lang="en-US"/>
              <a:t>, combinations of these approaches, and keyword injection. </a:t>
            </a:r>
            <a:br>
              <a:rPr lang="en-US"/>
            </a:br>
            <a:r>
              <a:rPr lang="en-US"/>
              <a:t>Their qualitative analysis found cases of generic Western defaults, stereotypes, weak cultural grounding, invented cultural references, and asymmetric representation. </a:t>
            </a:r>
            <a:endParaRPr lang="fr-FR"/>
          </a:p>
        </p:txBody>
      </p:sp>
    </p:spTree>
    <p:extLst>
      <p:ext uri="{BB962C8B-B14F-4D97-AF65-F5344CB8AC3E}">
        <p14:creationId xmlns:p14="http://schemas.microsoft.com/office/powerpoint/2010/main" val="4419610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8AA728C-0DD5-42BB-9BAB-E40861E4F123}"/>
              </a:ext>
            </a:extLst>
          </p:cNvPr>
          <p:cNvSpPr>
            <a:spLocks noGrp="1"/>
          </p:cNvSpPr>
          <p:nvPr>
            <p:ph type="title"/>
          </p:nvPr>
        </p:nvSpPr>
        <p:spPr>
          <a:xfrm>
            <a:off x="838200" y="-64782"/>
            <a:ext cx="10515600" cy="1325563"/>
          </a:xfrm>
        </p:spPr>
        <p:txBody>
          <a:bodyPr/>
          <a:lstStyle/>
          <a:p>
            <a:r>
              <a:rPr lang="fr-FR"/>
              <a:t>Overview – Team submissions</a:t>
            </a:r>
          </a:p>
        </p:txBody>
      </p:sp>
      <p:sp>
        <p:nvSpPr>
          <p:cNvPr id="5" name="Espace réservé du contenu 4">
            <a:extLst>
              <a:ext uri="{FF2B5EF4-FFF2-40B4-BE49-F238E27FC236}">
                <a16:creationId xmlns:a16="http://schemas.microsoft.com/office/drawing/2014/main" id="{F3CC1F00-00C5-4558-9F15-F4136280BCC8}"/>
              </a:ext>
            </a:extLst>
          </p:cNvPr>
          <p:cNvSpPr>
            <a:spLocks noGrp="1"/>
          </p:cNvSpPr>
          <p:nvPr>
            <p:ph idx="1"/>
          </p:nvPr>
        </p:nvSpPr>
        <p:spPr/>
        <p:txBody>
          <a:bodyPr>
            <a:normAutofit lnSpcReduction="10000"/>
          </a:bodyPr>
          <a:lstStyle/>
          <a:p>
            <a:r>
              <a:rPr lang="en-US" b="1"/>
              <a:t>Does retrieval help? — TU Wien and SRH</a:t>
            </a:r>
            <a:br>
              <a:rPr lang="en-US" b="1"/>
            </a:br>
            <a:br>
              <a:rPr lang="en-US"/>
            </a:br>
            <a:r>
              <a:rPr lang="en-US"/>
              <a:t>TU Wien created a factorial experiment combining </a:t>
            </a:r>
            <a:r>
              <a:rPr lang="en-US" b="1"/>
              <a:t>RAG on/off with several reasoning modes</a:t>
            </a:r>
            <a:r>
              <a:rPr lang="en-US"/>
              <a:t>. Their best-performing configuration used one retrieved cultural fact without additional reasoning; retrieval combined with chain-of-thought performed worse.</a:t>
            </a:r>
            <a:br>
              <a:rPr lang="en-US"/>
            </a:br>
            <a:br>
              <a:rPr lang="en-US"/>
            </a:br>
            <a:r>
              <a:rPr lang="en-US"/>
              <a:t>SRH compared the original prompts with </a:t>
            </a:r>
            <a:r>
              <a:rPr lang="en-US" b="1"/>
              <a:t>RAG-style augmentation using cultural facts </a:t>
            </a:r>
            <a:r>
              <a:rPr lang="en-US"/>
              <a:t>either in English or translated into the target language. Their analysis suggested that correctly grounded facts in the appropriate language were useful, while incorrect cultural grounding could be worse than providing no grounding.</a:t>
            </a:r>
            <a:endParaRPr lang="fr-FR"/>
          </a:p>
        </p:txBody>
      </p:sp>
    </p:spTree>
    <p:extLst>
      <p:ext uri="{BB962C8B-B14F-4D97-AF65-F5344CB8AC3E}">
        <p14:creationId xmlns:p14="http://schemas.microsoft.com/office/powerpoint/2010/main" val="45985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8AA728C-0DD5-42BB-9BAB-E40861E4F123}"/>
              </a:ext>
            </a:extLst>
          </p:cNvPr>
          <p:cNvSpPr>
            <a:spLocks noGrp="1"/>
          </p:cNvSpPr>
          <p:nvPr>
            <p:ph type="title"/>
          </p:nvPr>
        </p:nvSpPr>
        <p:spPr>
          <a:xfrm>
            <a:off x="838200" y="-64782"/>
            <a:ext cx="10515600" cy="1325563"/>
          </a:xfrm>
        </p:spPr>
        <p:txBody>
          <a:bodyPr/>
          <a:lstStyle/>
          <a:p>
            <a:r>
              <a:rPr lang="fr-FR"/>
              <a:t>Overview – Team submissions</a:t>
            </a:r>
          </a:p>
        </p:txBody>
      </p:sp>
      <p:sp>
        <p:nvSpPr>
          <p:cNvPr id="5" name="Espace réservé du contenu 4">
            <a:extLst>
              <a:ext uri="{FF2B5EF4-FFF2-40B4-BE49-F238E27FC236}">
                <a16:creationId xmlns:a16="http://schemas.microsoft.com/office/drawing/2014/main" id="{F3CC1F00-00C5-4558-9F15-F4136280BCC8}"/>
              </a:ext>
            </a:extLst>
          </p:cNvPr>
          <p:cNvSpPr>
            <a:spLocks noGrp="1"/>
          </p:cNvSpPr>
          <p:nvPr>
            <p:ph idx="1"/>
          </p:nvPr>
        </p:nvSpPr>
        <p:spPr/>
        <p:txBody>
          <a:bodyPr>
            <a:normAutofit/>
          </a:bodyPr>
          <a:lstStyle/>
          <a:p>
            <a:r>
              <a:rPr lang="en-US" b="1"/>
              <a:t>What about model parameters rather than prompting? — MIAGE M2</a:t>
            </a:r>
            <a:br>
              <a:rPr lang="en-US" b="1"/>
            </a:br>
            <a:br>
              <a:rPr lang="en-US"/>
            </a:br>
            <a:r>
              <a:rPr lang="en-US"/>
              <a:t>They varied </a:t>
            </a:r>
            <a:r>
              <a:rPr lang="en-US" b="1"/>
              <a:t>top-p and presence penalty</a:t>
            </a:r>
            <a:r>
              <a:rPr lang="en-US"/>
              <a:t>, studying effects on response length and lexical diversity. Their initial hypotheses were largely not supported: response length did not significantly change with top-p, and vocabulary richness depended more on the model than on presence penalty. </a:t>
            </a:r>
            <a:endParaRPr lang="fr-FR"/>
          </a:p>
        </p:txBody>
      </p:sp>
    </p:spTree>
    <p:extLst>
      <p:ext uri="{BB962C8B-B14F-4D97-AF65-F5344CB8AC3E}">
        <p14:creationId xmlns:p14="http://schemas.microsoft.com/office/powerpoint/2010/main" val="23878062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8AA728C-0DD5-42BB-9BAB-E40861E4F123}"/>
              </a:ext>
            </a:extLst>
          </p:cNvPr>
          <p:cNvSpPr>
            <a:spLocks noGrp="1"/>
          </p:cNvSpPr>
          <p:nvPr>
            <p:ph type="title"/>
          </p:nvPr>
        </p:nvSpPr>
        <p:spPr>
          <a:xfrm>
            <a:off x="838200" y="-64782"/>
            <a:ext cx="10515600" cy="1325563"/>
          </a:xfrm>
        </p:spPr>
        <p:txBody>
          <a:bodyPr/>
          <a:lstStyle/>
          <a:p>
            <a:r>
              <a:rPr lang="fr-FR"/>
              <a:t>Overview – Team submissions</a:t>
            </a:r>
          </a:p>
        </p:txBody>
      </p:sp>
      <p:sp>
        <p:nvSpPr>
          <p:cNvPr id="5" name="Espace réservé du contenu 4">
            <a:extLst>
              <a:ext uri="{FF2B5EF4-FFF2-40B4-BE49-F238E27FC236}">
                <a16:creationId xmlns:a16="http://schemas.microsoft.com/office/drawing/2014/main" id="{F3CC1F00-00C5-4558-9F15-F4136280BCC8}"/>
              </a:ext>
            </a:extLst>
          </p:cNvPr>
          <p:cNvSpPr>
            <a:spLocks noGrp="1"/>
          </p:cNvSpPr>
          <p:nvPr>
            <p:ph idx="1"/>
          </p:nvPr>
        </p:nvSpPr>
        <p:spPr/>
        <p:txBody>
          <a:bodyPr>
            <a:normAutofit/>
          </a:bodyPr>
          <a:lstStyle/>
          <a:p>
            <a:r>
              <a:rPr lang="en-US" b="1"/>
              <a:t>Analyzing the responses rather than modifying the model — Toulouse L3</a:t>
            </a:r>
            <a:br>
              <a:rPr lang="en-US" b="1"/>
            </a:br>
            <a:br>
              <a:rPr lang="en-US"/>
            </a:br>
            <a:r>
              <a:rPr lang="en-US"/>
              <a:t>This team used one model but carried out several analyses: </a:t>
            </a:r>
            <a:r>
              <a:rPr lang="en-US" b="1"/>
              <a:t>word count, type-token ratio, embeddings, K-means, PCA, silhouette scores, and statistical tests</a:t>
            </a:r>
            <a:r>
              <a:rPr lang="en-US"/>
              <a:t>. </a:t>
            </a:r>
            <a:br>
              <a:rPr lang="en-US"/>
            </a:br>
            <a:r>
              <a:rPr lang="en-US"/>
              <a:t>They found that culturally specific prompts often generated more culturally grounded content, including references to local foods, traditions, memories, and values. </a:t>
            </a:r>
            <a:endParaRPr lang="fr-FR"/>
          </a:p>
        </p:txBody>
      </p:sp>
    </p:spTree>
    <p:extLst>
      <p:ext uri="{BB962C8B-B14F-4D97-AF65-F5344CB8AC3E}">
        <p14:creationId xmlns:p14="http://schemas.microsoft.com/office/powerpoint/2010/main" val="17562751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8AA728C-0DD5-42BB-9BAB-E40861E4F123}"/>
              </a:ext>
            </a:extLst>
          </p:cNvPr>
          <p:cNvSpPr>
            <a:spLocks noGrp="1"/>
          </p:cNvSpPr>
          <p:nvPr>
            <p:ph type="title"/>
          </p:nvPr>
        </p:nvSpPr>
        <p:spPr/>
        <p:txBody>
          <a:bodyPr/>
          <a:lstStyle/>
          <a:p>
            <a:r>
              <a:rPr lang="fr-FR"/>
              <a:t>Overview – Team submissions</a:t>
            </a:r>
          </a:p>
        </p:txBody>
      </p:sp>
      <p:sp>
        <p:nvSpPr>
          <p:cNvPr id="5" name="Espace réservé du contenu 4">
            <a:extLst>
              <a:ext uri="{FF2B5EF4-FFF2-40B4-BE49-F238E27FC236}">
                <a16:creationId xmlns:a16="http://schemas.microsoft.com/office/drawing/2014/main" id="{F3CC1F00-00C5-4558-9F15-F4136280BCC8}"/>
              </a:ext>
            </a:extLst>
          </p:cNvPr>
          <p:cNvSpPr>
            <a:spLocks noGrp="1"/>
          </p:cNvSpPr>
          <p:nvPr>
            <p:ph idx="1"/>
          </p:nvPr>
        </p:nvSpPr>
        <p:spPr/>
        <p:txBody>
          <a:bodyPr/>
          <a:lstStyle/>
          <a:p>
            <a:endParaRPr lang="fr-FR"/>
          </a:p>
        </p:txBody>
      </p:sp>
      <p:pic>
        <p:nvPicPr>
          <p:cNvPr id="7" name="Image 6">
            <a:extLst>
              <a:ext uri="{FF2B5EF4-FFF2-40B4-BE49-F238E27FC236}">
                <a16:creationId xmlns:a16="http://schemas.microsoft.com/office/drawing/2014/main" id="{0302F0A8-0CD1-4962-8D79-ABBA0805DD42}"/>
              </a:ext>
            </a:extLst>
          </p:cNvPr>
          <p:cNvPicPr>
            <a:picLocks noChangeAspect="1"/>
          </p:cNvPicPr>
          <p:nvPr/>
        </p:nvPicPr>
        <p:blipFill>
          <a:blip r:embed="rId2"/>
          <a:stretch>
            <a:fillRect/>
          </a:stretch>
        </p:blipFill>
        <p:spPr>
          <a:xfrm>
            <a:off x="1093592" y="1624921"/>
            <a:ext cx="9240540" cy="4867954"/>
          </a:xfrm>
          <a:prstGeom prst="rect">
            <a:avLst/>
          </a:prstGeom>
        </p:spPr>
      </p:pic>
    </p:spTree>
    <p:extLst>
      <p:ext uri="{BB962C8B-B14F-4D97-AF65-F5344CB8AC3E}">
        <p14:creationId xmlns:p14="http://schemas.microsoft.com/office/powerpoint/2010/main" val="26090159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8AA728C-0DD5-42BB-9BAB-E40861E4F123}"/>
              </a:ext>
            </a:extLst>
          </p:cNvPr>
          <p:cNvSpPr>
            <a:spLocks noGrp="1"/>
          </p:cNvSpPr>
          <p:nvPr>
            <p:ph type="title"/>
          </p:nvPr>
        </p:nvSpPr>
        <p:spPr>
          <a:xfrm>
            <a:off x="838200" y="-64782"/>
            <a:ext cx="10515600" cy="1325563"/>
          </a:xfrm>
        </p:spPr>
        <p:txBody>
          <a:bodyPr/>
          <a:lstStyle/>
          <a:p>
            <a:r>
              <a:rPr lang="fr-FR"/>
              <a:t>Overview – Team submissions</a:t>
            </a:r>
          </a:p>
        </p:txBody>
      </p:sp>
      <p:sp>
        <p:nvSpPr>
          <p:cNvPr id="5" name="Espace réservé du contenu 4">
            <a:extLst>
              <a:ext uri="{FF2B5EF4-FFF2-40B4-BE49-F238E27FC236}">
                <a16:creationId xmlns:a16="http://schemas.microsoft.com/office/drawing/2014/main" id="{F3CC1F00-00C5-4558-9F15-F4136280BCC8}"/>
              </a:ext>
            </a:extLst>
          </p:cNvPr>
          <p:cNvSpPr>
            <a:spLocks noGrp="1"/>
          </p:cNvSpPr>
          <p:nvPr>
            <p:ph idx="1"/>
          </p:nvPr>
        </p:nvSpPr>
        <p:spPr/>
        <p:txBody>
          <a:bodyPr/>
          <a:lstStyle/>
          <a:p>
            <a:endParaRPr lang="fr-FR"/>
          </a:p>
        </p:txBody>
      </p:sp>
      <p:pic>
        <p:nvPicPr>
          <p:cNvPr id="3" name="Image 2">
            <a:extLst>
              <a:ext uri="{FF2B5EF4-FFF2-40B4-BE49-F238E27FC236}">
                <a16:creationId xmlns:a16="http://schemas.microsoft.com/office/drawing/2014/main" id="{A147421C-2F25-417F-A6C8-8BCD13D578C0}"/>
              </a:ext>
            </a:extLst>
          </p:cNvPr>
          <p:cNvPicPr>
            <a:picLocks noChangeAspect="1"/>
          </p:cNvPicPr>
          <p:nvPr/>
        </p:nvPicPr>
        <p:blipFill>
          <a:blip r:embed="rId2"/>
          <a:stretch>
            <a:fillRect/>
          </a:stretch>
        </p:blipFill>
        <p:spPr>
          <a:xfrm>
            <a:off x="838200" y="1551403"/>
            <a:ext cx="9383434" cy="5372850"/>
          </a:xfrm>
          <a:prstGeom prst="rect">
            <a:avLst/>
          </a:prstGeom>
        </p:spPr>
      </p:pic>
      <p:pic>
        <p:nvPicPr>
          <p:cNvPr id="4" name="Image 3">
            <a:extLst>
              <a:ext uri="{FF2B5EF4-FFF2-40B4-BE49-F238E27FC236}">
                <a16:creationId xmlns:a16="http://schemas.microsoft.com/office/drawing/2014/main" id="{339878AE-EA40-47A2-ACE7-6789BBAEF7A5}"/>
              </a:ext>
            </a:extLst>
          </p:cNvPr>
          <p:cNvPicPr>
            <a:picLocks noChangeAspect="1"/>
          </p:cNvPicPr>
          <p:nvPr/>
        </p:nvPicPr>
        <p:blipFill>
          <a:blip r:embed="rId3"/>
          <a:stretch>
            <a:fillRect/>
          </a:stretch>
        </p:blipFill>
        <p:spPr>
          <a:xfrm>
            <a:off x="857252" y="1119108"/>
            <a:ext cx="9345329" cy="571580"/>
          </a:xfrm>
          <a:prstGeom prst="rect">
            <a:avLst/>
          </a:prstGeom>
        </p:spPr>
      </p:pic>
    </p:spTree>
    <p:extLst>
      <p:ext uri="{BB962C8B-B14F-4D97-AF65-F5344CB8AC3E}">
        <p14:creationId xmlns:p14="http://schemas.microsoft.com/office/powerpoint/2010/main" val="40194916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8AA728C-0DD5-42BB-9BAB-E40861E4F123}"/>
              </a:ext>
            </a:extLst>
          </p:cNvPr>
          <p:cNvSpPr>
            <a:spLocks noGrp="1"/>
          </p:cNvSpPr>
          <p:nvPr>
            <p:ph type="title"/>
          </p:nvPr>
        </p:nvSpPr>
        <p:spPr>
          <a:xfrm>
            <a:off x="838200" y="30754"/>
            <a:ext cx="10515600" cy="1325563"/>
          </a:xfrm>
        </p:spPr>
        <p:txBody>
          <a:bodyPr/>
          <a:lstStyle/>
          <a:p>
            <a:r>
              <a:rPr lang="fr-FR"/>
              <a:t>Take away</a:t>
            </a:r>
          </a:p>
        </p:txBody>
      </p:sp>
      <p:sp>
        <p:nvSpPr>
          <p:cNvPr id="5" name="Espace réservé du contenu 4">
            <a:extLst>
              <a:ext uri="{FF2B5EF4-FFF2-40B4-BE49-F238E27FC236}">
                <a16:creationId xmlns:a16="http://schemas.microsoft.com/office/drawing/2014/main" id="{F3CC1F00-00C5-4558-9F15-F4136280BCC8}"/>
              </a:ext>
            </a:extLst>
          </p:cNvPr>
          <p:cNvSpPr>
            <a:spLocks noGrp="1"/>
          </p:cNvSpPr>
          <p:nvPr>
            <p:ph idx="1"/>
          </p:nvPr>
        </p:nvSpPr>
        <p:spPr/>
        <p:txBody>
          <a:bodyPr/>
          <a:lstStyle/>
          <a:p>
            <a:r>
              <a:rPr lang="en-US"/>
              <a:t>Not intended as a conventional leaderboard competition</a:t>
            </a:r>
          </a:p>
          <a:p>
            <a:r>
              <a:rPr lang="en-US"/>
              <a:t>Light, relevant cultural grounding worked better than adding layers of context or reasoning</a:t>
            </a:r>
          </a:p>
          <a:p>
            <a:pPr lvl="1"/>
            <a:r>
              <a:rPr lang="en-US" b="1">
                <a:solidFill>
                  <a:schemeClr val="accent6">
                    <a:lumMod val="75000"/>
                  </a:schemeClr>
                </a:solidFill>
              </a:rPr>
              <a:t>lightly anchored to a relevant fact in the appropriate language</a:t>
            </a:r>
          </a:p>
          <a:p>
            <a:pPr lvl="1"/>
            <a:r>
              <a:rPr lang="en-US" b="1">
                <a:solidFill>
                  <a:srgbClr val="C00000"/>
                </a:solidFill>
              </a:rPr>
              <a:t>the model had to infer culture through multiple layers of context or reasoning</a:t>
            </a:r>
            <a:endParaRPr lang="fr-FR" b="1">
              <a:solidFill>
                <a:srgbClr val="C00000"/>
              </a:solidFill>
            </a:endParaRPr>
          </a:p>
        </p:txBody>
      </p:sp>
      <p:pic>
        <p:nvPicPr>
          <p:cNvPr id="6" name="Image 5">
            <a:extLst>
              <a:ext uri="{FF2B5EF4-FFF2-40B4-BE49-F238E27FC236}">
                <a16:creationId xmlns:a16="http://schemas.microsoft.com/office/drawing/2014/main" id="{962319FB-5151-4786-9115-48030C0FED7E}"/>
              </a:ext>
            </a:extLst>
          </p:cNvPr>
          <p:cNvPicPr>
            <a:picLocks noChangeAspect="1"/>
          </p:cNvPicPr>
          <p:nvPr/>
        </p:nvPicPr>
        <p:blipFill>
          <a:blip r:embed="rId2"/>
          <a:stretch>
            <a:fillRect/>
          </a:stretch>
        </p:blipFill>
        <p:spPr>
          <a:xfrm>
            <a:off x="1081333" y="3170442"/>
            <a:ext cx="445774" cy="418920"/>
          </a:xfrm>
          <a:prstGeom prst="rect">
            <a:avLst/>
          </a:prstGeom>
        </p:spPr>
      </p:pic>
      <p:pic>
        <p:nvPicPr>
          <p:cNvPr id="7" name="Image 6">
            <a:extLst>
              <a:ext uri="{FF2B5EF4-FFF2-40B4-BE49-F238E27FC236}">
                <a16:creationId xmlns:a16="http://schemas.microsoft.com/office/drawing/2014/main" id="{5F6E0C92-9717-4E45-94CD-268D33A73550}"/>
              </a:ext>
            </a:extLst>
          </p:cNvPr>
          <p:cNvPicPr>
            <a:picLocks noChangeAspect="1"/>
          </p:cNvPicPr>
          <p:nvPr/>
        </p:nvPicPr>
        <p:blipFill>
          <a:blip r:embed="rId3"/>
          <a:stretch>
            <a:fillRect/>
          </a:stretch>
        </p:blipFill>
        <p:spPr>
          <a:xfrm>
            <a:off x="1072195" y="3589362"/>
            <a:ext cx="454912" cy="469308"/>
          </a:xfrm>
          <a:prstGeom prst="rect">
            <a:avLst/>
          </a:prstGeom>
        </p:spPr>
      </p:pic>
    </p:spTree>
    <p:extLst>
      <p:ext uri="{BB962C8B-B14F-4D97-AF65-F5344CB8AC3E}">
        <p14:creationId xmlns:p14="http://schemas.microsoft.com/office/powerpoint/2010/main" val="6760527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4965BE0-5F7F-41B7-A827-7703FF76B5B7}"/>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FA7D1C0C-77BB-4856-892D-FA626FF0E1B9}"/>
              </a:ext>
            </a:extLst>
          </p:cNvPr>
          <p:cNvSpPr>
            <a:spLocks noGrp="1"/>
          </p:cNvSpPr>
          <p:nvPr>
            <p:ph idx="1"/>
          </p:nvPr>
        </p:nvSpPr>
        <p:spPr/>
        <p:txBody>
          <a:bodyPr/>
          <a:lstStyle/>
          <a:p>
            <a:endParaRPr lang="fr-FR"/>
          </a:p>
        </p:txBody>
      </p:sp>
    </p:spTree>
    <p:extLst>
      <p:ext uri="{BB962C8B-B14F-4D97-AF65-F5344CB8AC3E}">
        <p14:creationId xmlns:p14="http://schemas.microsoft.com/office/powerpoint/2010/main" val="21961136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EDF558F-FCCC-42F6-BBAF-0605646CC737}"/>
              </a:ext>
            </a:extLst>
          </p:cNvPr>
          <p:cNvSpPr>
            <a:spLocks noGrp="1"/>
          </p:cNvSpPr>
          <p:nvPr>
            <p:ph type="title"/>
          </p:nvPr>
        </p:nvSpPr>
        <p:spPr/>
        <p:txBody>
          <a:bodyPr/>
          <a:lstStyle/>
          <a:p>
            <a:r>
              <a:rPr lang="fr-FR"/>
              <a:t>What for next year?</a:t>
            </a:r>
          </a:p>
        </p:txBody>
      </p:sp>
      <p:sp>
        <p:nvSpPr>
          <p:cNvPr id="3" name="Espace réservé du contenu 2">
            <a:extLst>
              <a:ext uri="{FF2B5EF4-FFF2-40B4-BE49-F238E27FC236}">
                <a16:creationId xmlns:a16="http://schemas.microsoft.com/office/drawing/2014/main" id="{2806C9D9-D9E5-40F3-92B6-337FC066425E}"/>
              </a:ext>
            </a:extLst>
          </p:cNvPr>
          <p:cNvSpPr>
            <a:spLocks noGrp="1"/>
          </p:cNvSpPr>
          <p:nvPr>
            <p:ph idx="1"/>
          </p:nvPr>
        </p:nvSpPr>
        <p:spPr/>
        <p:txBody>
          <a:bodyPr/>
          <a:lstStyle/>
          <a:p>
            <a:r>
              <a:rPr lang="en-US" b="1"/>
              <a:t>Part 1: Q&amp;A / feedback on ELOQUENT 2026</a:t>
            </a:r>
          </a:p>
          <a:p>
            <a:r>
              <a:rPr lang="en-US" b="1"/>
              <a:t>Part 2: World Café on new culture × LLM challenges</a:t>
            </a:r>
            <a:endParaRPr lang="fr-FR"/>
          </a:p>
        </p:txBody>
      </p:sp>
    </p:spTree>
    <p:extLst>
      <p:ext uri="{BB962C8B-B14F-4D97-AF65-F5344CB8AC3E}">
        <p14:creationId xmlns:p14="http://schemas.microsoft.com/office/powerpoint/2010/main" val="515196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EDF558F-FCCC-42F6-BBAF-0605646CC737}"/>
              </a:ext>
            </a:extLst>
          </p:cNvPr>
          <p:cNvSpPr>
            <a:spLocks noGrp="1"/>
          </p:cNvSpPr>
          <p:nvPr>
            <p:ph type="title"/>
          </p:nvPr>
        </p:nvSpPr>
        <p:spPr/>
        <p:txBody>
          <a:bodyPr/>
          <a:lstStyle/>
          <a:p>
            <a:r>
              <a:rPr lang="en-US" b="1"/>
              <a:t>Q&amp;A / feedback on ELOQUENT 2026</a:t>
            </a:r>
            <a:endParaRPr lang="fr-FR"/>
          </a:p>
        </p:txBody>
      </p:sp>
      <p:sp>
        <p:nvSpPr>
          <p:cNvPr id="3" name="Espace réservé du contenu 2">
            <a:extLst>
              <a:ext uri="{FF2B5EF4-FFF2-40B4-BE49-F238E27FC236}">
                <a16:creationId xmlns:a16="http://schemas.microsoft.com/office/drawing/2014/main" id="{2806C9D9-D9E5-40F3-92B6-337FC066425E}"/>
              </a:ext>
            </a:extLst>
          </p:cNvPr>
          <p:cNvSpPr>
            <a:spLocks noGrp="1"/>
          </p:cNvSpPr>
          <p:nvPr>
            <p:ph idx="1"/>
          </p:nvPr>
        </p:nvSpPr>
        <p:spPr>
          <a:xfrm>
            <a:off x="838200" y="1825624"/>
            <a:ext cx="10515600" cy="4370459"/>
          </a:xfrm>
        </p:spPr>
        <p:txBody>
          <a:bodyPr>
            <a:noAutofit/>
          </a:bodyPr>
          <a:lstStyle/>
          <a:p>
            <a:pPr marL="0" lvl="0" indent="0" eaLnBrk="0" fontAlgn="base" hangingPunct="0">
              <a:lnSpc>
                <a:spcPct val="100000"/>
              </a:lnSpc>
              <a:spcAft>
                <a:spcPct val="0"/>
              </a:spcAft>
              <a:buFontTx/>
              <a:buChar char="•"/>
            </a:pPr>
            <a:r>
              <a:rPr lang="fr-FR" altLang="fr-FR" sz="1800">
                <a:latin typeface="Arial" panose="020B0604020202020204" pitchFamily="34" charset="0"/>
              </a:rPr>
              <a:t> What did you like most about this year’s ELOQUENT challenges?  What did you like least? </a:t>
            </a:r>
          </a:p>
          <a:p>
            <a:pPr marL="0" lvl="0" indent="0" eaLnBrk="0" fontAlgn="base" hangingPunct="0">
              <a:lnSpc>
                <a:spcPct val="100000"/>
              </a:lnSpc>
              <a:spcAft>
                <a:spcPct val="0"/>
              </a:spcAft>
              <a:buFontTx/>
              <a:buChar char="•"/>
            </a:pPr>
            <a:r>
              <a:rPr lang="fr-FR" altLang="fr-FR" sz="1800">
                <a:latin typeface="Arial" panose="020B0604020202020204" pitchFamily="34" charset="0"/>
              </a:rPr>
              <a:t> What made you choose the task(s) you participated in? </a:t>
            </a:r>
          </a:p>
          <a:p>
            <a:pPr marL="0" lvl="0" indent="0" eaLnBrk="0" fontAlgn="base" hangingPunct="0">
              <a:lnSpc>
                <a:spcPct val="100000"/>
              </a:lnSpc>
              <a:spcAft>
                <a:spcPct val="0"/>
              </a:spcAft>
              <a:buFontTx/>
              <a:buChar char="•"/>
            </a:pPr>
            <a:r>
              <a:rPr lang="fr-FR" altLang="fr-FR" sz="1800">
                <a:latin typeface="Arial" panose="020B0604020202020204" pitchFamily="34" charset="0"/>
              </a:rPr>
              <a:t> Was there a task you considered joining but did not? Why? </a:t>
            </a:r>
          </a:p>
          <a:p>
            <a:pPr marL="0" lvl="0" indent="0" eaLnBrk="0" fontAlgn="base" hangingPunct="0">
              <a:lnSpc>
                <a:spcPct val="100000"/>
              </a:lnSpc>
              <a:spcAft>
                <a:spcPct val="0"/>
              </a:spcAft>
              <a:buFontTx/>
              <a:buChar char="•"/>
            </a:pPr>
            <a:r>
              <a:rPr lang="fr-FR" altLang="fr-FR" sz="1800">
                <a:latin typeface="Arial" panose="020B0604020202020204" pitchFamily="34" charset="0"/>
              </a:rPr>
              <a:t> What would have made you participate in more tasks? </a:t>
            </a:r>
          </a:p>
          <a:p>
            <a:pPr marL="0" lvl="0" indent="0" eaLnBrk="0" fontAlgn="base" hangingPunct="0">
              <a:lnSpc>
                <a:spcPct val="100000"/>
              </a:lnSpc>
              <a:spcAft>
                <a:spcPct val="0"/>
              </a:spcAft>
              <a:buFontTx/>
              <a:buChar char="•"/>
            </a:pPr>
            <a:r>
              <a:rPr lang="fr-FR" altLang="fr-FR" sz="1800">
                <a:latin typeface="Arial" panose="020B0604020202020204" pitchFamily="34" charset="0"/>
              </a:rPr>
              <a:t> Were there barriers related to compute, APIs, multilingual requirements, data preparation, evaluation, or time? </a:t>
            </a:r>
          </a:p>
          <a:p>
            <a:pPr marL="0" lvl="0" indent="0" eaLnBrk="0" fontAlgn="base" hangingPunct="0">
              <a:lnSpc>
                <a:spcPct val="100000"/>
              </a:lnSpc>
              <a:spcAft>
                <a:spcPct val="0"/>
              </a:spcAft>
              <a:buFontTx/>
              <a:buChar char="•"/>
            </a:pPr>
            <a:r>
              <a:rPr lang="fr-FR" altLang="fr-FR" sz="1800">
                <a:latin typeface="Arial" panose="020B0604020202020204" pitchFamily="34" charset="0"/>
              </a:rPr>
              <a:t> Did you feel there was enough freedom to try your own research ideas? </a:t>
            </a:r>
          </a:p>
          <a:p>
            <a:pPr marL="0" lvl="0" indent="0" eaLnBrk="0" fontAlgn="base" hangingPunct="0">
              <a:lnSpc>
                <a:spcPct val="100000"/>
              </a:lnSpc>
              <a:spcAft>
                <a:spcPct val="0"/>
              </a:spcAft>
              <a:buFontTx/>
              <a:buChar char="•"/>
            </a:pPr>
            <a:r>
              <a:rPr lang="fr-FR" altLang="fr-FR" sz="1800">
                <a:latin typeface="Arial" panose="020B0604020202020204" pitchFamily="34" charset="0"/>
              </a:rPr>
              <a:t> What support from organizers would have helped: baselines, code, translations, datasets, evaluation scripts, examples, starter notebooks </a:t>
            </a:r>
          </a:p>
          <a:p>
            <a:pPr marL="0" lvl="0" indent="0" eaLnBrk="0" fontAlgn="base" hangingPunct="0">
              <a:lnSpc>
                <a:spcPct val="100000"/>
              </a:lnSpc>
              <a:spcAft>
                <a:spcPct val="0"/>
              </a:spcAft>
              <a:buFontTx/>
              <a:buChar char="•"/>
            </a:pPr>
            <a:r>
              <a:rPr lang="fr-FR" sz="1800" b="1">
                <a:latin typeface="Arial" panose="020B0604020202020204" pitchFamily="34" charset="0"/>
              </a:rPr>
              <a:t> </a:t>
            </a:r>
            <a:r>
              <a:rPr lang="en-US" sz="1800" b="1">
                <a:latin typeface="Arial" panose="020B0604020202020204" pitchFamily="34" charset="0"/>
              </a:rPr>
              <a:t>What is one thing we should definitely keep, one thing we should change, and one thing we should add next year?</a:t>
            </a:r>
          </a:p>
        </p:txBody>
      </p:sp>
    </p:spTree>
    <p:extLst>
      <p:ext uri="{BB962C8B-B14F-4D97-AF65-F5344CB8AC3E}">
        <p14:creationId xmlns:p14="http://schemas.microsoft.com/office/powerpoint/2010/main" val="5567253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EDF558F-FCCC-42F6-BBAF-0605646CC737}"/>
              </a:ext>
            </a:extLst>
          </p:cNvPr>
          <p:cNvSpPr>
            <a:spLocks noGrp="1"/>
          </p:cNvSpPr>
          <p:nvPr>
            <p:ph type="title"/>
          </p:nvPr>
        </p:nvSpPr>
        <p:spPr/>
        <p:txBody>
          <a:bodyPr/>
          <a:lstStyle/>
          <a:p>
            <a:r>
              <a:rPr lang="en-US" b="1"/>
              <a:t>What capability should we test next?</a:t>
            </a:r>
            <a:endParaRPr lang="fr-FR" b="1"/>
          </a:p>
        </p:txBody>
      </p:sp>
      <p:sp>
        <p:nvSpPr>
          <p:cNvPr id="3" name="Espace réservé du contenu 2">
            <a:extLst>
              <a:ext uri="{FF2B5EF4-FFF2-40B4-BE49-F238E27FC236}">
                <a16:creationId xmlns:a16="http://schemas.microsoft.com/office/drawing/2014/main" id="{2806C9D9-D9E5-40F3-92B6-337FC066425E}"/>
              </a:ext>
            </a:extLst>
          </p:cNvPr>
          <p:cNvSpPr>
            <a:spLocks noGrp="1"/>
          </p:cNvSpPr>
          <p:nvPr>
            <p:ph idx="1"/>
          </p:nvPr>
        </p:nvSpPr>
        <p:spPr>
          <a:xfrm>
            <a:off x="694899" y="1470782"/>
            <a:ext cx="10515600" cy="5387218"/>
          </a:xfrm>
        </p:spPr>
        <p:txBody>
          <a:bodyPr>
            <a:noAutofit/>
          </a:bodyPr>
          <a:lstStyle/>
          <a:p>
            <a:pPr marL="0" lvl="0" indent="0" eaLnBrk="0" fontAlgn="base" hangingPunct="0">
              <a:lnSpc>
                <a:spcPct val="100000"/>
              </a:lnSpc>
              <a:spcAft>
                <a:spcPct val="0"/>
              </a:spcAft>
              <a:buNone/>
            </a:pPr>
            <a:r>
              <a:rPr lang="en-US" sz="2000" b="1"/>
              <a:t>Research question:</a:t>
            </a:r>
            <a:r>
              <a:rPr lang="en-US" sz="2000"/>
              <a:t> We want to know whether GenAI/LLM can…</a:t>
            </a:r>
            <a:br>
              <a:rPr lang="en-US" sz="2000"/>
            </a:br>
            <a:endParaRPr lang="en-US" sz="2000"/>
          </a:p>
          <a:p>
            <a:pPr marL="0" lvl="0" indent="0" eaLnBrk="0" fontAlgn="base" hangingPunct="0">
              <a:lnSpc>
                <a:spcPct val="100000"/>
              </a:lnSpc>
              <a:spcAft>
                <a:spcPct val="0"/>
              </a:spcAft>
              <a:buNone/>
            </a:pPr>
            <a:r>
              <a:rPr lang="en-US" sz="2000" b="1"/>
              <a:t>Challenge:</a:t>
            </a:r>
            <a:r>
              <a:rPr lang="en-US" sz="2000"/>
              <a:t> Participants would have to…</a:t>
            </a:r>
            <a:br>
              <a:rPr lang="en-US" sz="2000"/>
            </a:br>
            <a:endParaRPr lang="en-US" sz="2000"/>
          </a:p>
          <a:p>
            <a:pPr marL="0" lvl="0" indent="0" eaLnBrk="0" fontAlgn="base" hangingPunct="0">
              <a:lnSpc>
                <a:spcPct val="100000"/>
              </a:lnSpc>
              <a:spcAft>
                <a:spcPct val="0"/>
              </a:spcAft>
              <a:buNone/>
            </a:pPr>
            <a:r>
              <a:rPr lang="en-US" sz="2000" b="1"/>
              <a:t>Evaluation:</a:t>
            </a:r>
            <a:r>
              <a:rPr lang="en-US" sz="2000"/>
              <a:t> We would measure this by…</a:t>
            </a:r>
            <a:br>
              <a:rPr lang="en-US" sz="2000"/>
            </a:br>
            <a:endParaRPr lang="en-US" sz="2000"/>
          </a:p>
          <a:p>
            <a:pPr marL="0" lvl="0" indent="0" eaLnBrk="0" fontAlgn="base" hangingPunct="0">
              <a:lnSpc>
                <a:spcPct val="100000"/>
              </a:lnSpc>
              <a:spcAft>
                <a:spcPct val="0"/>
              </a:spcAft>
              <a:buNone/>
            </a:pPr>
            <a:r>
              <a:rPr lang="en-US" sz="2000" b="1"/>
              <a:t>Why interesting:</a:t>
            </a:r>
            <a:r>
              <a:rPr lang="en-US" sz="2000"/>
              <a:t> …</a:t>
            </a:r>
            <a:br>
              <a:rPr lang="en-US" sz="2000"/>
            </a:br>
            <a:endParaRPr lang="en-US" sz="2000"/>
          </a:p>
          <a:p>
            <a:pPr marL="0" lvl="0" indent="0" eaLnBrk="0" fontAlgn="base" hangingPunct="0">
              <a:lnSpc>
                <a:spcPct val="100000"/>
              </a:lnSpc>
              <a:spcAft>
                <a:spcPct val="0"/>
              </a:spcAft>
              <a:buNone/>
            </a:pPr>
            <a:r>
              <a:rPr lang="en-US" sz="2000" b="1"/>
              <a:t>Why participate:</a:t>
            </a:r>
            <a:r>
              <a:rPr lang="en-US" sz="2000"/>
              <a:t> A team would want to work on this because…</a:t>
            </a:r>
          </a:p>
          <a:p>
            <a:pPr marL="457200" lvl="1" indent="0" eaLnBrk="0" fontAlgn="base" hangingPunct="0">
              <a:lnSpc>
                <a:spcPct val="100000"/>
              </a:lnSpc>
              <a:spcAft>
                <a:spcPct val="0"/>
              </a:spcAft>
              <a:buFontTx/>
              <a:buChar char="•"/>
            </a:pPr>
            <a:endParaRPr lang="fr-FR" sz="1400">
              <a:latin typeface="Arial" panose="020B0604020202020204" pitchFamily="34" charset="0"/>
            </a:endParaRPr>
          </a:p>
          <a:p>
            <a:pPr marL="0" lvl="0" indent="0" eaLnBrk="0" fontAlgn="base" hangingPunct="0">
              <a:lnSpc>
                <a:spcPct val="100000"/>
              </a:lnSpc>
              <a:spcAft>
                <a:spcPct val="0"/>
              </a:spcAft>
              <a:buFontTx/>
              <a:buChar char="•"/>
            </a:pPr>
            <a:endParaRPr lang="en-US" sz="1800">
              <a:latin typeface="Arial" panose="020B0604020202020204" pitchFamily="34" charset="0"/>
            </a:endParaRPr>
          </a:p>
        </p:txBody>
      </p:sp>
    </p:spTree>
    <p:extLst>
      <p:ext uri="{BB962C8B-B14F-4D97-AF65-F5344CB8AC3E}">
        <p14:creationId xmlns:p14="http://schemas.microsoft.com/office/powerpoint/2010/main" val="35106507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EDF558F-FCCC-42F6-BBAF-0605646CC737}"/>
              </a:ext>
            </a:extLst>
          </p:cNvPr>
          <p:cNvSpPr>
            <a:spLocks noGrp="1"/>
          </p:cNvSpPr>
          <p:nvPr>
            <p:ph type="title"/>
          </p:nvPr>
        </p:nvSpPr>
        <p:spPr/>
        <p:txBody>
          <a:bodyPr/>
          <a:lstStyle/>
          <a:p>
            <a:r>
              <a:rPr lang="en-US" b="1"/>
              <a:t>What capability should we test next?</a:t>
            </a:r>
            <a:endParaRPr lang="fr-FR" b="1"/>
          </a:p>
        </p:txBody>
      </p:sp>
      <p:sp>
        <p:nvSpPr>
          <p:cNvPr id="3" name="Espace réservé du contenu 2">
            <a:extLst>
              <a:ext uri="{FF2B5EF4-FFF2-40B4-BE49-F238E27FC236}">
                <a16:creationId xmlns:a16="http://schemas.microsoft.com/office/drawing/2014/main" id="{2806C9D9-D9E5-40F3-92B6-337FC066425E}"/>
              </a:ext>
            </a:extLst>
          </p:cNvPr>
          <p:cNvSpPr>
            <a:spLocks noGrp="1"/>
          </p:cNvSpPr>
          <p:nvPr>
            <p:ph idx="1"/>
          </p:nvPr>
        </p:nvSpPr>
        <p:spPr>
          <a:xfrm>
            <a:off x="694899" y="1470782"/>
            <a:ext cx="10515600" cy="5387218"/>
          </a:xfrm>
        </p:spPr>
        <p:txBody>
          <a:bodyPr>
            <a:noAutofit/>
          </a:bodyPr>
          <a:lstStyle/>
          <a:p>
            <a:pPr marL="0" lvl="0" indent="0" eaLnBrk="0" fontAlgn="base" hangingPunct="0">
              <a:lnSpc>
                <a:spcPct val="100000"/>
              </a:lnSpc>
              <a:spcAft>
                <a:spcPct val="0"/>
              </a:spcAft>
              <a:buFontTx/>
              <a:buChar char="•"/>
            </a:pPr>
            <a:r>
              <a:rPr lang="fr-FR" altLang="fr-FR" sz="1800">
                <a:latin typeface="Arial" panose="020B0604020202020204" pitchFamily="34" charset="0"/>
              </a:rPr>
              <a:t> </a:t>
            </a:r>
            <a:r>
              <a:rPr lang="fr-FR" sz="1800">
                <a:latin typeface="Arial" panose="020B0604020202020204" pitchFamily="34" charset="0"/>
              </a:rPr>
              <a:t>Round 1 — Culture, language &amp; diversity [Robustness]</a:t>
            </a:r>
          </a:p>
          <a:p>
            <a:pPr marL="457200" lvl="1" indent="0" eaLnBrk="0" fontAlgn="base" hangingPunct="0">
              <a:lnSpc>
                <a:spcPct val="100000"/>
              </a:lnSpc>
              <a:spcAft>
                <a:spcPct val="0"/>
              </a:spcAft>
              <a:buFontTx/>
              <a:buChar char="•"/>
            </a:pPr>
            <a:r>
              <a:rPr lang="fr-FR" sz="1400">
                <a:latin typeface="Arial" panose="020B0604020202020204" pitchFamily="34" charset="0"/>
              </a:rPr>
              <a:t> </a:t>
            </a:r>
            <a:r>
              <a:rPr lang="en-US" sz="1600"/>
              <a:t>What should we test next about the way GenAI deals with cultural and linguistic diversity?</a:t>
            </a:r>
          </a:p>
          <a:p>
            <a:pPr marL="457200" lvl="1" indent="0" eaLnBrk="0" fontAlgn="base" hangingPunct="0">
              <a:lnSpc>
                <a:spcPct val="100000"/>
              </a:lnSpc>
              <a:spcAft>
                <a:spcPct val="0"/>
              </a:spcAft>
              <a:buFontTx/>
              <a:buChar char="•"/>
            </a:pPr>
            <a:r>
              <a:rPr lang="en-US" sz="1600">
                <a:latin typeface="Arial" panose="020B0604020202020204" pitchFamily="34" charset="0"/>
              </a:rPr>
              <a:t> </a:t>
            </a:r>
            <a:r>
              <a:rPr lang="en-US" sz="1600"/>
              <a:t>How can we tell whether a model understands cultural context rather than simply reproducing stereotypes?</a:t>
            </a:r>
          </a:p>
          <a:p>
            <a:pPr marL="0" indent="0" eaLnBrk="0" fontAlgn="base" hangingPunct="0">
              <a:lnSpc>
                <a:spcPct val="100000"/>
              </a:lnSpc>
              <a:spcAft>
                <a:spcPct val="0"/>
              </a:spcAft>
              <a:buFontTx/>
              <a:buChar char="•"/>
            </a:pPr>
            <a:r>
              <a:rPr lang="en-US" sz="1400">
                <a:latin typeface="Arial" panose="020B0604020202020204" pitchFamily="34" charset="0"/>
              </a:rPr>
              <a:t> </a:t>
            </a:r>
            <a:r>
              <a:rPr lang="fr-FR" altLang="fr-FR" sz="1400">
                <a:latin typeface="Arial" panose="020B0604020202020204" pitchFamily="34" charset="0"/>
              </a:rPr>
              <a:t> </a:t>
            </a:r>
            <a:r>
              <a:rPr lang="fr-FR" sz="1800">
                <a:latin typeface="Arial" panose="020B0604020202020204" pitchFamily="34" charset="0"/>
              </a:rPr>
              <a:t>Round 2 — Humans, AI &amp; authenticity [Voight-Kampff]</a:t>
            </a:r>
          </a:p>
          <a:p>
            <a:pPr marL="457200" lvl="1" indent="0" eaLnBrk="0" fontAlgn="base" hangingPunct="0">
              <a:lnSpc>
                <a:spcPct val="100000"/>
              </a:lnSpc>
              <a:spcAft>
                <a:spcPct val="0"/>
              </a:spcAft>
              <a:buFontTx/>
              <a:buChar char="•"/>
            </a:pPr>
            <a:r>
              <a:rPr lang="fr-FR" sz="1400"/>
              <a:t> </a:t>
            </a:r>
            <a:r>
              <a:rPr lang="en-US" sz="1600"/>
              <a:t>As generated content becomes harder to distinguish from human content, what should we be evaluating?</a:t>
            </a:r>
            <a:br>
              <a:rPr lang="en-US" sz="1600"/>
            </a:br>
            <a:r>
              <a:rPr lang="en-US" sz="1600"/>
              <a:t>Can we still detect AI-generated material? Does it matter whether text is detectable? What happens after human editing? What signals of authorship or provenance should systems preserve? How robust are detectors across genres, languages and models? Can generators systematically exploit weaknesses in evaluators?</a:t>
            </a:r>
          </a:p>
          <a:p>
            <a:pPr marL="0" lvl="1" indent="0" eaLnBrk="0" fontAlgn="base" hangingPunct="0">
              <a:lnSpc>
                <a:spcPct val="100000"/>
              </a:lnSpc>
              <a:spcBef>
                <a:spcPts val="1000"/>
              </a:spcBef>
              <a:spcAft>
                <a:spcPct val="0"/>
              </a:spcAft>
              <a:buFontTx/>
              <a:buChar char="•"/>
            </a:pPr>
            <a:r>
              <a:rPr lang="en-US" sz="1800">
                <a:latin typeface="Arial" panose="020B0604020202020204" pitchFamily="34" charset="0"/>
              </a:rPr>
              <a:t> Round 3 — GenAI that creates useful things</a:t>
            </a:r>
          </a:p>
          <a:p>
            <a:pPr marL="457200" lvl="1" indent="0" eaLnBrk="0" fontAlgn="base" hangingPunct="0">
              <a:lnSpc>
                <a:spcPct val="100000"/>
              </a:lnSpc>
              <a:spcAft>
                <a:spcPct val="0"/>
              </a:spcAft>
              <a:buFontTx/>
              <a:buChar char="•"/>
            </a:pPr>
            <a:r>
              <a:rPr lang="en-US" sz="1400"/>
              <a:t> </a:t>
            </a:r>
            <a:r>
              <a:rPr lang="en-US" sz="1600"/>
              <a:t>What kinds of useful artefacts should GenAI be able to create — and how do we know they are actually good?</a:t>
            </a:r>
          </a:p>
          <a:p>
            <a:pPr marL="457200" lvl="1" indent="0" eaLnBrk="0" fontAlgn="base" hangingPunct="0">
              <a:lnSpc>
                <a:spcPct val="100000"/>
              </a:lnSpc>
              <a:spcAft>
                <a:spcPct val="0"/>
              </a:spcAft>
              <a:buFontTx/>
              <a:buChar char="•"/>
            </a:pPr>
            <a:r>
              <a:rPr lang="en-US" sz="1600"/>
              <a:t> What generation task would reveal something about model quality that existing benchmarks miss?</a:t>
            </a:r>
          </a:p>
          <a:p>
            <a:pPr marL="457200" lvl="1" indent="0" eaLnBrk="0" fontAlgn="base" hangingPunct="0">
              <a:lnSpc>
                <a:spcPct val="100000"/>
              </a:lnSpc>
              <a:spcAft>
                <a:spcPct val="0"/>
              </a:spcAft>
              <a:buFontTx/>
              <a:buChar char="•"/>
            </a:pPr>
            <a:r>
              <a:rPr lang="en-US" sz="1600"/>
              <a:t> Does an LLM produce something that merely looks appropriate, or something that genuinely fulfils its intended function?</a:t>
            </a:r>
          </a:p>
          <a:p>
            <a:pPr marL="0" lvl="1" indent="0" eaLnBrk="0" fontAlgn="base" hangingPunct="0">
              <a:lnSpc>
                <a:spcPct val="100000"/>
              </a:lnSpc>
              <a:spcAft>
                <a:spcPct val="0"/>
              </a:spcAft>
              <a:buFontTx/>
              <a:buChar char="•"/>
            </a:pPr>
            <a:r>
              <a:rPr lang="fr-FR" sz="1400"/>
              <a:t> </a:t>
            </a:r>
            <a:r>
              <a:rPr lang="en-US" sz="1400">
                <a:latin typeface="Arial" panose="020B0604020202020204" pitchFamily="34" charset="0"/>
              </a:rPr>
              <a:t> </a:t>
            </a:r>
            <a:r>
              <a:rPr lang="en-US" sz="1800">
                <a:latin typeface="Arial" panose="020B0604020202020204" pitchFamily="34" charset="0"/>
              </a:rPr>
              <a:t>Round 4 —</a:t>
            </a:r>
            <a:r>
              <a:rPr lang="fr-FR" sz="1800">
                <a:latin typeface="Arial" panose="020B0604020202020204" pitchFamily="34" charset="0"/>
              </a:rPr>
              <a:t> </a:t>
            </a:r>
            <a:r>
              <a:rPr lang="en-US" sz="1800">
                <a:latin typeface="Arial" panose="020B0604020202020204" pitchFamily="34" charset="0"/>
              </a:rPr>
              <a:t>GenAI as evaluator, judge or decision-maker [Sensemaking]</a:t>
            </a:r>
          </a:p>
          <a:p>
            <a:pPr marL="457200" lvl="1" indent="0" eaLnBrk="0" fontAlgn="base" hangingPunct="0">
              <a:lnSpc>
                <a:spcPct val="100000"/>
              </a:lnSpc>
              <a:spcAft>
                <a:spcPct val="0"/>
              </a:spcAft>
              <a:buFontTx/>
              <a:buChar char="•"/>
            </a:pPr>
            <a:r>
              <a:rPr lang="en-US" sz="1400"/>
              <a:t> </a:t>
            </a:r>
            <a:r>
              <a:rPr lang="en-US" sz="1600"/>
              <a:t>When can we trust an LLM to evaluate someone else's output?</a:t>
            </a:r>
          </a:p>
          <a:p>
            <a:pPr marL="457200" lvl="1" indent="0" eaLnBrk="0" fontAlgn="base" hangingPunct="0">
              <a:lnSpc>
                <a:spcPct val="100000"/>
              </a:lnSpc>
              <a:spcAft>
                <a:spcPct val="0"/>
              </a:spcAft>
              <a:buFontTx/>
              <a:buChar char="•"/>
            </a:pPr>
            <a:r>
              <a:rPr lang="en-US" sz="1600"/>
              <a:t> What would make you trust—or distrust—an LLM-based evaluation?</a:t>
            </a:r>
            <a:endParaRPr lang="fr-FR" sz="1600"/>
          </a:p>
          <a:p>
            <a:pPr marL="457200" lvl="1" indent="0" eaLnBrk="0" fontAlgn="base" hangingPunct="0">
              <a:lnSpc>
                <a:spcPct val="100000"/>
              </a:lnSpc>
              <a:spcAft>
                <a:spcPct val="0"/>
              </a:spcAft>
              <a:buFontTx/>
              <a:buChar char="•"/>
            </a:pPr>
            <a:endParaRPr lang="en-US" sz="1400">
              <a:latin typeface="Arial" panose="020B0604020202020204" pitchFamily="34" charset="0"/>
            </a:endParaRPr>
          </a:p>
          <a:p>
            <a:pPr marL="457200" lvl="1" indent="0" eaLnBrk="0" fontAlgn="base" hangingPunct="0">
              <a:lnSpc>
                <a:spcPct val="100000"/>
              </a:lnSpc>
              <a:spcAft>
                <a:spcPct val="0"/>
              </a:spcAft>
              <a:buFontTx/>
              <a:buChar char="•"/>
            </a:pPr>
            <a:endParaRPr lang="fr-FR" sz="1400">
              <a:latin typeface="Arial" panose="020B0604020202020204" pitchFamily="34" charset="0"/>
            </a:endParaRPr>
          </a:p>
          <a:p>
            <a:pPr marL="0" lvl="0" indent="0" eaLnBrk="0" fontAlgn="base" hangingPunct="0">
              <a:lnSpc>
                <a:spcPct val="100000"/>
              </a:lnSpc>
              <a:spcAft>
                <a:spcPct val="0"/>
              </a:spcAft>
              <a:buFontTx/>
              <a:buChar char="•"/>
            </a:pPr>
            <a:endParaRPr lang="en-US" sz="1800">
              <a:latin typeface="Arial" panose="020B0604020202020204" pitchFamily="34" charset="0"/>
            </a:endParaRPr>
          </a:p>
        </p:txBody>
      </p:sp>
    </p:spTree>
    <p:extLst>
      <p:ext uri="{BB962C8B-B14F-4D97-AF65-F5344CB8AC3E}">
        <p14:creationId xmlns:p14="http://schemas.microsoft.com/office/powerpoint/2010/main" val="2863208778"/>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9C1CB4E21E376642A871B4BBBF376111" ma:contentTypeVersion="16" ma:contentTypeDescription="Create a new document." ma:contentTypeScope="" ma:versionID="752662ed4c37896082ec89266dc53e4c">
  <xsd:schema xmlns:xsd="http://www.w3.org/2001/XMLSchema" xmlns:xs="http://www.w3.org/2001/XMLSchema" xmlns:p="http://schemas.microsoft.com/office/2006/metadata/properties" xmlns:ns2="9386251c-c754-4a6c-90dd-93fdc1e17d91" xmlns:ns3="9107b037-0cb1-47e5-b5aa-8e7cc37e5c39" targetNamespace="http://schemas.microsoft.com/office/2006/metadata/properties" ma:root="true" ma:fieldsID="8025678b38e18969755f59cb6a84d1d2" ns2:_="" ns3:_="">
    <xsd:import namespace="9386251c-c754-4a6c-90dd-93fdc1e17d91"/>
    <xsd:import namespace="9107b037-0cb1-47e5-b5aa-8e7cc37e5c39"/>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element ref="ns2:MediaServiceBillingMetadata" minOccurs="0"/>
                <xsd:element ref="ns2:Notes" minOccurs="0"/>
                <xsd:element ref="ns2:MediaServiceLocation" minOccurs="0"/>
                <xsd:element ref="ns2:TranslatedLang"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386251c-c754-4a6c-90dd-93fdc1e17d9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54acc8d3-66d8-4f7f-ac2f-7fccaf6b6ed8"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element name="MediaServiceBillingMetadata" ma:index="20" nillable="true" ma:displayName="MediaServiceBillingMetadata" ma:hidden="true" ma:internalName="MediaServiceBillingMetadata" ma:readOnly="true">
      <xsd:simpleType>
        <xsd:restriction base="dms:Note"/>
      </xsd:simpleType>
    </xsd:element>
    <xsd:element name="Notes" ma:index="21" nillable="true" ma:displayName="Notes" ma:format="Dropdown" ma:internalName="Notes">
      <xsd:simpleType>
        <xsd:restriction base="dms:Text">
          <xsd:maxLength value="255"/>
        </xsd:restriction>
      </xsd:simpleType>
    </xsd:element>
    <xsd:element name="MediaServiceLocation" ma:index="22" nillable="true" ma:displayName="Location" ma:description="" ma:indexed="true" ma:internalName="MediaServiceLocation" ma:readOnly="true">
      <xsd:simpleType>
        <xsd:restriction base="dms:Text"/>
      </xsd:simpleType>
    </xsd:element>
    <xsd:element name="TranslatedLang" ma:index="23" nillable="true" ma:displayName="Translated Language" ma:internalName="TranslatedLang">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107b037-0cb1-47e5-b5aa-8e7cc37e5c39"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2f7b583d-2f8f-4825-9c51-3524deb2b25a}" ma:internalName="TaxCatchAll" ma:showField="CatchAllData" ma:web="9107b037-0cb1-47e5-b5aa-8e7cc37e5c3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9386251c-c754-4a6c-90dd-93fdc1e17d91">
      <Terms xmlns="http://schemas.microsoft.com/office/infopath/2007/PartnerControls"/>
    </lcf76f155ced4ddcb4097134ff3c332f>
    <Notes xmlns="9386251c-c754-4a6c-90dd-93fdc1e17d91" xsi:nil="true"/>
    <TranslatedLang xmlns="9386251c-c754-4a6c-90dd-93fdc1e17d91" xsi:nil="true"/>
    <TaxCatchAll xmlns="9107b037-0cb1-47e5-b5aa-8e7cc37e5c39" xsi:nil="true"/>
  </documentManagement>
</p:properties>
</file>

<file path=customXml/itemProps1.xml><?xml version="1.0" encoding="utf-8"?>
<ds:datastoreItem xmlns:ds="http://schemas.openxmlformats.org/officeDocument/2006/customXml" ds:itemID="{25E4086C-125C-4BAA-A74E-C249739DF688}"/>
</file>

<file path=customXml/itemProps2.xml><?xml version="1.0" encoding="utf-8"?>
<ds:datastoreItem xmlns:ds="http://schemas.openxmlformats.org/officeDocument/2006/customXml" ds:itemID="{469CC01E-129D-4E77-AC7D-D6E47C208E03}"/>
</file>

<file path=customXml/itemProps3.xml><?xml version="1.0" encoding="utf-8"?>
<ds:datastoreItem xmlns:ds="http://schemas.openxmlformats.org/officeDocument/2006/customXml" ds:itemID="{30E65D1C-9B4B-4168-B526-A21CB25A22AD}"/>
</file>

<file path=docProps/app.xml><?xml version="1.0" encoding="utf-8"?>
<Properties xmlns="http://schemas.openxmlformats.org/officeDocument/2006/extended-properties" xmlns:vt="http://schemas.openxmlformats.org/officeDocument/2006/docPropsVTypes">
  <TotalTime>475</TotalTime>
  <Words>1005</Words>
  <Application>Microsoft Office PowerPoint</Application>
  <PresentationFormat>Grand écran</PresentationFormat>
  <Paragraphs>64</Paragraphs>
  <Slides>16</Slides>
  <Notes>1</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16</vt:i4>
      </vt:variant>
    </vt:vector>
  </HeadingPairs>
  <TitlesOfParts>
    <vt:vector size="20" baseType="lpstr">
      <vt:lpstr>Arial</vt:lpstr>
      <vt:lpstr>Calibri</vt:lpstr>
      <vt:lpstr>Calibri Light</vt:lpstr>
      <vt:lpstr>Thème Office</vt:lpstr>
      <vt:lpstr>Présentation PowerPoint</vt:lpstr>
      <vt:lpstr>What was the challenge?</vt:lpstr>
      <vt:lpstr>Participants in brief</vt:lpstr>
      <vt:lpstr>Overview – Team submissions</vt:lpstr>
      <vt:lpstr>Overview – Team submissions</vt:lpstr>
      <vt:lpstr>Overview – Team submissions</vt:lpstr>
      <vt:lpstr>Overview – Team submissions</vt:lpstr>
      <vt:lpstr>Overview – Team submissions</vt:lpstr>
      <vt:lpstr>Overview – Team submissions</vt:lpstr>
      <vt:lpstr>Overview – Team submissions</vt:lpstr>
      <vt:lpstr>Take away</vt:lpstr>
      <vt:lpstr>Présentation PowerPoint</vt:lpstr>
      <vt:lpstr>What for next year?</vt:lpstr>
      <vt:lpstr>Q&amp;A / feedback on ELOQUENT 2026</vt:lpstr>
      <vt:lpstr>What capability should we test next?</vt:lpstr>
      <vt:lpstr>What capability should we test next?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Josiane Mothe</dc:creator>
  <cp:lastModifiedBy>Josiane Mothe</cp:lastModifiedBy>
  <cp:revision>10</cp:revision>
  <dcterms:created xsi:type="dcterms:W3CDTF">2026-09-22T05:33:26Z</dcterms:created>
  <dcterms:modified xsi:type="dcterms:W3CDTF">2026-09-22T13:28:44Z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0x0101009C1CB4E21E376642A871B4BBBF376111</vt:lpwstr>
  </property>
</Properties>
</file>