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Cardo"/>
      <p:regular r:id="rId59"/>
      <p:bold r:id="rId60"/>
      <p:italic r:id="rId61"/>
    </p:embeddedFont>
    <p:embeddedFont>
      <p:font typeface="Playfair Display"/>
      <p:regular r:id="rId62"/>
      <p:bold r:id="rId63"/>
      <p:italic r:id="rId64"/>
      <p:boldItalic r:id="rId65"/>
    </p:embeddedFont>
    <p:embeddedFont>
      <p:font typeface="Roboto Mono"/>
      <p:regular r:id="rId66"/>
      <p:bold r:id="rId67"/>
      <p:italic r:id="rId68"/>
      <p:boldItalic r:id="rId69"/>
    </p:embeddedFont>
    <p:embeddedFont>
      <p:font typeface="Lexend Deca SemiBold"/>
      <p:regular r:id="rId70"/>
      <p:bold r:id="rId71"/>
    </p:embeddedFont>
    <p:embeddedFont>
      <p:font typeface="Lexend Deca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PlayfairDisplay-bold.fntdata"/><Relationship Id="rId21" Type="http://schemas.openxmlformats.org/officeDocument/2006/relationships/slide" Target="slides/slide16.xml"/><Relationship Id="rId68" Type="http://schemas.openxmlformats.org/officeDocument/2006/relationships/font" Target="fonts/RobotoMono-italic.fntdata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66" Type="http://schemas.openxmlformats.org/officeDocument/2006/relationships/font" Target="fonts/RobotoMono-regular.fntdata"/><Relationship Id="rId24" Type="http://schemas.openxmlformats.org/officeDocument/2006/relationships/slide" Target="slides/slide19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74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61" Type="http://schemas.openxmlformats.org/officeDocument/2006/relationships/font" Target="fonts/Cardo-italic.fntdata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64" Type="http://schemas.openxmlformats.org/officeDocument/2006/relationships/font" Target="fonts/PlayfairDisplay-italic.fntdata"/><Relationship Id="rId22" Type="http://schemas.openxmlformats.org/officeDocument/2006/relationships/slide" Target="slides/slide17.xml"/><Relationship Id="rId69" Type="http://schemas.openxmlformats.org/officeDocument/2006/relationships/font" Target="fonts/RobotoMono-boldItalic.fntdata"/><Relationship Id="rId27" Type="http://schemas.openxmlformats.org/officeDocument/2006/relationships/slide" Target="slides/slide22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72" Type="http://schemas.openxmlformats.org/officeDocument/2006/relationships/font" Target="fonts/LexendDeca-regular.fntdata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font" Target="fonts/RobotoMono-bold.fntdata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Cardo-regular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70" Type="http://schemas.openxmlformats.org/officeDocument/2006/relationships/font" Target="fonts/LexendDecaSemiBold-regular.fntdata"/><Relationship Id="rId62" Type="http://schemas.openxmlformats.org/officeDocument/2006/relationships/font" Target="fonts/PlayfairDisplay-regular.fntdata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75" Type="http://schemas.openxmlformats.org/officeDocument/2006/relationships/customXml" Target="../customXml/item2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73" Type="http://schemas.openxmlformats.org/officeDocument/2006/relationships/font" Target="fonts/LexendDeca-bold.fntdata"/><Relationship Id="rId31" Type="http://schemas.openxmlformats.org/officeDocument/2006/relationships/slide" Target="slides/slide26.xml"/><Relationship Id="rId65" Type="http://schemas.openxmlformats.org/officeDocument/2006/relationships/font" Target="fonts/PlayfairDisplay-boldItalic.fntdata"/><Relationship Id="rId60" Type="http://schemas.openxmlformats.org/officeDocument/2006/relationships/font" Target="fonts/Cardo-bold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customXml" Target="../customXml/item3.xml"/><Relationship Id="rId7" Type="http://schemas.openxmlformats.org/officeDocument/2006/relationships/slide" Target="slides/slide2.xml"/><Relationship Id="rId71" Type="http://schemas.openxmlformats.org/officeDocument/2006/relationships/font" Target="fonts/LexendDec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4d4f40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f4d4f40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fd6687836d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fd6687836d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245a20d0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245a20d0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4d4f40a76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4d4f40a76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d6687836d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d6687836d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d6687836d_1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d6687836d_1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d6687836d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d6687836d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d6687836d_1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d6687836d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d6687836d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d6687836d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45b08d988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245b08d988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d6687836d_1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d6687836d_1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4d4f40a76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4d4f40a76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4d4f40a76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4d4f40a76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d6687836d_1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d6687836d_1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d6687836d_1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d6687836d_1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d6687836d_1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d6687836d_1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d6687836d_1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fd6687836d_1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d6687836d_1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d6687836d_1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45b08d988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45b08d988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45b08d98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45b08d98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d6687836d_1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d6687836d_1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Notes to the speaker: </a:t>
            </a:r>
            <a:br>
              <a:rPr lang="en-GB"/>
            </a:br>
            <a:r>
              <a:rPr lang="en-GB"/>
              <a:t>This slide is totally okay to read through, no need to add much.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d6687836d_1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d6687836d_1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To cover….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Task formulation in some detail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What is the big picture, why is this interesting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Example topic or query or whatever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Registered and submitted participants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Learnings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-"/>
            </a:pPr>
            <a:r>
              <a:rPr b="1" lang="en-GB" sz="1000">
                <a:solidFill>
                  <a:srgbClr val="595959"/>
                </a:solidFill>
              </a:rPr>
              <a:t>Plans going forward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The task is formulated in two steps: detection and generation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[read out detection task]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[read out generation task]</a:t>
            </a:r>
            <a:endParaRPr b="1" sz="1000">
              <a:solidFill>
                <a:srgbClr val="595959"/>
              </a:solidFill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Char char="-"/>
            </a:pPr>
            <a:r>
              <a:rPr b="1" lang="en-GB" sz="1000">
                <a:solidFill>
                  <a:srgbClr val="595959"/>
                </a:solidFill>
              </a:rPr>
              <a:t>Once we have generated pairs of hallucinated and correct hypothesis, we perform cross-model evaluation where we have the models try to detect which of the two generated sentences is a hallucination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45b08d988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45b08d988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Okay to read out as is, nothing too special here</a:t>
            </a:r>
            <a:endParaRPr b="1"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d6687836d_1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d6687836d_1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Hallucination category: wrong number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d6687836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d6687836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d6687836d_1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d6687836d_1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Hallucination category: antonym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d6687836d_1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d6687836d_1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We had small number of participants but one group submitted a large number of models and prompt variations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Read out the rest as is, nothing special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d6687836d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d6687836d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d6687836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d6687836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63f5e2a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f63f5e2a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95959"/>
                </a:solidFill>
              </a:rPr>
              <a:t>Notes to the speaker:</a:t>
            </a:r>
            <a:endParaRPr b="1"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Steps: detection, generation and cross-model evaluation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d6687836d_1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fd6687836d_1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45b08d988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245b08d988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d6687836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d6687836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fd6687836d_1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fd6687836d_1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d6687836d_1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d6687836d_1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d6687836d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fd6687836d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fd6687836d_1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fd6687836d_1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fd6687836d_1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fd6687836d_1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d6687836d_1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d6687836d_1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4d4f40a76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f4d4f40a76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4d4f40a76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f4d4f40a76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d6687836d_1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fd6687836d_1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fd6687836d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fd6687836d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fd6687836d_1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fd6687836d_1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fd6687836d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fd6687836d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245a20d0a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245a20d0a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45a20d0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245a20d0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245a20d0a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245a20d0a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d6687836d_1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fd6687836d_1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4d4f40a76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4d4f40a76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f4d4f40a76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f4d4f40a76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45b08d988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245b08d988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f4d4f40a76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f4d4f40a76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Playfair Display"/>
              <a:buNone/>
              <a:defRPr sz="52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i="1" sz="2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Playfair Display"/>
              <a:buNone/>
              <a:defRPr b="1" sz="36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3408000" y="4545725"/>
            <a:ext cx="2328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Roboto Mono"/>
                <a:ea typeface="Roboto Mono"/>
                <a:cs typeface="Roboto Mono"/>
                <a:sym typeface="Roboto Mono"/>
              </a:rPr>
              <a:t>https://eloquent-lab.github.io/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C9DAF8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70850" y="1211875"/>
            <a:ext cx="88023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Courier New"/>
              <a:buNone/>
              <a:defRPr sz="100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/>
        </p:nvSpPr>
        <p:spPr>
          <a:xfrm>
            <a:off x="493800" y="244000"/>
            <a:ext cx="81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slide will be removed before presentation and is only here as an authoring aid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- Baby blue">
  <p:cSld name="CUSTOM_3_1_1_1_1_4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/>
          <p:cNvPicPr preferRelativeResize="0"/>
          <p:nvPr/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>
            <p:ph type="title"/>
          </p:nvPr>
        </p:nvSpPr>
        <p:spPr>
          <a:xfrm>
            <a:off x="450000" y="2073900"/>
            <a:ext cx="448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exend Deca"/>
              <a:buNone/>
              <a:defRPr b="0" sz="29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447350" y="2720700"/>
            <a:ext cx="3707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rdo"/>
              <a:buNone/>
              <a:defRPr i="1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050" y="904550"/>
            <a:ext cx="4238950" cy="42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blue">
  <p:cSld name="CUSTOM_4_1_1_1_1_1_1_1_1_1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7"/>
          <p:cNvPicPr preferRelativeResize="0"/>
          <p:nvPr/>
        </p:nvPicPr>
        <p:blipFill rotWithShape="1">
          <a:blip r:embed="rId3">
            <a:alphaModFix/>
          </a:blip>
          <a:srcRect b="-10" l="56718" r="13245" t="0"/>
          <a:stretch/>
        </p:blipFill>
        <p:spPr>
          <a:xfrm>
            <a:off x="8462975" y="4655300"/>
            <a:ext cx="252400" cy="2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With header bar">
  <p:cSld name="CUSTOM_4_1_1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0000" y="736950"/>
            <a:ext cx="818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 Deca"/>
              <a:buNone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1369425" y="4763"/>
            <a:ext cx="1379100" cy="27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000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2" type="subTitle"/>
          </p:nvPr>
        </p:nvSpPr>
        <p:spPr>
          <a:xfrm>
            <a:off x="-5425" y="4763"/>
            <a:ext cx="1379100" cy="27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12077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exend Deca"/>
              <a:buNone/>
              <a:defRPr sz="1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idx="3" type="body"/>
          </p:nvPr>
        </p:nvSpPr>
        <p:spPr>
          <a:xfrm>
            <a:off x="455250" y="1763425"/>
            <a:ext cx="68649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indent="-3048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5pPr>
            <a:lvl6pPr indent="-304800" lvl="5" marL="2743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8pPr>
            <a:lvl9pPr indent="-304800" lvl="8" marL="41148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4" type="subTitle"/>
          </p:nvPr>
        </p:nvSpPr>
        <p:spPr>
          <a:xfrm>
            <a:off x="447350" y="1195650"/>
            <a:ext cx="37077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rdo"/>
              <a:buNone/>
              <a:defRPr i="1">
                <a:latin typeface="Cardo"/>
                <a:ea typeface="Cardo"/>
                <a:cs typeface="Cardo"/>
                <a:sym typeface="Cardo"/>
              </a:defRPr>
            </a:lvl1pPr>
            <a:lvl2pPr lvl="1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7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b="1"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●"/>
              <a:defRPr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250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ELOQUENT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3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EVALUATION OF GENERATIVE LANGUAGE MODEL QUALITY AND CHARACTERISTICS</a:t>
            </a:r>
            <a:endParaRPr b="1" sz="2972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3">
              <a:solidFill>
                <a:srgbClr val="2F2F2F"/>
              </a:solidFill>
              <a:highlight>
                <a:srgbClr val="F9F7F1"/>
              </a:highlight>
            </a:endParaRPr>
          </a:p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700" y="2834125"/>
            <a:ext cx="8520600" cy="14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Jussi Karlgren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Aarne Talman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Liane Guillou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Luise Dürlich, Evangelia Gogoulou, Shorouq Zahra, Joakim Nivre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Magnus Sahlgren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9"/>
          <p:cNvSpPr txBox="1"/>
          <p:nvPr/>
        </p:nvSpPr>
        <p:spPr>
          <a:xfrm>
            <a:off x="99775" y="42663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your LLM really clever? Can it mark its own homework?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ELOQUENT is a lab for evaluating the quality of generative language models</a:t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1587975"/>
            <a:ext cx="8520600" cy="29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First year in 2024; will run again in 2025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Four innovative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Great interest; low submission rate; several submissions from students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 on low-effort assessment and downstream application inspired quality criteria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ELOQUENT?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LLMs are a tool used as a magic wand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robust input 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tailored output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conversational competence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incorporates (some) world knowledge and reasoning capacity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Multi-linguality and cultural fit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understudied (but overtalked)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Expensive evaluation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GB"/>
              <a:t>Difficult to assess their quality by random probing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LLMs might be able to self-evaluate!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Strong assumptions about transfer learning and the generality of language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Quality tests often variants of training monitor benchmark tests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Top level goals of using LLMs in practice not well aligned with what tests test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311700" y="38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ELOQUENT is o</a:t>
            </a:r>
            <a:r>
              <a:rPr lang="en-GB"/>
              <a:t>f general interest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Trustworthiness is of general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AI on Demand framework with several associated EU projects includes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evaluation and benchmarking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trustworthiness as a top-level quality criterion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Digital sovereignty implies requirements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cultural fit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multilinguality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ELOQUENT is supported by the DeployAI project and integral to the OpenEuroLLM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ELOQUENT tasks will be turned into evaluation components on the AIoD platform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Top-level quality criteria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Language</a:t>
            </a:r>
            <a:r>
              <a:rPr lang="en-GB"/>
              <a:t> 				</a:t>
            </a:r>
            <a:endParaRPr/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Are system utterances correct and well-formed language?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Discourse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			Is the conversation fluent over the several turns of a session?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Social awareness 			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output of a system appropriate for the conversation and the parties engaged in it?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Consistency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produce robust output to varied input?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982"/>
              <a:buFont typeface="Arial"/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Veracity</a:t>
            </a:r>
            <a:br>
              <a:rPr lang="en-GB"/>
            </a:br>
            <a:r>
              <a:rPr lang="en-GB"/>
              <a:t>			Is the output of a system truthful?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Topical competence	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know the topic enough for its output to be trusted?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Compliance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content of the model and the output compliant with regulatory constraints?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Common sense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Is the system capable to reason using language?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Effectiveness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Does the system hold to budgets with respect to time, energy, computational effort, and hardware?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5">
                <a:latin typeface="Lexend Deca SemiBold"/>
                <a:ea typeface="Lexend Deca SemiBold"/>
                <a:cs typeface="Lexend Deca SemiBold"/>
                <a:sym typeface="Lexend Deca SemiBold"/>
              </a:rPr>
              <a:t>Creativity</a:t>
            </a:r>
            <a:endParaRPr sz="2245">
              <a:latin typeface="Lexend Deca SemiBold"/>
              <a:ea typeface="Lexend Deca SemiBold"/>
              <a:cs typeface="Lexend Deca SemiBold"/>
              <a:sym typeface="Lexend Deca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interaction with the system </a:t>
            </a:r>
            <a:r>
              <a:rPr lang="en-GB">
                <a:solidFill>
                  <a:srgbClr val="FF0000"/>
                </a:solidFill>
              </a:rPr>
              <a:t>interesting, delightful, and fun?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level goals of ELOQUENT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assessing </a:t>
            </a:r>
            <a:r>
              <a:rPr b="1" lang="en-GB" sz="1700"/>
              <a:t>Trustworthiness</a:t>
            </a:r>
            <a:r>
              <a:rPr lang="en-GB" sz="1700"/>
              <a:t>, a many-faceted notion which involves topical relevance and truthfulness, discourse competence, reasoning in language, controllability, and robustness across varied input.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exploring effects of </a:t>
            </a:r>
            <a:r>
              <a:rPr b="1" lang="en-GB" sz="1700"/>
              <a:t>Multi-linguality</a:t>
            </a:r>
            <a:r>
              <a:rPr lang="en-GB" sz="1700"/>
              <a:t> and the notion of </a:t>
            </a:r>
            <a:r>
              <a:rPr b="1" lang="en-GB" sz="1700"/>
              <a:t>Cultural fit</a:t>
            </a:r>
            <a:r>
              <a:rPr lang="en-GB" sz="1700"/>
              <a:t>: the suitability of a language model for some cultural and linguistic area. 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probing the </a:t>
            </a:r>
            <a:r>
              <a:rPr b="1" lang="en-GB" sz="1700"/>
              <a:t>Limits of Language Models</a:t>
            </a:r>
            <a:r>
              <a:rPr lang="en-GB" sz="1700"/>
              <a:t>: what is world knowledge and what is generative capacity?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making use of </a:t>
            </a:r>
            <a:r>
              <a:rPr b="1" lang="en-GB" sz="1700"/>
              <a:t>Self-assessment</a:t>
            </a:r>
            <a:r>
              <a:rPr lang="en-GB" sz="1700"/>
              <a:t>: the reliability of a language model to assess the quality of itself or some other language model, using as little human effort as possible.   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cultural fit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cultural aspects are tests we use built for?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Will translation work?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7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169625" y="323750"/>
            <a:ext cx="3000000" cy="192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"Two people are seen sitting before a wave pool and one leads another out onto the water on a board. The person ..."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255875" y="2323725"/>
            <a:ext cx="3000000" cy="221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"A cowboy rides a horse out of a corral and enters into a fenced off area. The man rides his horse out of the fenced are and throws a rope ..."</a:t>
            </a:r>
            <a:endParaRPr sz="167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527325" y="2323725"/>
            <a:ext cx="3000000" cy="221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7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"A small group of people are seen sitting around a casino table speaking to one another and playing a game of poker ..."</a:t>
            </a:r>
            <a:endParaRPr sz="167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911125" y="46578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Cardo"/>
                <a:ea typeface="Cardo"/>
                <a:cs typeface="Cardo"/>
                <a:sym typeface="Cardo"/>
              </a:rPr>
              <a:t>(from the Hellaswag test set)</a:t>
            </a:r>
            <a:endParaRPr sz="1300">
              <a:solidFill>
                <a:srgbClr val="B7B7B7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limits of LMs -- where does world knowledge come in?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{"question_id": 148, "category": "stem", "turns": [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"You have been tasked with designing a solar-powered water heating system for a residential building. Describe the key components and considerations you would include in your design. Design a five-step workflow.", 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"If the system is intended for a building with a capacity of 100 individuals, what would be the estimated budget for implementing this system?"]}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572000" y="4107175"/>
            <a:ext cx="525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Cardo"/>
                <a:ea typeface="Cardo"/>
                <a:cs typeface="Cardo"/>
                <a:sym typeface="Cardo"/>
              </a:rPr>
              <a:t>(from the MT-Bench test set)</a:t>
            </a:r>
            <a:endParaRPr sz="1300">
              <a:solidFill>
                <a:srgbClr val="B7B7B7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93" name="Google Shape;93;p16"/>
          <p:cNvSpPr txBox="1"/>
          <p:nvPr/>
        </p:nvSpPr>
        <p:spPr>
          <a:xfrm rot="1260187">
            <a:off x="4949129" y="3908745"/>
            <a:ext cx="4162449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is this a language question?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laziness is a virtue and frugality its own reward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2814275" y="23044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your LLM really clever? Can it mark its own homework?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use quality tests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monitoring training vs assessing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component-wise quality assurance vs end-to-end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adversarial tests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Operationalisation at ELOQUENT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 tasks this past year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 threshold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Open-ended difficulty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Exploratory set-up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Minimise human effort in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Plan for new tasks as needed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Possibly turn some into leaderboards eventually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Relation to coming AI on Demand platform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FIRST ELOQUENT EDITION IN 2024: Four Tasks</a:t>
            </a:r>
            <a:endParaRPr sz="36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47500" y="1854100"/>
            <a:ext cx="8520600" cy="24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Quiz: </a:t>
            </a:r>
            <a:r>
              <a:rPr lang="en-GB" sz="2000"/>
              <a:t>Topical competence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HalluciGen</a:t>
            </a:r>
            <a:r>
              <a:rPr lang="en-GB" sz="2000"/>
              <a:t>: Veracity and Hallucination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Robustness: </a:t>
            </a:r>
            <a:r>
              <a:rPr lang="en-GB" sz="2000"/>
              <a:t>Handling variation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AutoNum type="arabicPeriod"/>
            </a:pPr>
            <a:r>
              <a:rPr b="1" lang="en-GB" sz="2000"/>
              <a:t>Voight-Kampff: </a:t>
            </a:r>
            <a:r>
              <a:rPr lang="en-GB" sz="2000"/>
              <a:t>Identifying machine-generated text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1: Quiz -</a:t>
            </a:r>
            <a:r>
              <a:rPr b="0" lang="en-GB" sz="2750"/>
              <a:t> </a:t>
            </a:r>
            <a:r>
              <a:rPr b="0" i="1" lang="en-GB" sz="2750">
                <a:solidFill>
                  <a:schemeClr val="dk2"/>
                </a:solidFill>
              </a:rPr>
              <a:t>Does the language model know about a topic?</a:t>
            </a:r>
            <a:endParaRPr b="0" sz="2750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topical competence be self-evaluated using synthetic data generated by the model itself?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Round-robin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participating system must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accept a topic and a prompt string defined in human language,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a test with a set of questions for that topic,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accept tests generated by other systems and respond to them, and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score responses given by other systems to the test it generated.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Quality of tests is probably more interesting than the quality of responses!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0600" y="1778000"/>
            <a:ext cx="1961699" cy="13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quiz topic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5750"/>
            <a:ext cx="87951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"id": "001", "title": "e-scooters", "objective": "inspecific",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"description": "Electric scooters are a popular new vehicle found in many cities around the world, often available through scooter-sharing services."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222950" y="2109550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{... "test_items":[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{"qid":"001", "question":"What is an electric scooter, and how does it differ from traditional scooters or motorcycles?"},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 {"qid":"002","question":"Can you briefly explain the key components of an electric scooter?"},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 {"qid":"003","question":"Why have electric scooters gained popularity in urban areas around the world?"},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  {"qid":"004","question":"Name a few cities &lt;where electric scooters are commonly found as a mode of transportation."},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...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]}}}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4184850" y="2229700"/>
            <a:ext cx="5010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{"topicaltestresponses":{...,"quizresponses":{...[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{"qid":"001","response":"An electric scooter is a two-wheeled vehicle powered by an electric motor. It differs from traditional scooters by using electric energy for propulsion."},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{"qid":"002","response":"Key components include the electric motor, rechargeable battery, braking system, and control mechanisms."},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{"qid":"003","response":"Electric scooters have gained popularity due to their environmental friendliness, cost-effectiveness, and convenience."}, 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{"qid":"004","response":"They are commonly found in cities like San Francisco, Paris, and Berlin, where they provide a quick and efficient means of transportation."}]}}}</a:t>
            </a:r>
            <a:endParaRPr sz="10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7998550" y="2525200"/>
            <a:ext cx="546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Topical quiz task submissions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task had 27 registered participant teams.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Three teams submitted quizzes.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Two teams submitted responses using models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Poro-34B-Chat,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Mistral-7B-Instruct-v0.1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GPT-SW3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Command-R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01" y="206275"/>
            <a:ext cx="7894800" cy="46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5" y="41775"/>
            <a:ext cx="8870924" cy="45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learnings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739850" y="1174150"/>
            <a:ext cx="7761300" cy="32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too little data for an elaborate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quizzes seem to be 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scoring was quite challenging for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scores typically quite high (gpt-4 somewhat stingier than others)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self-scoring boost!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 topical competence gives lower reliability for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too complex task, needs some redesign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70850" y="1211875"/>
            <a:ext cx="88023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this an interesting task?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Plans going forward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paused for 2025, will return in some form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(and multi-linguality will be addressed)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79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6698"/>
              <a:buFont typeface="Arial"/>
              <a:buNone/>
            </a:pPr>
            <a:r>
              <a:rPr lang="en-GB"/>
              <a:t>Task 2: HalluciGen - </a:t>
            </a:r>
            <a:r>
              <a:rPr b="0" i="1" lang="en-GB" sz="2355"/>
              <a:t>Can it be trusted? Or does it make stuff up?</a:t>
            </a:r>
            <a:endParaRPr b="0" i="1" sz="2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672"/>
              <a:buFont typeface="Arial"/>
              <a:buNone/>
            </a:pPr>
            <a:r>
              <a:t/>
            </a:r>
            <a:endParaRPr b="0" i="1" sz="2577"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79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Manifold question: truthfulness has many facets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Many test sets and tasks around this question can be found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Shroom at SEM-EVAL this year!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year: </a:t>
            </a:r>
            <a:r>
              <a:rPr b="1" lang="en-GB"/>
              <a:t>Builder</a:t>
            </a:r>
            <a:r>
              <a:rPr lang="en-GB"/>
              <a:t>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hallucinations and paraphrases from source sentences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develop evaluator models to identify hallucinated content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given a source sentence and two samples, detect which one of samples is hallucination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given a source sentence and a sample, decide if the sample is hallucinated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evaluate across models in round robin style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Next year: </a:t>
            </a:r>
            <a:r>
              <a:rPr b="1" lang="en-GB"/>
              <a:t>Breaker</a:t>
            </a:r>
            <a:r>
              <a:rPr lang="en-GB"/>
              <a:t>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data to challenge evaluator models from the previous year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inspired by the WMT challenge and the Adversarial NLI dataset</a:t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650" y="3360975"/>
            <a:ext cx="1742699" cy="170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setup</a:t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2578450" y="214550"/>
            <a:ext cx="61587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 and a hypotheses: 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Hallucination = hypothesis that contradicts the source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0" name="Google Shape;180;p30"/>
          <p:cNvSpPr/>
          <p:nvPr/>
        </p:nvSpPr>
        <p:spPr>
          <a:xfrm>
            <a:off x="2530550" y="118550"/>
            <a:ext cx="5507400" cy="1015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311700" y="1680000"/>
            <a:ext cx="3534300" cy="181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5135650" y="1680000"/>
            <a:ext cx="3467400" cy="187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431325" y="1742250"/>
            <a:ext cx="32184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Detection task</a:t>
            </a:r>
            <a:endParaRPr b="1" sz="20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 and hyp1, hyp2, the model should detect which of the two contains a hallucination.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5327200" y="1794900"/>
            <a:ext cx="30843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Generation task</a:t>
            </a:r>
            <a:endParaRPr b="1" sz="20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Given a source, the model should generate: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a correct hypothesis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a hallucinated hypothesis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3204475" y="3555800"/>
            <a:ext cx="285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Cross-model evaluation</a:t>
            </a:r>
            <a:endParaRPr b="1"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6" name="Google Shape;186;p30"/>
          <p:cNvSpPr/>
          <p:nvPr/>
        </p:nvSpPr>
        <p:spPr>
          <a:xfrm rot="-10799281">
            <a:off x="2186810" y="3556256"/>
            <a:ext cx="4302600" cy="876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3759913" y="2209775"/>
            <a:ext cx="145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rdo"/>
              <a:buAutoNum type="arabicParenR"/>
            </a:pPr>
            <a:r>
              <a:rPr b="1" lang="en-GB" sz="11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Paraphrase</a:t>
            </a:r>
            <a:endParaRPr b="1" sz="11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rdo"/>
              <a:buAutoNum type="arabicParenR"/>
            </a:pPr>
            <a:r>
              <a:rPr b="1" lang="en-GB" sz="11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Translation</a:t>
            </a:r>
            <a:endParaRPr b="1" sz="11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scenarios</a:t>
            </a:r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415800" y="1293625"/>
            <a:ext cx="35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435050" y="1130000"/>
            <a:ext cx="8397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Paraphrase:</a:t>
            </a:r>
            <a:endParaRPr b="1"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Source sentences from existing datasets in English and Swedish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Human annotations + LLMs were used to construct the correct and hallucinated hypotheses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Machine Translation:</a:t>
            </a:r>
            <a:endParaRPr b="1"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Four translation pairs, en-fr, fr-en, de-en, en-de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-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All source and hypotheses come mostly from ACES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-23100" y="4778050"/>
            <a:ext cx="88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Amrhein, Chantal, Nikita Moghe, and Liane Guillou. "ACES: Translation Accuracy Challenge Sets at WMT 2023." </a:t>
            </a:r>
            <a:r>
              <a:rPr i="1" lang="en-GB" sz="900">
                <a:solidFill>
                  <a:srgbClr val="222222"/>
                </a:solidFill>
                <a:highlight>
                  <a:srgbClr val="FFFFFF"/>
                </a:highlight>
              </a:rPr>
              <a:t>Proceedings of the Eighth Conference on Machine Translation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. 2023.</a:t>
            </a:r>
            <a:endParaRPr sz="9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Paraphrase</a:t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311700" y="1799250"/>
            <a:ext cx="3876900" cy="15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Source: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We cannot accept Amendments Nos 19, 21 and 51, which are aimed at regulating the import and export of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4572000" y="1017725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Hyp1: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Amendments Nos 21 and 23 are aimed at regulating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4492250" y="2651475"/>
            <a:ext cx="35784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Hyp2: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Amendments Nos 19 and 21 are aimed at regulating genetically modified organisms.</a:t>
            </a:r>
            <a:endParaRPr sz="1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8030775" y="28947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✔️</a:t>
            </a:r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8030775" y="12101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✖️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/>
        </p:nvSpPr>
        <p:spPr>
          <a:xfrm>
            <a:off x="0" y="916650"/>
            <a:ext cx="846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Given the src below, generate a paraphrase hypothesis hyp+ that is supported by src and a paraphrase hypothesis hyp- that is not supported by src.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75175" y="2625500"/>
            <a:ext cx="89895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Which hypothesis is not supported by the source: hypothesis1 or hypothesis2? Source: &lt;source&gt; hypothesis1: &lt;hyp1&gt; hypothesis2: &lt;hyp2&gt; Acceptable answers: ’hypothesis1’, ’hypothesis2’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Answer: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998125" y="44258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7B7B7"/>
                </a:solidFill>
                <a:latin typeface="Courier New"/>
                <a:ea typeface="Courier New"/>
                <a:cs typeface="Courier New"/>
                <a:sym typeface="Courier New"/>
              </a:rPr>
              <a:t>Mixtral-8x7B-Instruct-v0.1</a:t>
            </a:r>
            <a:endParaRPr sz="1200">
              <a:solidFill>
                <a:srgbClr val="B7B7B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7B7B7"/>
                </a:solidFill>
                <a:latin typeface="Courier New"/>
                <a:ea typeface="Courier New"/>
                <a:cs typeface="Courier New"/>
                <a:sym typeface="Courier New"/>
              </a:rPr>
              <a:t>gpt-sw3-6.7b-v2 </a:t>
            </a:r>
            <a:endParaRPr sz="1200">
              <a:solidFill>
                <a:srgbClr val="B7B7B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Translation</a:t>
            </a:r>
            <a:endParaRPr/>
          </a:p>
        </p:txBody>
      </p:sp>
      <p:sp>
        <p:nvSpPr>
          <p:cNvPr id="219" name="Google Shape;219;p34"/>
          <p:cNvSpPr txBox="1"/>
          <p:nvPr/>
        </p:nvSpPr>
        <p:spPr>
          <a:xfrm>
            <a:off x="311700" y="2319825"/>
            <a:ext cx="38769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Source: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If he stayed in the same place, he would be discovered.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34"/>
          <p:cNvSpPr txBox="1"/>
          <p:nvPr/>
        </p:nvSpPr>
        <p:spPr>
          <a:xfrm>
            <a:off x="4572000" y="1538300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Hyp1: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Wenn er am selben Ort bliebe, würde man ihn finden.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4492250" y="3172050"/>
            <a:ext cx="3578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Hyp2:</a:t>
            </a:r>
            <a:r>
              <a:rPr lang="en-GB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Wenn er am selben Ort bliebe, würde man ihn übersehen.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7961000" y="123007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✔️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7961000" y="2805025"/>
            <a:ext cx="6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✖️</a:t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3690475" y="0"/>
            <a:ext cx="5499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ourier New"/>
                <a:ea typeface="Courier New"/>
                <a:cs typeface="Courier New"/>
                <a:sym typeface="Courier New"/>
              </a:rPr>
              <a:t>Translate the following &lt;src_lang&gt; text incorrectly into &lt;tgt_lang&gt; and change its meaning, for example by inserting a word, changing the tense of the text, negating the text, or replacing a date, number, named entity, or pronoun.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ourier New"/>
                <a:ea typeface="Courier New"/>
                <a:cs typeface="Courier New"/>
                <a:sym typeface="Courier New"/>
              </a:rPr>
              <a:t>Text: &lt;src_sentence&gt; &lt;tgt_lang&gt;: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Registered participants and resulting submissions</a:t>
            </a:r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390750" y="1080525"/>
            <a:ext cx="7815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●"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10 systems submitted by 3 participant groups in total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311700" y="1718475"/>
            <a:ext cx="41766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Detection: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GPT-4 and Majority voting the best approaches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Strong Natural Language Inference system baseline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4488300" y="1718475"/>
            <a:ext cx="46680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Generation: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Llama-3-8B-Instruct and GPT -3.5-turbo show strong performance in generating both correct and hallucinated hypotheses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Baseline Llama-2-7b-chat struggles with hallucinated hypothesis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311700" y="3366100"/>
            <a:ext cx="57807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Cross-model: </a:t>
            </a:r>
            <a:endParaRPr b="1" sz="1800" u="sng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rdo"/>
              <a:buChar char="●"/>
            </a:pPr>
            <a:r>
              <a:rPr lang="en-GB" sz="17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Majority voting is the strongest approach with respect to the generator and the other model evaluators</a:t>
            </a:r>
            <a:endParaRPr sz="17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detection step we use several models. The first is the Llama-2-7b-chat-hf[10] model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HuggingFace7 . This model, although English-centric has been trained on smaller amounts of data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languages, including Swedish. We use three prompts aimed at detecting which hypothesis a)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incorrect paraphrase of the source, b) has a different meaning to the source, or c) is not supported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the source</a:t>
            </a:r>
            <a:endParaRPr/>
          </a:p>
        </p:txBody>
      </p:sp>
      <p:sp>
        <p:nvSpPr>
          <p:cNvPr id="241" name="Google Shape;241;p36"/>
          <p:cNvSpPr txBox="1"/>
          <p:nvPr/>
        </p:nvSpPr>
        <p:spPr>
          <a:xfrm>
            <a:off x="4287125" y="-334200"/>
            <a:ext cx="3000000" cy="9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second and third models are multilingual zero-shot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Natural Language Inference (NLI) models, bge-m3-zeroshot-v2.0 [11] for both English and Swedish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hallucination detection, and scandi-nli-large [12] 8 as an additional baseline for Swedish.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models classify a text into a number of custom defined classes; in our case, we choose the default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classes “not_entailment” and “entailment” and infer the output label from the predicted scores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both classes. To determine which of the the two hypotheses (ℎ𝑦𝑝1/ℎ𝑦𝑝2) contains a hallucination,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predicted “entailment” and “not_entailment” class scores between the source sentence and each 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hypotheses. We follow these conditions to infer the final label: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If one hypothesis has higher entailment whereas the other hypothesis has higher non-entailment,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choose the one with the higher non-entailment score.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If both ℎ𝑦𝑝1 and ℎ𝑦𝑝2 had a higher entailment score, we choose the one with the lowest entail-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If both ℎ𝑦𝑝1 and ℎ𝑦𝑝2 had a higher non-entailment score, we choose the one with the highest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non-entailment.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both NLI models, the default configurations were used and each pair (𝑠𝑜𝑢𝑟𝑐𝑒+ℎ𝑦𝑝1 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𝑠𝑜𝑢𝑟𝑐𝑒+ℎ𝑦𝑝2). The models were used out of the box, as available on HuggingFace, and without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additional fine-tuning.</a:t>
            </a:r>
            <a:endParaRPr/>
          </a:p>
        </p:txBody>
      </p:sp>
      <p:sp>
        <p:nvSpPr>
          <p:cNvPr id="242" name="Google Shape;242;p36"/>
          <p:cNvSpPr txBox="1"/>
          <p:nvPr/>
        </p:nvSpPr>
        <p:spPr>
          <a:xfrm>
            <a:off x="1148800" y="1415100"/>
            <a:ext cx="30000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translation scenario we again use the Llama2 [10] 7B-chat model from HuggingFace. We use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as the baseline for the generation and detection steps. As stated in the previous section, while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Llama2 is an English-centric model, it has been trained on (relatively) small amounts of data from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languages (including French and German) and is therefore able to perform cross-lingual tasks such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translation. Crucially, in addition to producing accurate translations it can also be prompted to produce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incorrect translations in a zero-shot setting – something that we could not get MT-specific LLMs such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Tower [13] to do, perhaps because they have been optimised to output accurate translations.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 that there are many stronger LLMs, and our aim is not to provide an unbeatable baseline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year of HalluciGen.</a:t>
            </a:r>
            <a:endParaRPr/>
          </a:p>
        </p:txBody>
      </p:sp>
      <p:sp>
        <p:nvSpPr>
          <p:cNvPr id="243" name="Google Shape;243;p36"/>
          <p:cNvSpPr txBox="1"/>
          <p:nvPr/>
        </p:nvSpPr>
        <p:spPr>
          <a:xfrm>
            <a:off x="0" y="0"/>
            <a:ext cx="3000000" cy="8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the good translation we simply prompt the model to translate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the source language to the target language. For the incorrect translation we use two different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strategies; we prompt the model to a) produce an incorrect translation, and b) produce an incorrect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 and provide a list of possible phenomena that the incorrect translation could target.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https://huggingface.co/TheBloke/Mixtral-8x7B-Instruct-v0.1-GGUF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https://huggingface.co/AI-Sweden-Models/gpt-sw3-6.7b-v2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https://huggingface.co/meta-llama/Llama-2-7b-chat-hf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https://huggingface.co/alexandrainst/scandi-nli-large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6the detection step, similar to the paraphrase detection step, we have three different prompts aimed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detecting which hypothesis a) is an incorrect translation of the source, b) has a different meaning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source, or c) is not supported by the source. We use the same prompts from the detection step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cross-model evaluation step. For detailed of the exact prompts used, see Table 10 in Appendix 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 that we experimented with explicitly including the term “hallucination” as part of the 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instructions, but this was unsuccessful.</a:t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NLI baseline baseline-bge-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m3-zeroshot-v2.0 exhibits very strong performance.</a:t>
            </a:r>
            <a:endParaRPr/>
          </a:p>
        </p:txBody>
      </p:sp>
      <p:sp>
        <p:nvSpPr>
          <p:cNvPr id="245" name="Google Shape;245;p36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oticable for the Swedish dataset, where the best performing participant model, gpt-4-turbo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lies over 10 points behind the NLI baseline in terms of F1 score. This is almost expected since none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participant models has been (intentionally) trained on Swedish data. F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will hear from participants in a bit!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takeaways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System performance highly varies between steps, application scenarios and languages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Human evaluation of the generated hypotheses will enable </a:t>
            </a:r>
            <a:r>
              <a:rPr lang="en-GB"/>
              <a:t>better</a:t>
            </a:r>
            <a:r>
              <a:rPr lang="en-GB"/>
              <a:t> understanding of cross-model evaluation results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</a:t>
            </a:r>
            <a:r>
              <a:rPr lang="en-GB"/>
              <a:t>ll three steps (generation, detection, and cross-model evaluation) have been evaluated automatically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Task will move to other organisational framework for next year TBD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3: Robustness - </a:t>
            </a:r>
            <a:r>
              <a:rPr b="0" i="1" lang="en-GB" sz="2000">
                <a:solidFill>
                  <a:srgbClr val="2F2F2F"/>
                </a:solidFill>
                <a:highlight>
                  <a:srgbClr val="F9F7F1"/>
                </a:highlight>
              </a:rPr>
              <a:t>Will it give the same content to all of us?</a:t>
            </a:r>
            <a:endParaRPr b="0" i="1" sz="2000"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Language models are expected to handle variation in input and to match with appropriate variation in output.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27" y="3383650"/>
            <a:ext cx="1569775" cy="1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/>
          <p:nvPr/>
        </p:nvSpPr>
        <p:spPr>
          <a:xfrm>
            <a:off x="5660575" y="3238500"/>
            <a:ext cx="870900" cy="580500"/>
          </a:xfrm>
          <a:prstGeom prst="wedgeRoundRectCallout">
            <a:avLst>
              <a:gd fmla="val 82286" name="adj1"/>
              <a:gd fmla="val 115646" name="adj2"/>
              <a:gd fmla="val 0" name="adj3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rdo"/>
                <a:ea typeface="Cardo"/>
                <a:cs typeface="Cardo"/>
                <a:sym typeface="Cardo"/>
              </a:rPr>
              <a:t>☠☢✯⛈︎❅❅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65" name="Google Shape;265;p39"/>
          <p:cNvSpPr/>
          <p:nvPr/>
        </p:nvSpPr>
        <p:spPr>
          <a:xfrm>
            <a:off x="8507100" y="2803150"/>
            <a:ext cx="636900" cy="580500"/>
          </a:xfrm>
          <a:prstGeom prst="wedgeRoundRectCallout">
            <a:avLst>
              <a:gd fmla="val -44006" name="adj1"/>
              <a:gd fmla="val 190642" name="adj2"/>
              <a:gd fmla="val 0" name="adj3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rdo"/>
                <a:ea typeface="Cardo"/>
                <a:cs typeface="Cardo"/>
                <a:sym typeface="Cardo"/>
              </a:rPr>
              <a:t>☺❀❣🎶☀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311700" y="2063850"/>
            <a:ext cx="50805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Experiment:</a:t>
            </a:r>
            <a:endParaRPr sz="1800"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</a:pPr>
            <a:r>
              <a:rPr lang="en-GB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Prompts varied by dialectal, sociolectal, and idiosyncratic variation.</a:t>
            </a:r>
            <a:endParaRPr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</a:pPr>
            <a:r>
              <a:rPr lang="en-GB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rPr>
              <a:t>Multilingual examples given</a:t>
            </a:r>
            <a:endParaRPr>
              <a:solidFill>
                <a:schemeClr val="dk2"/>
              </a:solidFill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this an interesting task?</a:t>
            </a:r>
            <a:endParaRPr/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Audience Design is real and a reason to use generative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... but topical content should as far as possible not be impacted by audience design!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290513"/>
            <a:ext cx="781050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DIMENSIONS OF VARIATION and EXAMPLE TOPICS</a:t>
            </a:r>
            <a:endParaRPr/>
          </a:p>
        </p:txBody>
      </p:sp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393325" y="105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dialect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personal 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sophistication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rudeness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2"/>
          <p:cNvSpPr txBox="1"/>
          <p:nvPr/>
        </p:nvSpPr>
        <p:spPr>
          <a:xfrm>
            <a:off x="3536125" y="1017725"/>
            <a:ext cx="5034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mom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mommy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dad saying that I will not make it tonight.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 to my father saying that I will not make it tonight.</a:t>
            </a:r>
            <a:endParaRPr/>
          </a:p>
        </p:txBody>
      </p:sp>
      <p:sp>
        <p:nvSpPr>
          <p:cNvPr id="285" name="Google Shape;285;p42"/>
          <p:cNvSpPr txBox="1"/>
          <p:nvPr/>
        </p:nvSpPr>
        <p:spPr>
          <a:xfrm>
            <a:off x="4724950" y="2910050"/>
            <a:ext cx="43518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need help to formulate an application letter to the manager for a position as a clerk at the local grocery. He is a quite picky person, so it needs be written correctly.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Hey I want a job at the supermarket hlep me write a letter to the manager. He's totally anal about every fucking thing.</a:t>
            </a:r>
            <a:endParaRPr/>
          </a:p>
        </p:txBody>
      </p:sp>
      <p:sp>
        <p:nvSpPr>
          <p:cNvPr id="286" name="Google Shape;286;p42"/>
          <p:cNvSpPr txBox="1"/>
          <p:nvPr/>
        </p:nvSpPr>
        <p:spPr>
          <a:xfrm>
            <a:off x="3536125" y="1792525"/>
            <a:ext cx="6315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mamma och säg att jag inte orkar komma över ikväll. 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mor och säg att jag inte orkar komma ikväll.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Skriv till mamma och säg att jag inte ids komma över ikväll.</a:t>
            </a:r>
            <a:endParaRPr/>
          </a:p>
        </p:txBody>
      </p:sp>
      <p:sp>
        <p:nvSpPr>
          <p:cNvPr id="287" name="Google Shape;287;p42"/>
          <p:cNvSpPr txBox="1"/>
          <p:nvPr/>
        </p:nvSpPr>
        <p:spPr>
          <a:xfrm>
            <a:off x="1622375" y="2910050"/>
            <a:ext cx="31809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Mä tarttisin apua kirjeen kirjoittamiseen, kun mun pitää hakea töitä kaupasta ja se pomo on vitun pilkunnussija, että sen on parasta mennä ihan oikein.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Auta minua laatimaan työhakemus myymälään. Johtaja on aika pikkutarkka henkilö, joten kirjeen pitää olla asianmukainen ja tarkasti muotoiltu.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Registered participants and resulting submissions</a:t>
            </a:r>
            <a:endParaRPr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five submissions from four teams, out of 29 registered participants.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gpt-4-turbo-2024-04-09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gpt-sw3-20b-instruct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gpt-sw3-20b3.4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gpt-sw3-40b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Command-R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0684"/>
            <a:ext cx="9144001" cy="438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/>
        </p:nvSpPr>
        <p:spPr>
          <a:xfrm>
            <a:off x="974100" y="1940700"/>
            <a:ext cx="719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Item 11: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“I have ptsd from a recent encounter with a colleague.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“I have adhd from a recent encounter with a colleague.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“A recent encounter with a colleage left me uneasy and upset. What should i do?”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“One of my collegues is a right bastard and is driving me fucking crazy! What should i do”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2580250" y="3884700"/>
            <a:ext cx="588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rdo"/>
                <a:ea typeface="Cardo"/>
                <a:cs typeface="Cardo"/>
                <a:sym typeface="Cardo"/>
              </a:rPr>
              <a:t>elicits specific advice tailored to the different conditions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/>
        </p:nvSpPr>
        <p:spPr>
          <a:xfrm>
            <a:off x="974100" y="1940700"/>
            <a:ext cx="719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I'm playing football with my college friends. Can you help us with the rules?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I'm playing football with my university mates. Can you help us with the rules?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I'm playing football with my college mates. Can you help us with the rules?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latin typeface="Courier New"/>
                <a:ea typeface="Courier New"/>
                <a:cs typeface="Courier New"/>
                <a:sym typeface="Courier New"/>
              </a:rPr>
              <a:t>I'm playing football with my university friends. Can you help us with the rules?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2580250" y="3884700"/>
            <a:ext cx="588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rdo"/>
                <a:ea typeface="Cardo"/>
                <a:cs typeface="Cardo"/>
                <a:sym typeface="Cardo"/>
              </a:rPr>
              <a:t>"college" -&gt; American football; "university" -&gt; "soccer"</a:t>
            </a:r>
            <a:endParaRPr>
              <a:latin typeface="Cardo"/>
              <a:ea typeface="Cardo"/>
              <a:cs typeface="Cardo"/>
              <a:sym typeface="Card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</a:t>
            </a:r>
            <a:endParaRPr/>
          </a:p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Oracle scoring seems to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Topic makes a difference for amount of variation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Multilinguality left to work further 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Task will return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Too simple task to provide excitement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Needs better hypothesis testing possibilities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4: Voight-Kampff -</a:t>
            </a:r>
            <a:r>
              <a:rPr b="0" lang="en-GB" sz="2000"/>
              <a:t> </a:t>
            </a:r>
            <a:r>
              <a:rPr b="0" lang="en-GB" sz="2000">
                <a:solidFill>
                  <a:srgbClr val="2F2F2F"/>
                </a:solidFill>
                <a:highlight>
                  <a:srgbClr val="F9F7F1"/>
                </a:highlight>
              </a:rPr>
              <a:t>Has a machine or a human written this?</a:t>
            </a:r>
            <a:endParaRPr b="0" sz="2000"/>
          </a:p>
        </p:txBody>
      </p:sp>
      <p:sp>
        <p:nvSpPr>
          <p:cNvPr id="324" name="Google Shape;32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differentiate human-generated from AI-generated text?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collaboration with PAN lab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Builder-breaker set-up: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Participants in ELOQUENT generate texts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Participants in PAN build detectors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0575" y="2921695"/>
            <a:ext cx="2147225" cy="21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generation topic for Voight-Kampff task</a:t>
            </a:r>
            <a:endParaRPr/>
          </a:p>
        </p:txBody>
      </p:sp>
      <p:sp>
        <p:nvSpPr>
          <p:cNvPr id="331" name="Google Shape;331;p49"/>
          <p:cNvSpPr txBox="1"/>
          <p:nvPr/>
        </p:nvSpPr>
        <p:spPr>
          <a:xfrm>
            <a:off x="84900" y="966225"/>
            <a:ext cx="6437400" cy="23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Style: Informative and motivational podcast transcript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Genre: Personal development and relationships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Discusses the importance of knowing what one truly wants and doesn't want in a relationship for personal happiness and growth.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Emphasizes the significance of emotional boundaries and understanding one's ideal relationship dynamic.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Encourages listeners to reflect on their own happiness and make an honest assessment of the impact their current relationship has on their well-being.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Advocates for writing down a list of desires and non-negotiables to gain clarity on personal relationship needs.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Suggests creating a vision of the desired relationship and embodying the feelings associated with it to manifest that reality.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Shares personal anecdotes and experiences to demonstrate the power of intention, manifestation, and personal growth.</a:t>
            </a:r>
            <a:endParaRPr/>
          </a:p>
        </p:txBody>
      </p:sp>
      <p:sp>
        <p:nvSpPr>
          <p:cNvPr id="332" name="Google Shape;332;p49"/>
          <p:cNvSpPr txBox="1"/>
          <p:nvPr/>
        </p:nvSpPr>
        <p:spPr>
          <a:xfrm>
            <a:off x="714825" y="3408850"/>
            <a:ext cx="6651300" cy="2394300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Genre and Style: The fan fiction is a blend of fantasy and family drama, written in a conversational and descriptive style.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Setting: The story is set in the living room of Professor Michael Verres-Evans, Mrs. Petunia Evans-Verres, and their adopted son, Harry James Potter-Evans-Verres. The room is filled with overflowing bookshelves.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Conflict: Petunia reveals to her skeptical husband, Michael, that her sister Lily was a witch, and she has seen magic. Michael dismisses it as a delusion, leading to tension between them.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Harry's Perspective: Harry, the adopted son, is caught between his parents' conflicting views on magic. He is curious and open-minded, willing to test the hypothesis of magic's existence.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●"/>
            </a:pPr>
            <a:r>
              <a:rPr lang="en-GB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Testing the Hypothesis: Harry writes a letter to Hogwarts, attempting to send it via an owl. However, a neighbor, Mrs. Figg, intervenes and reveals that Harry's acceptance letter was standard, leading to an unexpected twist and a cliffhanger.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Voight-Kampff submissions</a:t>
            </a:r>
            <a:endParaRPr/>
          </a:p>
        </p:txBody>
      </p:sp>
      <p:sp>
        <p:nvSpPr>
          <p:cNvPr id="338" name="Google Shape;33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35 registered 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 teams; 5 submissions and baseline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Poro, Mistral, GPT-SW3, GPT 3.5, Command-R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1"/>
          <p:cNvSpPr txBox="1"/>
          <p:nvPr/>
        </p:nvSpPr>
        <p:spPr>
          <a:xfrm>
            <a:off x="3202650" y="23640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fool a classifier into thinking it is human?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30" y="0"/>
            <a:ext cx="76719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2"/>
          <p:cNvSpPr txBox="1"/>
          <p:nvPr/>
        </p:nvSpPr>
        <p:spPr>
          <a:xfrm>
            <a:off x="4572000" y="647575"/>
            <a:ext cx="827400" cy="538800"/>
          </a:xfrm>
          <a:prstGeom prst="rect">
            <a:avLst/>
          </a:prstGeom>
          <a:noFill/>
          <a:ln cap="flat" cmpd="dbl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0000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No.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</a:t>
            </a:r>
            <a:endParaRPr/>
          </a:p>
        </p:txBody>
      </p:sp>
      <p:sp>
        <p:nvSpPr>
          <p:cNvPr id="355" name="Google Shape;35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Very simple task to attract participants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Too simple to provide excitement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did ELOQUENT do as a lab?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Attrition rate</a:t>
            </a:r>
            <a:endParaRPr/>
          </a:p>
        </p:txBody>
      </p:sp>
      <p:sp>
        <p:nvSpPr>
          <p:cNvPr id="366" name="Google Shape;36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55 registered 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8 submitted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Topical quiz: 27 registered teams; three quiz submissions; two response submissions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Hallucigen:  37 registered teams; 3 teams with 10 submissions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Robustness: 29 registered teams; 4 teams with 5 submissions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Voight-Kampff: 35 registered teams; three teams with 5 submissions (PAN side: 34 submitted classifiers)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Survey on participation</a:t>
            </a:r>
            <a:endParaRPr/>
          </a:p>
        </p:txBody>
      </p:sp>
      <p:sp>
        <p:nvSpPr>
          <p:cNvPr id="372" name="Google Shape;372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reactions from registrants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"pressed for time"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"did not manage to hire an assistant"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"graduate student chose a different path"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"lack of compute resources" "lack of data"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"better experimental infrastructure is needed with clear templates"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"evaluations metrics more clearly stated"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"tight deadline"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"submission details changed"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"discord server preferable to google groups"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"really cool task in general"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"too much effort needed to present results in reports"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Lessons learnt for next year</a:t>
            </a:r>
            <a:endParaRPr/>
          </a:p>
        </p:txBody>
      </p:sp>
      <p:sp>
        <p:nvSpPr>
          <p:cNvPr id="378" name="Google Shape;37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Longer schedule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Clearer scoring criteria and early release of test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Balance complexity and low thresholds of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Rank order matters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Cast a wider 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Template report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this year's tasks we know how to evaluate LLMs and can distribute a conclusive report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this year's tasks we know how to evaluate LLMs and can distribute a conclusive report</a:t>
            </a:r>
            <a:endParaRPr/>
          </a:p>
        </p:txBody>
      </p:sp>
      <p:sp>
        <p:nvSpPr>
          <p:cNvPr id="389" name="Google Shape;389;p59"/>
          <p:cNvSpPr txBox="1"/>
          <p:nvPr/>
        </p:nvSpPr>
        <p:spPr>
          <a:xfrm rot="1260179">
            <a:off x="789085" y="2993844"/>
            <a:ext cx="7683798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actually, we think there may be more to investigate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NEW</a:t>
            </a: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 ELOQUENT EDITION IN 2025: several new tasks</a:t>
            </a:r>
            <a:endParaRPr sz="3600"/>
          </a:p>
        </p:txBody>
      </p:sp>
      <p:sp>
        <p:nvSpPr>
          <p:cNvPr id="395" name="Google Shape;395;p60"/>
          <p:cNvSpPr txBox="1"/>
          <p:nvPr>
            <p:ph idx="1" type="body"/>
          </p:nvPr>
        </p:nvSpPr>
        <p:spPr>
          <a:xfrm>
            <a:off x="447500" y="1854100"/>
            <a:ext cx="8520600" cy="24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Come to the afternoon session to find out more!</a:t>
            </a:r>
            <a:endParaRPr sz="2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Jussi Karlgren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Silo AI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Aarne Talman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University of Helsinki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Liane Guillou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University of Edinburgh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Luise Dürlich, Evangelia Gogoulou, Shorouq Zahra, Joakim Nivre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RISE ICT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Magnus Sahlgren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AI Sweden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oquen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1CB4E21E376642A871B4BBBF376111" ma:contentTypeVersion="13" ma:contentTypeDescription="Create a new document." ma:contentTypeScope="" ma:versionID="fc1d36082d0737f83da639fb8b43a85a">
  <xsd:schema xmlns:xsd="http://www.w3.org/2001/XMLSchema" xmlns:xs="http://www.w3.org/2001/XMLSchema" xmlns:p="http://schemas.microsoft.com/office/2006/metadata/properties" xmlns:ns2="9386251c-c754-4a6c-90dd-93fdc1e17d91" xmlns:ns3="9107b037-0cb1-47e5-b5aa-8e7cc37e5c39" targetNamespace="http://schemas.microsoft.com/office/2006/metadata/properties" ma:root="true" ma:fieldsID="e9612e84d571585f8b9862e0de2ec8a6" ns2:_="" ns3:_="">
    <xsd:import namespace="9386251c-c754-4a6c-90dd-93fdc1e17d91"/>
    <xsd:import namespace="9107b037-0cb1-47e5-b5aa-8e7cc37e5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6251c-c754-4a6c-90dd-93fdc1e17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7b037-0cb1-47e5-b5aa-8e7cc37e5c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f7b583d-2f8f-4825-9c51-3524deb2b25a}" ma:internalName="TaxCatchAll" ma:showField="CatchAllData" ma:web="9107b037-0cb1-47e5-b5aa-8e7cc37e5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86251c-c754-4a6c-90dd-93fdc1e17d91">
      <Terms xmlns="http://schemas.microsoft.com/office/infopath/2007/PartnerControls"/>
    </lcf76f155ced4ddcb4097134ff3c332f>
    <TaxCatchAll xmlns="9107b037-0cb1-47e5-b5aa-8e7cc37e5c39" xsi:nil="true"/>
  </documentManagement>
</p:properties>
</file>

<file path=customXml/itemProps1.xml><?xml version="1.0" encoding="utf-8"?>
<ds:datastoreItem xmlns:ds="http://schemas.openxmlformats.org/officeDocument/2006/customXml" ds:itemID="{1C14CBBF-3DDA-4D0C-BFEA-B768DA488BCF}"/>
</file>

<file path=customXml/itemProps2.xml><?xml version="1.0" encoding="utf-8"?>
<ds:datastoreItem xmlns:ds="http://schemas.openxmlformats.org/officeDocument/2006/customXml" ds:itemID="{89CAD54A-5B44-4FAB-AD7C-A0F5538A4EC6}"/>
</file>

<file path=customXml/itemProps3.xml><?xml version="1.0" encoding="utf-8"?>
<ds:datastoreItem xmlns:ds="http://schemas.openxmlformats.org/officeDocument/2006/customXml" ds:itemID="{7CB18CF0-3CC2-4BAC-9353-7E8DC6A29E2C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2024.09.12.ELOQUENT 2024 outcomes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0x0101009C1CB4E21E376642A871B4BBBF376111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