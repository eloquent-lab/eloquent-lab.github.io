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Cardo"/>
      <p:regular r:id="rId12"/>
      <p:bold r:id="rId13"/>
      <p:italic r:id="rId14"/>
    </p:embeddedFont>
    <p:embeddedFont>
      <p:font typeface="Playfair Display"/>
      <p:regular r:id="rId15"/>
      <p:bold r:id="rId16"/>
      <p:italic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  <p:embeddedFont>
      <p:font typeface="Lexend Deca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Cardo-bold.fntdata"/><Relationship Id="rId18" Type="http://schemas.openxmlformats.org/officeDocument/2006/relationships/font" Target="fonts/PlayfairDisplay-boldItalic.fntdata"/><Relationship Id="rId8" Type="http://schemas.openxmlformats.org/officeDocument/2006/relationships/slide" Target="slides/slide2.xml"/><Relationship Id="rId26" Type="http://schemas.openxmlformats.org/officeDocument/2006/relationships/customXml" Target="../customXml/item2.xml"/><Relationship Id="rId21" Type="http://schemas.openxmlformats.org/officeDocument/2006/relationships/font" Target="fonts/RobotoMono-italic.fntdata"/><Relationship Id="rId3" Type="http://schemas.openxmlformats.org/officeDocument/2006/relationships/presProps" Target="presProps.xml"/><Relationship Id="rId12" Type="http://schemas.openxmlformats.org/officeDocument/2006/relationships/font" Target="fonts/Cardo-regular.fntdata"/><Relationship Id="rId17" Type="http://schemas.openxmlformats.org/officeDocument/2006/relationships/font" Target="fonts/PlayfairDisplay-italic.fntdata"/><Relationship Id="rId7" Type="http://schemas.openxmlformats.org/officeDocument/2006/relationships/slide" Target="slides/slide1.xml"/><Relationship Id="rId25" Type="http://schemas.openxmlformats.org/officeDocument/2006/relationships/customXml" Target="../customXml/item1.xml"/><Relationship Id="rId20" Type="http://schemas.openxmlformats.org/officeDocument/2006/relationships/font" Target="fonts/RobotoMono-bold.fntdata"/><Relationship Id="rId2" Type="http://schemas.openxmlformats.org/officeDocument/2006/relationships/viewProps" Target="viewProps.xml"/><Relationship Id="rId16" Type="http://schemas.openxmlformats.org/officeDocument/2006/relationships/font" Target="fonts/PlayfairDisplay-bold.fntdata"/><Relationship Id="rId11" Type="http://schemas.openxmlformats.org/officeDocument/2006/relationships/slide" Target="slides/slide5.xml"/><Relationship Id="rId24" Type="http://schemas.openxmlformats.org/officeDocument/2006/relationships/font" Target="fonts/LexendDeca-bold.fntdata"/><Relationship Id="rId1" Type="http://schemas.openxmlformats.org/officeDocument/2006/relationships/theme" Target="theme/theme2.xml"/><Relationship Id="rId6" Type="http://schemas.openxmlformats.org/officeDocument/2006/relationships/notesMaster" Target="notesMasters/notesMaster1.xml"/><Relationship Id="rId23" Type="http://schemas.openxmlformats.org/officeDocument/2006/relationships/font" Target="fonts/LexendDeca-regular.fntdata"/><Relationship Id="rId15" Type="http://schemas.openxmlformats.org/officeDocument/2006/relationships/font" Target="fonts/PlayfairDisplay-regular.fntdata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4.xml"/><Relationship Id="rId19" Type="http://schemas.openxmlformats.org/officeDocument/2006/relationships/font" Target="fonts/RobotoMono-regular.fntdata"/><Relationship Id="rId22" Type="http://schemas.openxmlformats.org/officeDocument/2006/relationships/font" Target="fonts/RobotoMono-boldItalic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font" Target="fonts/Cardo-italic.fntdata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ff67884fc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ff67884fc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ff67884fca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ff67884fca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ff67884fca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ff67884fca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ff67884fca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ff67884fca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ff67884fca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ff67884fca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Font typeface="Playfair Display"/>
              <a:buNone/>
              <a:defRPr sz="52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layfair Display"/>
              <a:buNone/>
              <a:defRPr i="1" sz="2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Playfair Display"/>
              <a:buNone/>
              <a:defRPr b="1" sz="36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Playfair Display"/>
              <a:buNone/>
              <a:defRPr b="1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Cardo"/>
              <a:buChar char="●"/>
              <a:defRPr>
                <a:latin typeface="Cardo"/>
                <a:ea typeface="Cardo"/>
                <a:cs typeface="Cardo"/>
                <a:sym typeface="Cardo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rdo"/>
              <a:buChar char="○"/>
              <a:defRPr>
                <a:latin typeface="Cardo"/>
                <a:ea typeface="Cardo"/>
                <a:cs typeface="Cardo"/>
                <a:sym typeface="Cardo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rdo"/>
              <a:buChar char="■"/>
              <a:defRPr>
                <a:latin typeface="Cardo"/>
                <a:ea typeface="Cardo"/>
                <a:cs typeface="Cardo"/>
                <a:sym typeface="Cardo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rdo"/>
              <a:buChar char="●"/>
              <a:defRPr>
                <a:latin typeface="Cardo"/>
                <a:ea typeface="Cardo"/>
                <a:cs typeface="Cardo"/>
                <a:sym typeface="Cardo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rdo"/>
              <a:buChar char="○"/>
              <a:defRPr>
                <a:latin typeface="Cardo"/>
                <a:ea typeface="Cardo"/>
                <a:cs typeface="Cardo"/>
                <a:sym typeface="Cardo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rdo"/>
              <a:buChar char="■"/>
              <a:defRPr>
                <a:latin typeface="Cardo"/>
                <a:ea typeface="Cardo"/>
                <a:cs typeface="Cardo"/>
                <a:sym typeface="Cardo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rdo"/>
              <a:buChar char="●"/>
              <a:defRPr>
                <a:latin typeface="Cardo"/>
                <a:ea typeface="Cardo"/>
                <a:cs typeface="Cardo"/>
                <a:sym typeface="Cardo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rdo"/>
              <a:buChar char="○"/>
              <a:defRPr>
                <a:latin typeface="Cardo"/>
                <a:ea typeface="Cardo"/>
                <a:cs typeface="Cardo"/>
                <a:sym typeface="Cardo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rdo"/>
              <a:buChar char="■"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5" name="Google Shape;65;p16"/>
          <p:cNvSpPr txBox="1"/>
          <p:nvPr/>
        </p:nvSpPr>
        <p:spPr>
          <a:xfrm>
            <a:off x="3408000" y="4545725"/>
            <a:ext cx="23280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Roboto Mono"/>
                <a:ea typeface="Roboto Mono"/>
                <a:cs typeface="Roboto Mono"/>
                <a:sym typeface="Roboto Mono"/>
              </a:rPr>
              <a:t>https://eloquent-lab.github.io/</a:t>
            </a:r>
            <a:endParaRPr sz="9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bg>
      <p:bgPr>
        <a:solidFill>
          <a:srgbClr val="C9DAF8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170850" y="1211875"/>
            <a:ext cx="8802300" cy="14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Font typeface="Courier New"/>
              <a:buNone/>
              <a:defRPr sz="100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/>
        </p:nvSpPr>
        <p:spPr>
          <a:xfrm>
            <a:off x="493800" y="244000"/>
            <a:ext cx="815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This slide will be removed before presentation and is only here as an authoring aid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ith image - Baby blue">
  <p:cSld name="CUSTOM_3_1_1_1_1_4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8"/>
          <p:cNvPicPr preferRelativeResize="0"/>
          <p:nvPr/>
        </p:nvPicPr>
        <p:blipFill rotWithShape="1">
          <a:blip r:embed="rId3">
            <a:alphaModFix/>
          </a:blip>
          <a:srcRect b="9" l="0" r="0" t="9"/>
          <a:stretch/>
        </p:blipFill>
        <p:spPr>
          <a:xfrm>
            <a:off x="0" y="0"/>
            <a:ext cx="9144002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8"/>
          <p:cNvSpPr txBox="1"/>
          <p:nvPr>
            <p:ph type="title"/>
          </p:nvPr>
        </p:nvSpPr>
        <p:spPr>
          <a:xfrm>
            <a:off x="450000" y="2073900"/>
            <a:ext cx="4486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00"/>
              <a:buFont typeface="Lexend Deca"/>
              <a:buNone/>
              <a:defRPr b="0" sz="2900">
                <a:solidFill>
                  <a:schemeClr val="accen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8E4DD"/>
              </a:buClr>
              <a:buSzPts val="3400"/>
              <a:buNone/>
              <a:defRPr sz="3400">
                <a:solidFill>
                  <a:srgbClr val="C8E4DD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8E4DD"/>
              </a:buClr>
              <a:buSzPts val="3400"/>
              <a:buNone/>
              <a:defRPr sz="3400">
                <a:solidFill>
                  <a:srgbClr val="C8E4DD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8E4DD"/>
              </a:buClr>
              <a:buSzPts val="3400"/>
              <a:buNone/>
              <a:defRPr sz="3400">
                <a:solidFill>
                  <a:srgbClr val="C8E4DD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8E4DD"/>
              </a:buClr>
              <a:buSzPts val="3400"/>
              <a:buNone/>
              <a:defRPr sz="3400">
                <a:solidFill>
                  <a:srgbClr val="C8E4DD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8E4DD"/>
              </a:buClr>
              <a:buSzPts val="3400"/>
              <a:buNone/>
              <a:defRPr sz="3400">
                <a:solidFill>
                  <a:srgbClr val="C8E4DD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8E4DD"/>
              </a:buClr>
              <a:buSzPts val="3400"/>
              <a:buNone/>
              <a:defRPr sz="3400">
                <a:solidFill>
                  <a:srgbClr val="C8E4DD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8E4DD"/>
              </a:buClr>
              <a:buSzPts val="3400"/>
              <a:buNone/>
              <a:defRPr sz="3400">
                <a:solidFill>
                  <a:srgbClr val="C8E4DD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8E4DD"/>
              </a:buClr>
              <a:buSzPts val="3400"/>
              <a:buNone/>
              <a:defRPr sz="3400">
                <a:solidFill>
                  <a:srgbClr val="C8E4DD"/>
                </a:solidFill>
              </a:defRPr>
            </a:lvl9pPr>
          </a:lstStyle>
          <a:p/>
        </p:txBody>
      </p:sp>
      <p:sp>
        <p:nvSpPr>
          <p:cNvPr id="72" name="Google Shape;72;p18"/>
          <p:cNvSpPr txBox="1"/>
          <p:nvPr>
            <p:ph idx="1" type="subTitle"/>
          </p:nvPr>
        </p:nvSpPr>
        <p:spPr>
          <a:xfrm>
            <a:off x="447350" y="2720700"/>
            <a:ext cx="3707700" cy="3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rdo"/>
              <a:buNone/>
              <a:defRPr i="1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3" name="Google Shape;7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5050" y="904550"/>
            <a:ext cx="4238950" cy="423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ark blue">
  <p:cSld name="CUSTOM_4_1_1_1_1_1_1_1_1_1">
    <p:bg>
      <p:bgPr>
        <a:solidFill>
          <a:schemeClr val="dk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87075" y="4653475"/>
            <a:ext cx="206918" cy="211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9"/>
          <p:cNvPicPr preferRelativeResize="0"/>
          <p:nvPr/>
        </p:nvPicPr>
        <p:blipFill rotWithShape="1">
          <a:blip r:embed="rId3">
            <a:alphaModFix/>
          </a:blip>
          <a:srcRect b="-10" l="56718" r="13245" t="0"/>
          <a:stretch/>
        </p:blipFill>
        <p:spPr>
          <a:xfrm>
            <a:off x="8462975" y="4655300"/>
            <a:ext cx="252400" cy="21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slide - With header bar">
  <p:cSld name="CUSTOM_4_1_1_1_1_1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50000" y="736950"/>
            <a:ext cx="8189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Lexend Deca"/>
              <a:buNone/>
              <a:defRPr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00"/>
              <a:buNone/>
              <a:defRPr sz="2900">
                <a:solidFill>
                  <a:schemeClr val="accent2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00"/>
              <a:buNone/>
              <a:defRPr sz="2900">
                <a:solidFill>
                  <a:schemeClr val="accent2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00"/>
              <a:buNone/>
              <a:defRPr sz="2900">
                <a:solidFill>
                  <a:schemeClr val="accent2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00"/>
              <a:buNone/>
              <a:defRPr sz="2900">
                <a:solidFill>
                  <a:schemeClr val="accent2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00"/>
              <a:buNone/>
              <a:defRPr sz="2900">
                <a:solidFill>
                  <a:schemeClr val="accent2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00"/>
              <a:buNone/>
              <a:defRPr sz="2900">
                <a:solidFill>
                  <a:schemeClr val="accent2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00"/>
              <a:buNone/>
              <a:defRPr sz="2900">
                <a:solidFill>
                  <a:schemeClr val="accent2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900"/>
              <a:buNone/>
              <a:defRPr sz="29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79" name="Google Shape;79;p20"/>
          <p:cNvSpPr txBox="1"/>
          <p:nvPr>
            <p:ph idx="1" type="subTitle"/>
          </p:nvPr>
        </p:nvSpPr>
        <p:spPr>
          <a:xfrm>
            <a:off x="1369425" y="4763"/>
            <a:ext cx="1379100" cy="278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000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Lexend Deca"/>
              <a:buNone/>
              <a:defRPr sz="10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80" name="Google Shape;80;p20"/>
          <p:cNvSpPr txBox="1"/>
          <p:nvPr>
            <p:ph idx="2" type="subTitle"/>
          </p:nvPr>
        </p:nvSpPr>
        <p:spPr>
          <a:xfrm>
            <a:off x="-5425" y="4763"/>
            <a:ext cx="1379100" cy="278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0000" spcFirstLastPara="1" rIns="12077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Lexend Deca"/>
              <a:buNone/>
              <a:defRPr sz="1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 Deca"/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pic>
        <p:nvPicPr>
          <p:cNvPr id="81" name="Google Shape;8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87075" y="4653475"/>
            <a:ext cx="206918" cy="211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0"/>
          <p:cNvSpPr txBox="1"/>
          <p:nvPr>
            <p:ph idx="3" type="body"/>
          </p:nvPr>
        </p:nvSpPr>
        <p:spPr>
          <a:xfrm>
            <a:off x="455250" y="1763425"/>
            <a:ext cx="6864900" cy="3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indent="-304800" lvl="1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2pPr>
            <a:lvl3pPr indent="-304800" lvl="2" marL="13716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5pPr>
            <a:lvl6pPr indent="-304800" lvl="5" marL="2743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8pPr>
            <a:lvl9pPr indent="-304800" lvl="8" marL="411480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4" type="subTitle"/>
          </p:nvPr>
        </p:nvSpPr>
        <p:spPr>
          <a:xfrm>
            <a:off x="447350" y="1195650"/>
            <a:ext cx="37077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rdo"/>
              <a:buNone/>
              <a:defRPr i="1">
                <a:latin typeface="Cardo"/>
                <a:ea typeface="Cardo"/>
                <a:cs typeface="Cardo"/>
                <a:sym typeface="Cardo"/>
              </a:defRPr>
            </a:lvl1pPr>
            <a:lvl2pPr lvl="1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9F7F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fair Display"/>
              <a:buNone/>
              <a:defRPr b="1" sz="28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rdo"/>
              <a:buChar char="●"/>
              <a:defRPr sz="1800"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○"/>
              <a:defRPr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■"/>
              <a:defRPr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●"/>
              <a:defRPr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○"/>
              <a:defRPr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■"/>
              <a:defRPr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●"/>
              <a:defRPr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○"/>
              <a:defRPr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rdo"/>
              <a:buChar char="■"/>
              <a:defRPr>
                <a:solidFill>
                  <a:schemeClr val="dk2"/>
                </a:solidFill>
                <a:latin typeface="Cardo"/>
                <a:ea typeface="Cardo"/>
                <a:cs typeface="Cardo"/>
                <a:sym typeface="Card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7F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250">
                <a:solidFill>
                  <a:srgbClr val="2F2F2F"/>
                </a:solidFill>
                <a:highlight>
                  <a:srgbClr val="F9F7F1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ELOQUENT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33">
                <a:solidFill>
                  <a:srgbClr val="2F2F2F"/>
                </a:solidFill>
                <a:highlight>
                  <a:srgbClr val="F9F7F1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EVALUATION OF GENERATIVE LANGUAGE MODEL QUALITY AND CHARACTERISTICS</a:t>
            </a:r>
            <a:endParaRPr b="1" sz="2972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33">
              <a:solidFill>
                <a:srgbClr val="2F2F2F"/>
              </a:solidFill>
              <a:highlight>
                <a:srgbClr val="F9F7F1"/>
              </a:highlight>
            </a:endParaRPr>
          </a:p>
        </p:txBody>
      </p:sp>
      <p:sp>
        <p:nvSpPr>
          <p:cNvPr id="89" name="Google Shape;89;p21"/>
          <p:cNvSpPr txBox="1"/>
          <p:nvPr>
            <p:ph idx="1" type="subTitle"/>
          </p:nvPr>
        </p:nvSpPr>
        <p:spPr>
          <a:xfrm>
            <a:off x="311700" y="2624725"/>
            <a:ext cx="8520600" cy="25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Jussi Karlgren</a:t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Aarne Talman</a:t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Magnus Sahlgren</a:t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Ekaterina Artemova</a:t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Ondrej Bojar</a:t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Stergios Chatzikyriakidis</a:t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Timothee Mickus</a:t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Vladislav Mikhailov</a:t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Erik Velldal</a:t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400">
                <a:latin typeface="Times New Roman"/>
                <a:ea typeface="Times New Roman"/>
                <a:cs typeface="Times New Roman"/>
                <a:sym typeface="Times New Roman"/>
              </a:rPr>
              <a:t>Lilja Øvrelid</a:t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21"/>
          <p:cNvSpPr txBox="1"/>
          <p:nvPr/>
        </p:nvSpPr>
        <p:spPr>
          <a:xfrm rot="-1499832">
            <a:off x="-196549" y="611843"/>
            <a:ext cx="3584462" cy="466938"/>
          </a:xfrm>
          <a:prstGeom prst="rect">
            <a:avLst/>
          </a:prstGeom>
          <a:solidFill>
            <a:srgbClr val="F9F7F1"/>
          </a:solidFill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33">
                <a:solidFill>
                  <a:srgbClr val="FF0000"/>
                </a:solidFill>
                <a:highlight>
                  <a:srgbClr val="F9F7F1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Get ready for the 2</a:t>
            </a:r>
            <a:r>
              <a:rPr b="1" baseline="30000" lang="en-GB" sz="1833">
                <a:solidFill>
                  <a:srgbClr val="FF0000"/>
                </a:solidFill>
                <a:highlight>
                  <a:srgbClr val="F9F7F1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nd</a:t>
            </a:r>
            <a:r>
              <a:rPr b="1" lang="en-GB" sz="1833">
                <a:solidFill>
                  <a:srgbClr val="FF0000"/>
                </a:solidFill>
                <a:highlight>
                  <a:srgbClr val="F9F7F1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 edition!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2F2F2F"/>
                </a:solidFill>
                <a:highlight>
                  <a:srgbClr val="F9F7F1"/>
                </a:highlight>
              </a:rPr>
              <a:t>Second</a:t>
            </a:r>
            <a:r>
              <a:rPr lang="en-GB" sz="3600">
                <a:solidFill>
                  <a:srgbClr val="2F2F2F"/>
                </a:solidFill>
                <a:highlight>
                  <a:srgbClr val="F9F7F1"/>
                </a:highlight>
              </a:rPr>
              <a:t> ELOQUENT edition</a:t>
            </a:r>
            <a:endParaRPr sz="3600"/>
          </a:p>
        </p:txBody>
      </p:sp>
      <p:sp>
        <p:nvSpPr>
          <p:cNvPr id="96" name="Google Shape;96;p22"/>
          <p:cNvSpPr txBox="1"/>
          <p:nvPr/>
        </p:nvSpPr>
        <p:spPr>
          <a:xfrm>
            <a:off x="99775" y="4266325"/>
            <a:ext cx="2738700" cy="646500"/>
          </a:xfrm>
          <a:prstGeom prst="rect">
            <a:avLst/>
          </a:prstGeom>
          <a:noFill/>
          <a:ln cap="flat" cmpd="dbl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F2F2F"/>
                </a:solidFill>
                <a:highlight>
                  <a:srgbClr val="F9F7F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Is your LLM really clever? Can it mark its own homework?</a:t>
            </a:r>
            <a:endParaRPr/>
          </a:p>
        </p:txBody>
      </p:sp>
      <p:sp>
        <p:nvSpPr>
          <p:cNvPr id="97" name="Google Shape;97;p22"/>
          <p:cNvSpPr txBox="1"/>
          <p:nvPr/>
        </p:nvSpPr>
        <p:spPr>
          <a:xfrm>
            <a:off x="6093600" y="3390425"/>
            <a:ext cx="2738700" cy="1108200"/>
          </a:xfrm>
          <a:prstGeom prst="rect">
            <a:avLst/>
          </a:prstGeom>
          <a:noFill/>
          <a:ln cap="flat" cmpd="dbl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1500"/>
              <a:buFont typeface="Times New Roman"/>
              <a:buChar char="-"/>
            </a:pPr>
            <a:r>
              <a:rPr lang="en-GB" sz="1500">
                <a:solidFill>
                  <a:srgbClr val="2F2F2F"/>
                </a:solidFill>
                <a:highlight>
                  <a:srgbClr val="F9F7F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Can your LLM keep track of a .. eh ... hey ... </a:t>
            </a:r>
            <a:endParaRPr sz="1500">
              <a:solidFill>
                <a:srgbClr val="2F2F2F"/>
              </a:solidFill>
              <a:highlight>
                <a:srgbClr val="F9F7F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1500"/>
              <a:buFont typeface="Times New Roman"/>
              <a:buChar char="-"/>
            </a:pPr>
            <a:r>
              <a:rPr lang="en-GB" sz="1500">
                <a:solidFill>
                  <a:srgbClr val="2F2F2F"/>
                </a:solidFill>
                <a:highlight>
                  <a:srgbClr val="F9F7F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What?</a:t>
            </a:r>
            <a:endParaRPr sz="1500">
              <a:solidFill>
                <a:srgbClr val="2F2F2F"/>
              </a:solidFill>
              <a:highlight>
                <a:srgbClr val="F9F7F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1500"/>
              <a:buFont typeface="Times New Roman"/>
              <a:buChar char="-"/>
            </a:pPr>
            <a:r>
              <a:rPr lang="en-GB" sz="1500">
                <a:solidFill>
                  <a:srgbClr val="2F2F2F"/>
                </a:solidFill>
                <a:highlight>
                  <a:srgbClr val="F9F7F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... thought? </a:t>
            </a:r>
            <a:endParaRPr/>
          </a:p>
        </p:txBody>
      </p:sp>
      <p:sp>
        <p:nvSpPr>
          <p:cNvPr id="98" name="Google Shape;98;p22"/>
          <p:cNvSpPr txBox="1"/>
          <p:nvPr/>
        </p:nvSpPr>
        <p:spPr>
          <a:xfrm>
            <a:off x="5015625" y="2033700"/>
            <a:ext cx="2738700" cy="646500"/>
          </a:xfrm>
          <a:prstGeom prst="rect">
            <a:avLst/>
          </a:prstGeom>
          <a:noFill/>
          <a:ln cap="flat" cmpd="dbl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F2F2F"/>
                </a:solidFill>
                <a:highlight>
                  <a:srgbClr val="F9F7F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Does your LLM agree with humans? </a:t>
            </a:r>
            <a:endParaRPr/>
          </a:p>
        </p:txBody>
      </p:sp>
      <p:sp>
        <p:nvSpPr>
          <p:cNvPr id="99" name="Google Shape;99;p22"/>
          <p:cNvSpPr txBox="1"/>
          <p:nvPr/>
        </p:nvSpPr>
        <p:spPr>
          <a:xfrm>
            <a:off x="1242800" y="1513300"/>
            <a:ext cx="2738700" cy="646500"/>
          </a:xfrm>
          <a:prstGeom prst="rect">
            <a:avLst/>
          </a:prstGeom>
          <a:noFill/>
          <a:ln cap="flat" cmpd="dbl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F2F2F"/>
                </a:solidFill>
                <a:highlight>
                  <a:srgbClr val="F9F7F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Will your LLM give the same topic to all of us?</a:t>
            </a:r>
            <a:endParaRPr/>
          </a:p>
        </p:txBody>
      </p:sp>
      <p:sp>
        <p:nvSpPr>
          <p:cNvPr id="100" name="Google Shape;100;p22"/>
          <p:cNvSpPr txBox="1"/>
          <p:nvPr/>
        </p:nvSpPr>
        <p:spPr>
          <a:xfrm>
            <a:off x="2838475" y="2847225"/>
            <a:ext cx="2738700" cy="646500"/>
          </a:xfrm>
          <a:prstGeom prst="rect">
            <a:avLst/>
          </a:prstGeom>
          <a:noFill/>
          <a:ln cap="flat" cmpd="dbl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F2F2F"/>
                </a:solidFill>
                <a:highlight>
                  <a:srgbClr val="F9F7F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Can your LLM fool a classifier into thinking it is human?</a:t>
            </a:r>
            <a:endParaRPr/>
          </a:p>
        </p:txBody>
      </p:sp>
      <p:sp>
        <p:nvSpPr>
          <p:cNvPr id="101" name="Google Shape;101;p22"/>
          <p:cNvSpPr txBox="1"/>
          <p:nvPr/>
        </p:nvSpPr>
        <p:spPr>
          <a:xfrm>
            <a:off x="6093600" y="1202463"/>
            <a:ext cx="2738700" cy="646500"/>
          </a:xfrm>
          <a:prstGeom prst="rect">
            <a:avLst/>
          </a:prstGeom>
          <a:noFill/>
          <a:ln cap="flat" cmpd="dbl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F2F2F"/>
                </a:solidFill>
                <a:highlight>
                  <a:srgbClr val="F9F7F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Can your LLM write convincing dictionary definitions?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2F2F2F"/>
                </a:solidFill>
                <a:highlight>
                  <a:srgbClr val="F9F7F1"/>
                </a:highlight>
              </a:rPr>
              <a:t>Second ELOQUENT edition</a:t>
            </a:r>
            <a:endParaRPr sz="3600"/>
          </a:p>
        </p:txBody>
      </p:sp>
      <p:sp>
        <p:nvSpPr>
          <p:cNvPr id="107" name="Google Shape;107;p23"/>
          <p:cNvSpPr txBox="1"/>
          <p:nvPr/>
        </p:nvSpPr>
        <p:spPr>
          <a:xfrm>
            <a:off x="99775" y="4266325"/>
            <a:ext cx="2738700" cy="646500"/>
          </a:xfrm>
          <a:prstGeom prst="rect">
            <a:avLst/>
          </a:prstGeom>
          <a:noFill/>
          <a:ln cap="flat" cmpd="dbl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F2F2F"/>
                </a:solidFill>
                <a:highlight>
                  <a:srgbClr val="F9F7F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Is your LLM really clever? Can it mark its own homework?</a:t>
            </a:r>
            <a:endParaRPr/>
          </a:p>
        </p:txBody>
      </p:sp>
      <p:sp>
        <p:nvSpPr>
          <p:cNvPr id="108" name="Google Shape;108;p23"/>
          <p:cNvSpPr txBox="1"/>
          <p:nvPr/>
        </p:nvSpPr>
        <p:spPr>
          <a:xfrm>
            <a:off x="6093600" y="3390425"/>
            <a:ext cx="2738700" cy="1108200"/>
          </a:xfrm>
          <a:prstGeom prst="rect">
            <a:avLst/>
          </a:prstGeom>
          <a:noFill/>
          <a:ln cap="flat" cmpd="dbl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1500"/>
              <a:buFont typeface="Times New Roman"/>
              <a:buChar char="-"/>
            </a:pPr>
            <a:r>
              <a:rPr lang="en-GB" sz="1500">
                <a:solidFill>
                  <a:srgbClr val="2F2F2F"/>
                </a:solidFill>
                <a:highlight>
                  <a:srgbClr val="F9F7F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Can your LLM keep track of a .. eh ... hey ... </a:t>
            </a:r>
            <a:endParaRPr sz="1500">
              <a:solidFill>
                <a:srgbClr val="2F2F2F"/>
              </a:solidFill>
              <a:highlight>
                <a:srgbClr val="F9F7F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1500"/>
              <a:buFont typeface="Times New Roman"/>
              <a:buChar char="-"/>
            </a:pPr>
            <a:r>
              <a:rPr lang="en-GB" sz="1500">
                <a:solidFill>
                  <a:srgbClr val="2F2F2F"/>
                </a:solidFill>
                <a:highlight>
                  <a:srgbClr val="F9F7F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What?</a:t>
            </a:r>
            <a:endParaRPr sz="1500">
              <a:solidFill>
                <a:srgbClr val="2F2F2F"/>
              </a:solidFill>
              <a:highlight>
                <a:srgbClr val="F9F7F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1500"/>
              <a:buFont typeface="Times New Roman"/>
              <a:buChar char="-"/>
            </a:pPr>
            <a:r>
              <a:rPr lang="en-GB" sz="1500">
                <a:solidFill>
                  <a:srgbClr val="2F2F2F"/>
                </a:solidFill>
                <a:highlight>
                  <a:srgbClr val="F9F7F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... thought? </a:t>
            </a:r>
            <a:endParaRPr/>
          </a:p>
        </p:txBody>
      </p:sp>
      <p:sp>
        <p:nvSpPr>
          <p:cNvPr id="109" name="Google Shape;109;p23"/>
          <p:cNvSpPr txBox="1"/>
          <p:nvPr/>
        </p:nvSpPr>
        <p:spPr>
          <a:xfrm>
            <a:off x="5015625" y="2033700"/>
            <a:ext cx="2738700" cy="646500"/>
          </a:xfrm>
          <a:prstGeom prst="rect">
            <a:avLst/>
          </a:prstGeom>
          <a:noFill/>
          <a:ln cap="flat" cmpd="dbl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F2F2F"/>
                </a:solidFill>
                <a:highlight>
                  <a:srgbClr val="F9F7F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Does your LLM agree with humans? </a:t>
            </a:r>
            <a:endParaRPr/>
          </a:p>
        </p:txBody>
      </p:sp>
      <p:sp>
        <p:nvSpPr>
          <p:cNvPr id="110" name="Google Shape;110;p23"/>
          <p:cNvSpPr txBox="1"/>
          <p:nvPr/>
        </p:nvSpPr>
        <p:spPr>
          <a:xfrm>
            <a:off x="1242800" y="1513300"/>
            <a:ext cx="2738700" cy="646500"/>
          </a:xfrm>
          <a:prstGeom prst="rect">
            <a:avLst/>
          </a:prstGeom>
          <a:noFill/>
          <a:ln cap="flat" cmpd="dbl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F2F2F"/>
                </a:solidFill>
                <a:highlight>
                  <a:srgbClr val="F9F7F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Will your LLM give the same topic to all of us?</a:t>
            </a:r>
            <a:endParaRPr/>
          </a:p>
        </p:txBody>
      </p:sp>
      <p:sp>
        <p:nvSpPr>
          <p:cNvPr id="111" name="Google Shape;111;p23"/>
          <p:cNvSpPr txBox="1"/>
          <p:nvPr/>
        </p:nvSpPr>
        <p:spPr>
          <a:xfrm>
            <a:off x="2838475" y="2847225"/>
            <a:ext cx="2738700" cy="646500"/>
          </a:xfrm>
          <a:prstGeom prst="rect">
            <a:avLst/>
          </a:prstGeom>
          <a:noFill/>
          <a:ln cap="flat" cmpd="dbl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F2F2F"/>
                </a:solidFill>
                <a:highlight>
                  <a:srgbClr val="F9F7F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Can your LLM fool a classifier into thinking it is human?</a:t>
            </a:r>
            <a:endParaRPr/>
          </a:p>
        </p:txBody>
      </p:sp>
      <p:sp>
        <p:nvSpPr>
          <p:cNvPr id="112" name="Google Shape;112;p23"/>
          <p:cNvSpPr txBox="1"/>
          <p:nvPr/>
        </p:nvSpPr>
        <p:spPr>
          <a:xfrm>
            <a:off x="6093600" y="1202463"/>
            <a:ext cx="2738700" cy="646500"/>
          </a:xfrm>
          <a:prstGeom prst="rect">
            <a:avLst/>
          </a:prstGeom>
          <a:noFill/>
          <a:ln cap="flat" cmpd="dbl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2F2F2F"/>
                </a:solidFill>
                <a:highlight>
                  <a:srgbClr val="F9F7F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Can your LLM write convincing dictionary definitions?</a:t>
            </a:r>
            <a:endParaRPr/>
          </a:p>
        </p:txBody>
      </p:sp>
      <p:sp>
        <p:nvSpPr>
          <p:cNvPr id="113" name="Google Shape;113;p23"/>
          <p:cNvSpPr txBox="1"/>
          <p:nvPr/>
        </p:nvSpPr>
        <p:spPr>
          <a:xfrm rot="1260279">
            <a:off x="608739" y="3424219"/>
            <a:ext cx="3305121" cy="461812"/>
          </a:xfrm>
          <a:prstGeom prst="rect">
            <a:avLst/>
          </a:prstGeom>
          <a:noFill/>
          <a:ln cap="flat" cmpd="sng" w="9525">
            <a:solidFill>
              <a:srgbClr val="FF55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5500"/>
                </a:solidFill>
                <a:latin typeface="Roboto Mono"/>
                <a:ea typeface="Roboto Mono"/>
                <a:cs typeface="Roboto Mono"/>
                <a:sym typeface="Roboto Mono"/>
              </a:rPr>
              <a:t>join the conversation!</a:t>
            </a:r>
            <a:endParaRPr sz="1800">
              <a:solidFill>
                <a:srgbClr val="FF55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4" name="Google Shape;114;p23"/>
          <p:cNvSpPr txBox="1"/>
          <p:nvPr/>
        </p:nvSpPr>
        <p:spPr>
          <a:xfrm rot="-600569">
            <a:off x="4152748" y="3253900"/>
            <a:ext cx="3305310" cy="461800"/>
          </a:xfrm>
          <a:prstGeom prst="rect">
            <a:avLst/>
          </a:prstGeom>
          <a:noFill/>
          <a:ln cap="flat" cmpd="sng" w="9525">
            <a:solidFill>
              <a:srgbClr val="FF55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5500"/>
                </a:solidFill>
                <a:latin typeface="Roboto Mono"/>
                <a:ea typeface="Roboto Mono"/>
                <a:cs typeface="Roboto Mono"/>
                <a:sym typeface="Roboto Mono"/>
              </a:rPr>
              <a:t>many new ideas today!</a:t>
            </a:r>
            <a:endParaRPr sz="1800">
              <a:solidFill>
                <a:srgbClr val="FF55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once we have done </a:t>
            </a:r>
            <a:r>
              <a:rPr b="1" lang="en-GB"/>
              <a:t>this</a:t>
            </a:r>
            <a:r>
              <a:rPr lang="en-GB"/>
              <a:t> year's tasks we know how to evaluate LLMs and can distribute a conclusive report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once we have done this year's tasks we know how to evaluate LLMs and can distribute a conclusive report</a:t>
            </a:r>
            <a:endParaRPr/>
          </a:p>
        </p:txBody>
      </p:sp>
      <p:sp>
        <p:nvSpPr>
          <p:cNvPr id="125" name="Google Shape;125;p25"/>
          <p:cNvSpPr txBox="1"/>
          <p:nvPr/>
        </p:nvSpPr>
        <p:spPr>
          <a:xfrm rot="1260227">
            <a:off x="259353" y="2895719"/>
            <a:ext cx="8231744" cy="461812"/>
          </a:xfrm>
          <a:prstGeom prst="rect">
            <a:avLst/>
          </a:prstGeom>
          <a:noFill/>
          <a:ln cap="flat" cmpd="sng" w="9525">
            <a:solidFill>
              <a:srgbClr val="FF55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5500"/>
                </a:solidFill>
                <a:latin typeface="Roboto Mono"/>
                <a:ea typeface="Roboto Mono"/>
                <a:cs typeface="Roboto Mono"/>
                <a:sym typeface="Roboto Mono"/>
              </a:rPr>
              <a:t>actually, we still think there may be more to investigate</a:t>
            </a:r>
            <a:endParaRPr sz="1800">
              <a:solidFill>
                <a:srgbClr val="FF55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eloquen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1CB4E21E376642A871B4BBBF376111" ma:contentTypeVersion="13" ma:contentTypeDescription="Create a new document." ma:contentTypeScope="" ma:versionID="fc1d36082d0737f83da639fb8b43a85a">
  <xsd:schema xmlns:xsd="http://www.w3.org/2001/XMLSchema" xmlns:xs="http://www.w3.org/2001/XMLSchema" xmlns:p="http://schemas.microsoft.com/office/2006/metadata/properties" xmlns:ns2="9386251c-c754-4a6c-90dd-93fdc1e17d91" xmlns:ns3="9107b037-0cb1-47e5-b5aa-8e7cc37e5c39" targetNamespace="http://schemas.microsoft.com/office/2006/metadata/properties" ma:root="true" ma:fieldsID="e9612e84d571585f8b9862e0de2ec8a6" ns2:_="" ns3:_="">
    <xsd:import namespace="9386251c-c754-4a6c-90dd-93fdc1e17d91"/>
    <xsd:import namespace="9107b037-0cb1-47e5-b5aa-8e7cc37e5c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86251c-c754-4a6c-90dd-93fdc1e17d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4acc8d3-66d8-4f7f-ac2f-7fccaf6b6e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07b037-0cb1-47e5-b5aa-8e7cc37e5c3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f7b583d-2f8f-4825-9c51-3524deb2b25a}" ma:internalName="TaxCatchAll" ma:showField="CatchAllData" ma:web="9107b037-0cb1-47e5-b5aa-8e7cc37e5c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386251c-c754-4a6c-90dd-93fdc1e17d91">
      <Terms xmlns="http://schemas.microsoft.com/office/infopath/2007/PartnerControls"/>
    </lcf76f155ced4ddcb4097134ff3c332f>
    <TaxCatchAll xmlns="9107b037-0cb1-47e5-b5aa-8e7cc37e5c39" xsi:nil="true"/>
  </documentManagement>
</p:properties>
</file>

<file path=customXml/itemProps1.xml><?xml version="1.0" encoding="utf-8"?>
<ds:datastoreItem xmlns:ds="http://schemas.openxmlformats.org/officeDocument/2006/customXml" ds:itemID="{5BFC184D-D684-4FE0-94AD-8B077EC09473}"/>
</file>

<file path=customXml/itemProps2.xml><?xml version="1.0" encoding="utf-8"?>
<ds:datastoreItem xmlns:ds="http://schemas.openxmlformats.org/officeDocument/2006/customXml" ds:itemID="{B532F7DD-2B6E-4158-912A-3745D6A36CC4}"/>
</file>

<file path=customXml/itemProps3.xml><?xml version="1.0" encoding="utf-8"?>
<ds:datastoreItem xmlns:ds="http://schemas.openxmlformats.org/officeDocument/2006/customXml" ds:itemID="{32B06B58-DF4E-4035-98DA-4CC7CD4095CE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2024.09.12.ELOQUENT 2min pitch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0x0101009C1CB4E21E376642A871B4BBBF376111</vt:lpwstr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