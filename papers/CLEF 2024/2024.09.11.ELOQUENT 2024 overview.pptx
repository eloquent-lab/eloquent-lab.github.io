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Cardo"/>
      <p:regular r:id="rId46"/>
      <p:bold r:id="rId47"/>
      <p:italic r:id="rId48"/>
    </p:embeddedFont>
    <p:embeddedFont>
      <p:font typeface="Playfair Display"/>
      <p:regular r:id="rId49"/>
      <p:bold r:id="rId50"/>
      <p:italic r:id="rId51"/>
      <p:boldItalic r:id="rId52"/>
    </p:embeddedFont>
    <p:embeddedFont>
      <p:font typeface="Roboto Mono"/>
      <p:regular r:id="rId53"/>
      <p:bold r:id="rId54"/>
      <p:italic r:id="rId55"/>
      <p:boldItalic r:id="rId56"/>
    </p:embeddedFont>
    <p:embeddedFont>
      <p:font typeface="Lexend Deca SemiBold"/>
      <p:regular r:id="rId57"/>
      <p:bold r:id="rId58"/>
    </p:embeddedFont>
    <p:embeddedFont>
      <p:font typeface="Lexend Deca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Cardo-bold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PlayfairDisplay-bold.fntdata"/><Relationship Id="rId55" Type="http://schemas.openxmlformats.org/officeDocument/2006/relationships/font" Target="fonts/RobotoMono-italic.fntdata"/><Relationship Id="rId63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58" Type="http://schemas.openxmlformats.org/officeDocument/2006/relationships/font" Target="fonts/LexendDecaSemiBold-bold.fntdata"/><Relationship Id="rId5" Type="http://schemas.openxmlformats.org/officeDocument/2006/relationships/notesMaster" Target="notesMasters/notesMaster1.xml"/><Relationship Id="rId61" Type="http://schemas.openxmlformats.org/officeDocument/2006/relationships/customXml" Target="../customXml/item1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font" Target="fonts/Cardo-italic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schemas.openxmlformats.org/officeDocument/2006/relationships/font" Target="fonts/PlayfairDisplay-italic.fntdata"/><Relationship Id="rId3" Type="http://schemas.openxmlformats.org/officeDocument/2006/relationships/presProps" Target="presProps.xml"/><Relationship Id="rId46" Type="http://schemas.openxmlformats.org/officeDocument/2006/relationships/font" Target="fonts/Cardo-regular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LexendDeca-regular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font" Target="fonts/RobotoMono-bold.fntdata"/><Relationship Id="rId62" Type="http://schemas.openxmlformats.org/officeDocument/2006/relationships/customXml" Target="../customXml/item2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font" Target="fonts/PlayfairDisplay-regular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font" Target="fonts/LexendDecaSemiBold-regular.fntdata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60" Type="http://schemas.openxmlformats.org/officeDocument/2006/relationships/font" Target="fonts/LexendDeca-bold.fntdata"/><Relationship Id="rId52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4d4f40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f4d4f40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45b08d988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245b08d988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d982688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fd982688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245b08d988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245b08d98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45a20d0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45a20d0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c12edae69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c12edae69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c12edae6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c12edae6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c12edae69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c12edae69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45a20d0a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45a20d0a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4d4f40a76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4d4f40a76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4d4f40a76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4d4f40a76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4d4f40a76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4d4f40a76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45a20d0a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45a20d0a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d9826881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fd9826881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e28d416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e28d416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d9826881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d9826881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4d4f40a76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4d4f40a76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Notes to the speaker: </a:t>
            </a:r>
            <a:br>
              <a:rPr lang="en-GB"/>
            </a:br>
            <a:r>
              <a:rPr lang="en-GB"/>
              <a:t>This slide is totally okay to read through, no need to add much.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63f5e2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63f5e2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To cover….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Task formulation in some detail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What is the big picture, why is this interesting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Example topic or query or whatever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Registered and submitted participants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Learnings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Plans going forward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The task is formulated in two steps: detection and generation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[read out detection task]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[read out generation task]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Once we have generated pairs of hallucinated and correct hypothesis, we perform cross-model evaluation where we have the models try to detect which of the two generated sentences is a hallucination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45b08d988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45b08d988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Hallucination category: wrong number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b5925e0a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b5925e0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Hallucination category: antonym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45b08d988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245b08d988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We had small number of participants but one group submitted a large number of models and prompt variations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Read out the rest as is, nothing special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4d4f40a76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4d4f40a76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f4d4f40a76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f4d4f40a76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45b08d988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245b08d988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d9826881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d9826881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e28d416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fe28d416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d9826881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d9826881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4d4f40a76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4d4f40a76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4d4f40a76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f4d4f40a76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45a20d0a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245a20d0a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d9826881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d9826881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fd9826881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fd9826881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e28d4162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fe28d4162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245a20d0a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245a20d0a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245a20d0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245a20d0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245a20d0a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245a20d0a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4d4f40a76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f4d4f40a76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4d4f40a76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4d4f40a76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245b08d988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245b08d988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f4d4f40a76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f4d4f40a76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Playfair Display"/>
              <a:buNone/>
              <a:defRPr sz="52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i="1" sz="2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Playfair Display"/>
              <a:buNone/>
              <a:defRPr b="1" sz="36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3408000" y="4545725"/>
            <a:ext cx="2328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Roboto Mono"/>
                <a:ea typeface="Roboto Mono"/>
                <a:cs typeface="Roboto Mono"/>
                <a:sym typeface="Roboto Mono"/>
              </a:rPr>
              <a:t>https://eloquent-lab.github.io/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C9DAF8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70850" y="1211875"/>
            <a:ext cx="88023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Courier New"/>
              <a:buNone/>
              <a:defRPr sz="100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/>
        </p:nvSpPr>
        <p:spPr>
          <a:xfrm>
            <a:off x="493800" y="244000"/>
            <a:ext cx="81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slide will be removed before presentation and is only here as an authoring aid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- Baby blue">
  <p:cSld name="CUSTOM_3_1_1_1_1_4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/>
          <p:cNvPicPr preferRelativeResize="0"/>
          <p:nvPr/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>
            <p:ph type="title"/>
          </p:nvPr>
        </p:nvSpPr>
        <p:spPr>
          <a:xfrm>
            <a:off x="450000" y="2073900"/>
            <a:ext cx="448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exend Deca"/>
              <a:buNone/>
              <a:defRPr b="0" sz="29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447350" y="2720700"/>
            <a:ext cx="3707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rdo"/>
              <a:buNone/>
              <a:defRPr i="1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050" y="904550"/>
            <a:ext cx="4238950" cy="42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blue">
  <p:cSld name="CUSTOM_4_1_1_1_1_1_1_1_1_1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7"/>
          <p:cNvPicPr preferRelativeResize="0"/>
          <p:nvPr/>
        </p:nvPicPr>
        <p:blipFill rotWithShape="1">
          <a:blip r:embed="rId3">
            <a:alphaModFix/>
          </a:blip>
          <a:srcRect b="-10" l="56718" r="13245" t="0"/>
          <a:stretch/>
        </p:blipFill>
        <p:spPr>
          <a:xfrm>
            <a:off x="8462975" y="4655300"/>
            <a:ext cx="252400" cy="2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With header bar">
  <p:cSld name="CUSTOM_4_1_1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0000" y="736950"/>
            <a:ext cx="818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 Deca"/>
              <a:buNone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1369425" y="4763"/>
            <a:ext cx="1379100" cy="27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000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2" type="subTitle"/>
          </p:nvPr>
        </p:nvSpPr>
        <p:spPr>
          <a:xfrm>
            <a:off x="-5425" y="4763"/>
            <a:ext cx="1379100" cy="27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12077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exend Deca"/>
              <a:buNone/>
              <a:defRPr sz="1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idx="3" type="body"/>
          </p:nvPr>
        </p:nvSpPr>
        <p:spPr>
          <a:xfrm>
            <a:off x="455250" y="1763425"/>
            <a:ext cx="68649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indent="-3048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5pPr>
            <a:lvl6pPr indent="-304800" lvl="5" marL="2743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8pPr>
            <a:lvl9pPr indent="-304800" lvl="8" marL="41148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4" type="subTitle"/>
          </p:nvPr>
        </p:nvSpPr>
        <p:spPr>
          <a:xfrm>
            <a:off x="447350" y="1195650"/>
            <a:ext cx="37077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rdo"/>
              <a:buNone/>
              <a:defRPr i="1">
                <a:latin typeface="Cardo"/>
                <a:ea typeface="Cardo"/>
                <a:cs typeface="Cardo"/>
                <a:sym typeface="Cardo"/>
              </a:defRPr>
            </a:lvl1pPr>
            <a:lvl2pPr lvl="1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7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b="1"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●"/>
              <a:defRPr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250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ELOQUENT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3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EVALUATION OF GENERATIVE LANGUAGE MODEL QUALITY AND CHARACTERISTICS</a:t>
            </a:r>
            <a:endParaRPr b="1" sz="2972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3">
              <a:solidFill>
                <a:srgbClr val="2F2F2F"/>
              </a:solidFill>
              <a:highlight>
                <a:srgbClr val="F9F7F1"/>
              </a:highlight>
            </a:endParaRPr>
          </a:p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700" y="2834125"/>
            <a:ext cx="8520600" cy="14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Jussi Karlgren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Aarne Talman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Liane Guillou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Luise Dürlich, Evangelia Gogoulou, Shorouq Zahra, Joakim Nivre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Magnus Sahlgren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ELOQUENT is a lab for evaluating the quality of generative language models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1587975"/>
            <a:ext cx="8520600" cy="29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First year in 2024; will run again in 2025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Four innovative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Great interest; low submission rate; several submissions from students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 on low-effort assessment and downstream application inspired quality criteria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</a:t>
            </a:r>
            <a:r>
              <a:rPr lang="en-GB"/>
              <a:t> ELOQUENT?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LLMs are used as standard tools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Strong assumptions about transfer learning and the generality of language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Quality tests often variants of training monitor benchmark tests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Top level goals of using LLMs in practice not well aligned with what tests test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Top-level quality criteria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Language</a:t>
            </a:r>
            <a:r>
              <a:rPr lang="en-GB"/>
              <a:t> 				</a:t>
            </a:r>
            <a:endParaRPr/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Are system utterances correct and well-formed language?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Discourse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			Is the conversation fluent over the several turns of a session?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Social awareness 			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output of a system appropriate for the conversation and the parties engaged in it?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Consistency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produce robust output to varied input?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982"/>
              <a:buFont typeface="Arial"/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Veracity</a:t>
            </a:r>
            <a:br>
              <a:rPr lang="en-GB"/>
            </a:br>
            <a:r>
              <a:rPr lang="en-GB"/>
              <a:t>			Is the output of a system truthful?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Topical competence	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know the topic enough for its output to be trusted?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Compliance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content of the model and the output compliant with regulatory constraints?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Common sense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system capable to reason using language?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Effectiveness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hold to budgets with respect to time, energy, computational effort, and hardware?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Creativity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interaction with the system </a:t>
            </a:r>
            <a:r>
              <a:rPr lang="en-GB">
                <a:solidFill>
                  <a:srgbClr val="FF0000"/>
                </a:solidFill>
              </a:rPr>
              <a:t>interesting, delightful, and fun</a:t>
            </a:r>
            <a:r>
              <a:rPr lang="en-GB">
                <a:solidFill>
                  <a:srgbClr val="FF0000"/>
                </a:solidFill>
              </a:rPr>
              <a:t>?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level goals of ELOQUENT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assessing </a:t>
            </a:r>
            <a:r>
              <a:rPr b="1" lang="en-GB" sz="1700"/>
              <a:t>Trustworthiness</a:t>
            </a:r>
            <a:r>
              <a:rPr lang="en-GB" sz="1700"/>
              <a:t>, a many-faceted notion which involves topical relevance and truthfulness, discourse competence, reasoning in language, controllability, and robustness across varied input.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exploring effects of </a:t>
            </a:r>
            <a:r>
              <a:rPr b="1" lang="en-GB" sz="1700"/>
              <a:t>Multi-linguality</a:t>
            </a:r>
            <a:r>
              <a:rPr lang="en-GB" sz="1700"/>
              <a:t> and the notion of </a:t>
            </a:r>
            <a:r>
              <a:rPr b="1" lang="en-GB" sz="1700"/>
              <a:t>Cultural fit</a:t>
            </a:r>
            <a:r>
              <a:rPr lang="en-GB" sz="1700"/>
              <a:t>: the suitability of a language model for some cultural and linguistic area. 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probing the </a:t>
            </a:r>
            <a:r>
              <a:rPr b="1" lang="en-GB" sz="1700"/>
              <a:t>L</a:t>
            </a:r>
            <a:r>
              <a:rPr b="1" lang="en-GB" sz="1700"/>
              <a:t>imits of Language Models</a:t>
            </a:r>
            <a:r>
              <a:rPr lang="en-GB" sz="1700"/>
              <a:t>: what is world knowledge and what is generative capacity?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making use of </a:t>
            </a:r>
            <a:r>
              <a:rPr b="1" lang="en-GB" sz="1700"/>
              <a:t>Self-assessment</a:t>
            </a:r>
            <a:r>
              <a:rPr lang="en-GB" sz="1700"/>
              <a:t>: the reliability of a language model to assess the quality of itself or some other language model, using as little human effort as possible.   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cultural fit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cultural aspects are tests we use built for?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Will translation work?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7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5169625" y="323750"/>
            <a:ext cx="3000000" cy="192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"Two people are seen sitting before a wave pool and one leads another out onto the water on a board. The person ..."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55875" y="2323725"/>
            <a:ext cx="3000000" cy="221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"A cowboy rides a horse out of a corral and enters into a fenced off area. The man rides his horse out of the fenced are and throws a rope ..."</a:t>
            </a:r>
            <a:endParaRPr sz="167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527325" y="2323725"/>
            <a:ext cx="3000000" cy="221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"A small group of people are seen sitting around a casino table speaking to one another and playing a game of poker ..."</a:t>
            </a:r>
            <a:endParaRPr sz="167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911125" y="46578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Cardo"/>
                <a:ea typeface="Cardo"/>
                <a:cs typeface="Cardo"/>
                <a:sym typeface="Cardo"/>
              </a:rPr>
              <a:t>(from the Hellaswag test set)</a:t>
            </a:r>
            <a:endParaRPr sz="1300">
              <a:solidFill>
                <a:srgbClr val="B7B7B7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limits of LMs -- where does world knowledge come in?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{"question_id": 148, "category": "stem", "turns": [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"You have been tasked with designing a solar-powered water heating system for a residential building. Describe the key components and considerations you would include in your design. Design a five-step workflow.", 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"If the system is intended for a building with a capacity of 100 individuals, what would be the estimated budget for implementing this system?"]}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572000" y="4107175"/>
            <a:ext cx="525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Cardo"/>
                <a:ea typeface="Cardo"/>
                <a:cs typeface="Cardo"/>
                <a:sym typeface="Cardo"/>
              </a:rPr>
              <a:t>(from the MT-Bench test set)</a:t>
            </a:r>
            <a:endParaRPr sz="1300">
              <a:solidFill>
                <a:srgbClr val="B7B7B7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6" name="Google Shape;86;p15"/>
          <p:cNvSpPr txBox="1"/>
          <p:nvPr/>
        </p:nvSpPr>
        <p:spPr>
          <a:xfrm rot="1260187">
            <a:off x="4949129" y="3908745"/>
            <a:ext cx="4162449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is this a language question?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laziness is a virtue and frugality its own reward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2814275" y="23044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your LLM really clever? Can it mark its own homework?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Operationalisation at ELOQUENT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 tasks this past year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 threshold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Open-ended difficulty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Exploratory set-up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Minimise human effort in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Plan for new tasks as needed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Possibly turn some into leaderboards eventually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Relation to coming AI on Demand platform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FIRST ELOQUENT EDITION IN 2024: Four Tasks</a:t>
            </a:r>
            <a:endParaRPr sz="3600"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47500" y="1854100"/>
            <a:ext cx="8520600" cy="24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Quiz: </a:t>
            </a:r>
            <a:r>
              <a:rPr lang="en-GB" sz="2000"/>
              <a:t>Topical competence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HalluciGen</a:t>
            </a:r>
            <a:r>
              <a:rPr lang="en-GB" sz="2000"/>
              <a:t>: Veracity and Hallucination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Robustness: </a:t>
            </a:r>
            <a:r>
              <a:rPr lang="en-GB" sz="2000"/>
              <a:t>Handling variation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AutoNum type="arabicPeriod"/>
            </a:pPr>
            <a:r>
              <a:rPr b="1" lang="en-GB" sz="2000"/>
              <a:t>Voight-Kampff: </a:t>
            </a:r>
            <a:r>
              <a:rPr lang="en-GB" sz="2000"/>
              <a:t>Identifying machine-generated text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1: Quiz -</a:t>
            </a:r>
            <a:r>
              <a:rPr b="0" lang="en-GB" sz="2750"/>
              <a:t> </a:t>
            </a:r>
            <a:r>
              <a:rPr b="0" i="1" lang="en-GB" sz="2750">
                <a:solidFill>
                  <a:schemeClr val="dk2"/>
                </a:solidFill>
              </a:rPr>
              <a:t>Does the language model know about a topic?</a:t>
            </a:r>
            <a:endParaRPr b="0" sz="2750"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topical competence be self-evaluated using synthetic data generated by the model itself?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Round-robin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participating system must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accept a topic and a prompt string defined in human language,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a test with a set of questions for that topic,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accept tests generated by other systems and respond to them, and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score responses given by other systems to the test it generated.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Quality of tests is probably more interesting than the quality of responses!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0600" y="1778000"/>
            <a:ext cx="1961699" cy="13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quiz topic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5750"/>
            <a:ext cx="87951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"id": "001", "title": "e-scooters", "objective": "inspecific",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"description": "Electric scooters are a popular new vehicle found in many cities around the world, often available through scooter-sharing services."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22950" y="2109550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{... "test_items":[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{"qid":"001", "question":"What is an electric scooter, and how does it differ from traditional scooters or motorcycles?"},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 {"qid":"002","question":"Can you briefly explain the key components of an electric scooter?"},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 {"qid":"003","question":"Why have electric scooters gained popularity in urban areas around the world?"},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{"qid":"004","question":"Name a few cities &lt;where electric scooters are commonly found as a mode of transportation."},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...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]}}}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184850" y="2229700"/>
            <a:ext cx="5010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{"topicaltestresponses":{...,"quizresponses":{...[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{"qid":"001","response":"An electric scooter is a two-wheeled vehicle powered by an electric motor. It differs from traditional scooters by using electric energy for propulsion."},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{"qid":"002","response":"Key components include the electric motor, rechargeable battery, braking system, and control mechanisms."},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{"qid":"003","response":"Electric scooters have gained popularity due to their environmental friendliness, cost-effectiveness, and convenience."},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{"qid":"004","response":"They are commonly found in cities like San Francisco, Paris, and Berlin, where they provide a quick and efficient means of transportation."}]}}}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7998550" y="2525200"/>
            <a:ext cx="546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Topical quiz task submissions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task had 27 registered participant teams.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Three teams submitted quizzes.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Two teams submitted responses using models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Poro-34B-Chat,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Mistral-7B-Instruct-v0.1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GPT-SW3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Command-R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01" y="206275"/>
            <a:ext cx="7894800" cy="46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5" y="41775"/>
            <a:ext cx="8870924" cy="45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learnings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739850" y="1174150"/>
            <a:ext cx="7761300" cy="32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too little data for an elaborate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quizzes seem to be 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scoring was quite challenging for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scores typically quite high (gpt-4 somewhat stingier than others)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self-scoring boost!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 topical competence gives lower reliability for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</a:t>
            </a:r>
            <a:r>
              <a:rPr lang="en-GB"/>
              <a:t>oo complex task, needs some redesign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79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698"/>
              <a:buFont typeface="Arial"/>
              <a:buNone/>
            </a:pPr>
            <a:r>
              <a:rPr lang="en-GB"/>
              <a:t>Task 2: HalluciGen - </a:t>
            </a:r>
            <a:r>
              <a:rPr b="0" i="1" lang="en-GB" sz="2355"/>
              <a:t>Can it be trusted? Or does it make stuff up?</a:t>
            </a:r>
            <a:endParaRPr b="0" i="1" sz="2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672"/>
              <a:buFont typeface="Arial"/>
              <a:buNone/>
            </a:pPr>
            <a:r>
              <a:t/>
            </a:r>
            <a:endParaRPr b="0" i="1" sz="2577"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79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Manifold question: truthfulness has many facets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Many test sets and tasks around this question can be found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Shroom at SEM-EVAL this year!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year: </a:t>
            </a:r>
            <a:r>
              <a:rPr b="1" lang="en-GB"/>
              <a:t>Builder</a:t>
            </a:r>
            <a:r>
              <a:rPr lang="en-GB"/>
              <a:t>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hallucinations and paraphrases from source sentences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develop evaluator models to identify hallucinated content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given a source sentence and two samples, detect which one of samples is hallucination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given a source sentence and a sample, decide if the sample is hallucinated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evaluate across models in round robin style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Next year: </a:t>
            </a:r>
            <a:r>
              <a:rPr b="1" lang="en-GB"/>
              <a:t>Breaker</a:t>
            </a:r>
            <a:r>
              <a:rPr lang="en-GB"/>
              <a:t>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data to challenge evaluator models from the previous year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inspired by the WMT challenge and the Adversarial NLI dataset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650" y="3360975"/>
            <a:ext cx="1742699" cy="170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setup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2578450" y="214550"/>
            <a:ext cx="61587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 and a hypotheses: 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Hallucination</a:t>
            </a: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 = hypothesis that contradicts the source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530550" y="118550"/>
            <a:ext cx="5507400" cy="101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11700" y="1680000"/>
            <a:ext cx="3534300" cy="181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5135650" y="1680000"/>
            <a:ext cx="3467400" cy="187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431325" y="1742250"/>
            <a:ext cx="32184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Detection task</a:t>
            </a:r>
            <a:endParaRPr b="1" sz="20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 and hyp1, hyp2, the model should detect which of the two contains a hallucination.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5327200" y="1794900"/>
            <a:ext cx="30843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Generation task</a:t>
            </a:r>
            <a:endParaRPr b="1" sz="20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source, the model should generate: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a correct hypothesis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a hallucinated hypothesis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3204475" y="3555800"/>
            <a:ext cx="285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Cross-model evaluation</a:t>
            </a:r>
            <a:endParaRPr b="1"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62" name="Google Shape;162;p26"/>
          <p:cNvSpPr/>
          <p:nvPr/>
        </p:nvSpPr>
        <p:spPr>
          <a:xfrm rot="-10799281">
            <a:off x="2186810" y="3556256"/>
            <a:ext cx="4302600" cy="876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3759913" y="2209775"/>
            <a:ext cx="145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rdo"/>
              <a:buAutoNum type="arabicParenR"/>
            </a:pPr>
            <a:r>
              <a:rPr b="1" lang="en-GB" sz="11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Paraphrase</a:t>
            </a:r>
            <a:endParaRPr b="1" sz="11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rdo"/>
              <a:buAutoNum type="arabicParenR"/>
            </a:pPr>
            <a:r>
              <a:rPr b="1" lang="en-GB" sz="11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Translation</a:t>
            </a:r>
            <a:endParaRPr b="1" sz="11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Paraphrase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311700" y="1799250"/>
            <a:ext cx="3876900" cy="15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Source: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We cannot accept Amendments Nos 19, 21 and 51, which are aimed at regulating the import and export of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572000" y="1017725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Hyp1</a:t>
            </a: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Amendments Nos 21 and 23 are aimed at regulating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4492250" y="2651475"/>
            <a:ext cx="35784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Hyp2: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Amendments Nos 19 and 21 are aimed at regulating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8030775" y="28947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✔️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8030775" y="12101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✖️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Translation</a:t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311700" y="1799250"/>
            <a:ext cx="38769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Source: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If he stayed in the same place, he would be discovered.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4572000" y="1017725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Hyp1: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Wenn er am selben Ort bliebe, würde man ihn finden.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4492250" y="2651475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Hyp2: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Wenn er am selben Ort bliebe, würde man ihn übersehen.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7961000" y="123007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✔️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7961000" y="28050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✖️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Registered participants and resulting submissions</a:t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390750" y="1080525"/>
            <a:ext cx="7815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●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10 systems submitted by 3 participant groups in total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311700" y="1718475"/>
            <a:ext cx="41766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Detection: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GPT-4 and Majority voting the best approaches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Strong Natural Language Inference system baseline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488300" y="1718475"/>
            <a:ext cx="46680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Generation</a:t>
            </a: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Llama-3-8B-Instruct and GPT -3.5-turbo show strong performance in generating both correct and hallucinated hypotheses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Baseline Llama-2-7b-chat struggles with hallucinated hypothesis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311700" y="3366100"/>
            <a:ext cx="57807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Cross-model</a:t>
            </a: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Majority voting is the strongest approach with respect to the generator and the other model evaluators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3: Robustness - </a:t>
            </a:r>
            <a:r>
              <a:rPr b="0" i="1" lang="en-GB" sz="2000">
                <a:solidFill>
                  <a:srgbClr val="2F2F2F"/>
                </a:solidFill>
                <a:highlight>
                  <a:srgbClr val="F9F7F1"/>
                </a:highlight>
              </a:rPr>
              <a:t>Will it give the same content to all of us?</a:t>
            </a:r>
            <a:endParaRPr b="0" i="1" sz="2000"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Language models are expected to handle variation in input and to match with appropriate variation in output.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27" y="3383650"/>
            <a:ext cx="1569775" cy="1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/>
          <p:nvPr/>
        </p:nvSpPr>
        <p:spPr>
          <a:xfrm>
            <a:off x="5660575" y="3238500"/>
            <a:ext cx="870900" cy="580500"/>
          </a:xfrm>
          <a:prstGeom prst="wedgeRoundRectCallout">
            <a:avLst>
              <a:gd fmla="val 82286" name="adj1"/>
              <a:gd fmla="val 115646" name="adj2"/>
              <a:gd fmla="val 0" name="adj3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rdo"/>
                <a:ea typeface="Cardo"/>
                <a:cs typeface="Cardo"/>
                <a:sym typeface="Cardo"/>
              </a:rPr>
              <a:t>☠☢✯⛈︎❅❅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8507100" y="2803150"/>
            <a:ext cx="636900" cy="580500"/>
          </a:xfrm>
          <a:prstGeom prst="wedgeRoundRectCallout">
            <a:avLst>
              <a:gd fmla="val -44006" name="adj1"/>
              <a:gd fmla="val 190642" name="adj2"/>
              <a:gd fmla="val 0" name="adj3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rdo"/>
                <a:ea typeface="Cardo"/>
                <a:cs typeface="Cardo"/>
                <a:sym typeface="Cardo"/>
              </a:rPr>
              <a:t>☺❀❣🎶☀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311700" y="2063850"/>
            <a:ext cx="50805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Experiment: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</a:pPr>
            <a:r>
              <a:rPr lang="en-GB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Prompts varied by dialectal, sociolectal, and idiosyncratic variation.</a:t>
            </a:r>
            <a:endParaRPr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</a:pPr>
            <a:r>
              <a:rPr lang="en-GB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Multilingual examples given</a:t>
            </a:r>
            <a:endParaRPr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DIMENSIONS OF VARIATION and EXAMPLE TOPICS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93325" y="105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dialect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personal 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sophistication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rudeness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1"/>
          <p:cNvSpPr txBox="1"/>
          <p:nvPr/>
        </p:nvSpPr>
        <p:spPr>
          <a:xfrm>
            <a:off x="3536125" y="1017725"/>
            <a:ext cx="5034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mom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mommy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dad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my father saying that I will not make it tonight.</a:t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4724950" y="2910050"/>
            <a:ext cx="43518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need help to formulate an application letter to the manager for a position as a clerk at the local grocery. He is a quite picky person, so it needs be written correctly.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Hey I want a job at the supermarket hlep me write a letter to the manager. He's totally anal about every fucking thing.</a:t>
            </a:r>
            <a:endParaRPr/>
          </a:p>
        </p:txBody>
      </p:sp>
      <p:sp>
        <p:nvSpPr>
          <p:cNvPr id="211" name="Google Shape;211;p31"/>
          <p:cNvSpPr txBox="1"/>
          <p:nvPr/>
        </p:nvSpPr>
        <p:spPr>
          <a:xfrm>
            <a:off x="3536125" y="1792525"/>
            <a:ext cx="6315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mamma och säg att jag inte orkar komma över ikväll. 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mor och säg att jag inte orkar komma ikväll.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mamma och säg att jag inte ids komma över ikväll.</a:t>
            </a:r>
            <a:endParaRPr/>
          </a:p>
        </p:txBody>
      </p:sp>
      <p:sp>
        <p:nvSpPr>
          <p:cNvPr id="212" name="Google Shape;212;p31"/>
          <p:cNvSpPr txBox="1"/>
          <p:nvPr/>
        </p:nvSpPr>
        <p:spPr>
          <a:xfrm>
            <a:off x="1622375" y="2910050"/>
            <a:ext cx="31809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Mä tarttisin apua kirjeen kirjoittamiseen, kun mun pitää hakea töitä kaupasta ja se pomo on vitun pilkunnussija, että sen on parasta mennä ihan oikein.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Auta minua laatimaan työhakemus myymälään. Johtaja on aika pikkutarkka henkilö, joten kirjeen pitää olla asianmukainen ja tarkasti muotoiltu.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Registered participants and resulting submissions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five submissions from four teams, out of 29 registered participants.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gpt-4-turbo-2024-04-09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gpt-sw3-20b-instruct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gpt-sw3-20b3.4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</a:t>
            </a:r>
            <a:r>
              <a:rPr lang="en-GB"/>
              <a:t>-</a:t>
            </a:r>
            <a:r>
              <a:rPr lang="en-GB"/>
              <a:t>sw3</a:t>
            </a:r>
            <a:r>
              <a:rPr lang="en-GB"/>
              <a:t>-40b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Command-R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484"/>
            <a:ext cx="9144001" cy="438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/>
        </p:nvSpPr>
        <p:spPr>
          <a:xfrm>
            <a:off x="974100" y="1940700"/>
            <a:ext cx="719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Item 11: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“I have ptsd from a recent encounter with a colleague.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“I have adhd from a recent encounter with a colleague.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“A recent encounter with a colleage left me uneasy and upset.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“One of my collegues is a right bastard and is driving me fucking crazy! What should i do”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2580250" y="3884700"/>
            <a:ext cx="588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rdo"/>
                <a:ea typeface="Cardo"/>
                <a:cs typeface="Cardo"/>
                <a:sym typeface="Cardo"/>
              </a:rPr>
              <a:t>e</a:t>
            </a:r>
            <a:r>
              <a:rPr lang="en-GB">
                <a:solidFill>
                  <a:schemeClr val="dk1"/>
                </a:solidFill>
                <a:latin typeface="Cardo"/>
                <a:ea typeface="Cardo"/>
                <a:cs typeface="Cardo"/>
                <a:sym typeface="Cardo"/>
              </a:rPr>
              <a:t>licits specific advice tailored to the different conditions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Oracle scoring seems to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Topic makes a difference for amount of variation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Multilinguality left to work further 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Task will return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Too simple task to provide excitement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Needs better hypothesis testing possibilities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4: Voight-Kampff -</a:t>
            </a:r>
            <a:r>
              <a:rPr b="0" lang="en-GB" sz="2000"/>
              <a:t> </a:t>
            </a:r>
            <a:r>
              <a:rPr b="0" lang="en-GB" sz="2000">
                <a:solidFill>
                  <a:srgbClr val="2F2F2F"/>
                </a:solidFill>
                <a:highlight>
                  <a:srgbClr val="F9F7F1"/>
                </a:highlight>
              </a:rPr>
              <a:t>Has a machine or a human written this?</a:t>
            </a:r>
            <a:endParaRPr b="0" sz="2000"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differentiate human-generated from AI-generated text?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collaboration with PAN lab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Builder-breaker set-up: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Participants in ELOQUENT generate texts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Participants in PAN build detectors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0575" y="2921695"/>
            <a:ext cx="2147225" cy="21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generation topic for Voight-Kampff task</a:t>
            </a:r>
            <a:endParaRPr/>
          </a:p>
        </p:txBody>
      </p:sp>
      <p:sp>
        <p:nvSpPr>
          <p:cNvPr id="248" name="Google Shape;248;p37"/>
          <p:cNvSpPr txBox="1"/>
          <p:nvPr/>
        </p:nvSpPr>
        <p:spPr>
          <a:xfrm>
            <a:off x="84900" y="966225"/>
            <a:ext cx="6437400" cy="23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Style: Informative and motivational podcast transcript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Genre: Personal development and relationships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Discusses the importance of knowing what one truly wants and doesn't want in a relationship for personal happiness and growth.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Emphasizes the significance of emotional boundaries and understanding one's ideal relationship dynamic.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Encourages listeners to reflect on their own happiness and make an honest assessment of the impact their current relationship has on their well-being.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Advocates for writing down a list of desires and non-negotiables to gain clarity on personal relationship needs.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Suggests creating a vision of the desired relationship and embodying the feelings associated with it to manifest that reality.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Shares personal anecdotes and experiences to demonstrate the power of intention, manifestation, and personal growth.</a:t>
            </a:r>
            <a:endParaRPr/>
          </a:p>
        </p:txBody>
      </p:sp>
      <p:sp>
        <p:nvSpPr>
          <p:cNvPr id="249" name="Google Shape;249;p37"/>
          <p:cNvSpPr txBox="1"/>
          <p:nvPr/>
        </p:nvSpPr>
        <p:spPr>
          <a:xfrm>
            <a:off x="714825" y="3408850"/>
            <a:ext cx="6651300" cy="2394300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Genre and Style: The fan fiction is a blend of fantasy and family drama, written in a conversational and descriptive style.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Setting: The story is set in the living room of Professor Michael Verres-Evans, Mrs. Petunia Evans-Verres, and their adopted son, Harry James Potter-Evans-Verres. The room is filled with overflowing bookshelves.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Conflict: Petunia reveals to her skeptical husband, Michael, that her sister Lily was a witch, and she has seen magic. Michael dismisses it as a delusion, leading to tension between them.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Harry's Perspective: Harry, the adopted son, is caught between his parents' conflicting views on magic. He is curious and open-minded, willing to test the hypothesis of magic's existence.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Testing the Hypothesis: Harry writes a letter to Hogwarts, attempting to send it via an owl. However, a neighbor, Mrs. Figg, intervenes and reveals that Harry's acceptance letter was standard, leading to an unexpected twist and a cliffhanger.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Voight-Kampff submissions</a:t>
            </a:r>
            <a:endParaRPr/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35 registered 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 teams; 5 submissions and baseline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Poro, Mistral, GPT-SW3, GPT 3.5, Command-R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/>
        </p:nvSpPr>
        <p:spPr>
          <a:xfrm>
            <a:off x="3202650" y="23640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fool a classifier into thinking it is human?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30" y="0"/>
            <a:ext cx="76719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0"/>
          <p:cNvSpPr txBox="1"/>
          <p:nvPr/>
        </p:nvSpPr>
        <p:spPr>
          <a:xfrm>
            <a:off x="4572000" y="647575"/>
            <a:ext cx="827400" cy="538800"/>
          </a:xfrm>
          <a:prstGeom prst="rect">
            <a:avLst/>
          </a:prstGeom>
          <a:noFill/>
          <a:ln cap="flat" cmpd="dbl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0000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No.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</a:t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Very simple task to attract participants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Too simple to provide excitement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did ELOQUENT do as a lab?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Attrition rate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55 registered 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8 submitted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Topical quiz: 27 registered teams; three quiz submissions; two response submissions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Hallucigen:  37 registered teams; 3 teams with 10 submissions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Robustness: 29 registered teams; 4 teams with 5 submissions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Voight-Kampff: 35 registered teams; three teams with 5 submissions (PAN side: 34 submitted classifiers)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Lessons learnt for next year</a:t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Longer schedule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Clearer scoring criteria and early release of test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Balance complexity and low thresholds of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Rank order matters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Cast a wider 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Template report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this year's tasks we know how to evaluate LLMs and can distribute a conclusive report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this year's tasks we know how to evaluate LLMs and can distribute a conclusive report</a:t>
            </a:r>
            <a:endParaRPr/>
          </a:p>
        </p:txBody>
      </p:sp>
      <p:sp>
        <p:nvSpPr>
          <p:cNvPr id="300" name="Google Shape;300;p46"/>
          <p:cNvSpPr txBox="1"/>
          <p:nvPr/>
        </p:nvSpPr>
        <p:spPr>
          <a:xfrm rot="1260179">
            <a:off x="789085" y="2993844"/>
            <a:ext cx="7683798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actually, we think there may be more to investigate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ELOQUENT Sessions tomorrow!</a:t>
            </a:r>
            <a:endParaRPr sz="3600"/>
          </a:p>
        </p:txBody>
      </p:sp>
      <p:sp>
        <p:nvSpPr>
          <p:cNvPr id="306" name="Google Shape;306;p47"/>
          <p:cNvSpPr txBox="1"/>
          <p:nvPr>
            <p:ph idx="1" type="body"/>
          </p:nvPr>
        </p:nvSpPr>
        <p:spPr>
          <a:xfrm>
            <a:off x="447500" y="1854100"/>
            <a:ext cx="8520600" cy="24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11:15 - Details of 2024 experiments</a:t>
            </a:r>
            <a:endParaRPr b="1"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2000"/>
              <a:t>14:00 - Plans for 2025</a:t>
            </a:r>
            <a:endParaRPr b="1"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Jussi Karlgren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Silo AI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Aarne Talman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University of Helsinki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Liane Guillou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University of Edinburgh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Luise Dürlich, Evangelia Gogoulou, Shorouq Zahra, Joakim Nivre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RISE ICT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Magnus Sahlgren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AI Sweden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oquen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1CB4E21E376642A871B4BBBF376111" ma:contentTypeVersion="13" ma:contentTypeDescription="Create a new document." ma:contentTypeScope="" ma:versionID="fc1d36082d0737f83da639fb8b43a85a">
  <xsd:schema xmlns:xsd="http://www.w3.org/2001/XMLSchema" xmlns:xs="http://www.w3.org/2001/XMLSchema" xmlns:p="http://schemas.microsoft.com/office/2006/metadata/properties" xmlns:ns2="9386251c-c754-4a6c-90dd-93fdc1e17d91" xmlns:ns3="9107b037-0cb1-47e5-b5aa-8e7cc37e5c39" targetNamespace="http://schemas.microsoft.com/office/2006/metadata/properties" ma:root="true" ma:fieldsID="e9612e84d571585f8b9862e0de2ec8a6" ns2:_="" ns3:_="">
    <xsd:import namespace="9386251c-c754-4a6c-90dd-93fdc1e17d91"/>
    <xsd:import namespace="9107b037-0cb1-47e5-b5aa-8e7cc37e5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6251c-c754-4a6c-90dd-93fdc1e17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7b037-0cb1-47e5-b5aa-8e7cc37e5c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f7b583d-2f8f-4825-9c51-3524deb2b25a}" ma:internalName="TaxCatchAll" ma:showField="CatchAllData" ma:web="9107b037-0cb1-47e5-b5aa-8e7cc37e5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86251c-c754-4a6c-90dd-93fdc1e17d91">
      <Terms xmlns="http://schemas.microsoft.com/office/infopath/2007/PartnerControls"/>
    </lcf76f155ced4ddcb4097134ff3c332f>
    <TaxCatchAll xmlns="9107b037-0cb1-47e5-b5aa-8e7cc37e5c39" xsi:nil="true"/>
  </documentManagement>
</p:properties>
</file>

<file path=customXml/itemProps1.xml><?xml version="1.0" encoding="utf-8"?>
<ds:datastoreItem xmlns:ds="http://schemas.openxmlformats.org/officeDocument/2006/customXml" ds:itemID="{91002B97-99CA-43C6-868E-58BDAAFEE2BF}"/>
</file>

<file path=customXml/itemProps2.xml><?xml version="1.0" encoding="utf-8"?>
<ds:datastoreItem xmlns:ds="http://schemas.openxmlformats.org/officeDocument/2006/customXml" ds:itemID="{F4D7A675-A621-4900-9F0A-23EA3AD663BC}"/>
</file>

<file path=customXml/itemProps3.xml><?xml version="1.0" encoding="utf-8"?>
<ds:datastoreItem xmlns:ds="http://schemas.openxmlformats.org/officeDocument/2006/customXml" ds:itemID="{FA0176CF-23A0-41CE-A20F-3C0BC07B925A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2024.09.11.ELOQUENT 2024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0x0101009C1CB4E21E376642A871B4BBBF376111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