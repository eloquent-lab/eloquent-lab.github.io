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Cardo"/>
      <p:regular r:id="rId25"/>
      <p:bold r:id="rId26"/>
      <p:italic r:id="rId27"/>
    </p:embeddedFont>
    <p:embeddedFont>
      <p:font typeface="Playfair Display"/>
      <p:regular r:id="rId28"/>
      <p:bold r:id="rId29"/>
      <p:italic r:id="rId30"/>
      <p:boldItalic r:id="rId31"/>
    </p:embeddedFont>
    <p:embeddedFont>
      <p:font typeface="Roboto Mono"/>
      <p:regular r:id="rId32"/>
      <p:bold r:id="rId33"/>
      <p:italic r:id="rId34"/>
      <p:boldItalic r:id="rId35"/>
    </p:embeddedFont>
    <p:embeddedFont>
      <p:font typeface="Lexend Deca"/>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Cardo-bold.fntdata"/><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customXml" Target="../customXml/item2.xml"/><Relationship Id="rId21" Type="http://schemas.openxmlformats.org/officeDocument/2006/relationships/slide" Target="slides/slide16.xml"/><Relationship Id="rId34" Type="http://schemas.openxmlformats.org/officeDocument/2006/relationships/font" Target="fonts/RobotoMono-italic.fntdata"/><Relationship Id="rId25" Type="http://schemas.openxmlformats.org/officeDocument/2006/relationships/font" Target="fonts/Cardo-regular.fntdata"/><Relationship Id="rId7" Type="http://schemas.openxmlformats.org/officeDocument/2006/relationships/slide" Target="slides/slide2.xml"/><Relationship Id="rId33" Type="http://schemas.openxmlformats.org/officeDocument/2006/relationships/font" Target="fonts/RobotoMono-bold.fntdata"/><Relationship Id="rId12" Type="http://schemas.openxmlformats.org/officeDocument/2006/relationships/slide" Target="slides/slide7.xml"/><Relationship Id="rId17" Type="http://schemas.openxmlformats.org/officeDocument/2006/relationships/slide" Target="slides/slide12.xml"/><Relationship Id="rId38" Type="http://schemas.openxmlformats.org/officeDocument/2006/relationships/customXml" Target="../customXml/item1.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font" Target="fonts/PlayfairDisplay-bold.fntdata"/><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font" Target="fonts/RobotoMono-regular.fntdata"/><Relationship Id="rId37" Type="http://schemas.openxmlformats.org/officeDocument/2006/relationships/font" Target="fonts/LexendDeca-bold.fntdata"/><Relationship Id="rId40" Type="http://schemas.openxmlformats.org/officeDocument/2006/relationships/customXml" Target="../customXml/item3.xml"/><Relationship Id="rId23" Type="http://schemas.openxmlformats.org/officeDocument/2006/relationships/slide" Target="slides/slide18.xml"/><Relationship Id="rId28" Type="http://schemas.openxmlformats.org/officeDocument/2006/relationships/font" Target="fonts/PlayfairDisplay-regular.fntdata"/><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font" Target="fonts/LexendDeca-regular.fntdata"/><Relationship Id="rId31" Type="http://schemas.openxmlformats.org/officeDocument/2006/relationships/font" Target="fonts/PlayfairDisplay-boldItalic.fntdata"/><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Cardo-italic.fntdata"/><Relationship Id="rId30" Type="http://schemas.openxmlformats.org/officeDocument/2006/relationships/font" Target="fonts/PlayfairDisplay-italic.fntdata"/><Relationship Id="rId35" Type="http://schemas.openxmlformats.org/officeDocument/2006/relationships/font" Target="fonts/RobotoMono-boldItalic.fntdata"/><Relationship Id="rId14" Type="http://schemas.openxmlformats.org/officeDocument/2006/relationships/slide" Target="slides/slide9.xml"/><Relationship Id="rId8" Type="http://schemas.openxmlformats.org/officeDocument/2006/relationships/slide" Target="slides/slide3.xml"/><Relationship Id="rId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2f4d4f40a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2f4d4f40a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2f4d4f40a76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2f4d4f40a76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fe1a2de0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fe1a2de0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f4d4f40a76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f4d4f40a76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8fb3b1ef5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8fb3b1ef5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8fb3b1ef5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8fb3b1ef5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f4d4f40a76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f4d4f40a76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fe1a2de02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fe1a2de02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f4d4f40a76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f4d4f40a76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fb3b1ef5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8fb3b1ef5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fb3b1ef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8fb3b1ef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8fb3b1ef5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8fb3b1ef5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8fb3b1ef5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8fb3b1ef5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fe1a2de02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fe1a2de02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fe1a2de0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fe1a2de0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fe1a2de02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fe1a2de02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f4d4f40a76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f4d4f40a76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4d4f40a76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4d4f40a76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f4d4f40a76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f4d4f40a76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3.jp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Font typeface="Playfair Display"/>
              <a:buNone/>
              <a:defRPr sz="5200">
                <a:latin typeface="Playfair Display"/>
                <a:ea typeface="Playfair Display"/>
                <a:cs typeface="Playfair Display"/>
                <a:sym typeface="Playfair Display"/>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Font typeface="Playfair Display"/>
              <a:buNone/>
              <a:defRPr i="1" sz="2800">
                <a:latin typeface="Playfair Display"/>
                <a:ea typeface="Playfair Display"/>
                <a:cs typeface="Playfair Display"/>
                <a:sym typeface="Playfair Displ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Font typeface="Playfair Display"/>
              <a:buNone/>
              <a:defRPr b="1" sz="3600">
                <a:latin typeface="Playfair Display"/>
                <a:ea typeface="Playfair Display"/>
                <a:cs typeface="Playfair Display"/>
                <a:sym typeface="Playfair Displ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Font typeface="Playfair Display"/>
              <a:buNone/>
              <a:defRPr b="1">
                <a:latin typeface="Playfair Display"/>
                <a:ea typeface="Playfair Display"/>
                <a:cs typeface="Playfair Display"/>
                <a:sym typeface="Playfair Displ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Cardo"/>
              <a:buChar char="●"/>
              <a:defRPr>
                <a:latin typeface="Cardo"/>
                <a:ea typeface="Cardo"/>
                <a:cs typeface="Cardo"/>
                <a:sym typeface="Cardo"/>
              </a:defRPr>
            </a:lvl1pPr>
            <a:lvl2pPr indent="-317500" lvl="1" marL="914400" rtl="0">
              <a:spcBef>
                <a:spcPts val="0"/>
              </a:spcBef>
              <a:spcAft>
                <a:spcPts val="0"/>
              </a:spcAft>
              <a:buSzPts val="1400"/>
              <a:buFont typeface="Cardo"/>
              <a:buChar char="○"/>
              <a:defRPr>
                <a:latin typeface="Cardo"/>
                <a:ea typeface="Cardo"/>
                <a:cs typeface="Cardo"/>
                <a:sym typeface="Cardo"/>
              </a:defRPr>
            </a:lvl2pPr>
            <a:lvl3pPr indent="-317500" lvl="2" marL="1371600" rtl="0">
              <a:spcBef>
                <a:spcPts val="0"/>
              </a:spcBef>
              <a:spcAft>
                <a:spcPts val="0"/>
              </a:spcAft>
              <a:buSzPts val="1400"/>
              <a:buFont typeface="Cardo"/>
              <a:buChar char="■"/>
              <a:defRPr>
                <a:latin typeface="Cardo"/>
                <a:ea typeface="Cardo"/>
                <a:cs typeface="Cardo"/>
                <a:sym typeface="Cardo"/>
              </a:defRPr>
            </a:lvl3pPr>
            <a:lvl4pPr indent="-317500" lvl="3" marL="1828800" rtl="0">
              <a:spcBef>
                <a:spcPts val="0"/>
              </a:spcBef>
              <a:spcAft>
                <a:spcPts val="0"/>
              </a:spcAft>
              <a:buSzPts val="1400"/>
              <a:buFont typeface="Cardo"/>
              <a:buChar char="●"/>
              <a:defRPr>
                <a:latin typeface="Cardo"/>
                <a:ea typeface="Cardo"/>
                <a:cs typeface="Cardo"/>
                <a:sym typeface="Cardo"/>
              </a:defRPr>
            </a:lvl4pPr>
            <a:lvl5pPr indent="-317500" lvl="4" marL="2286000" rtl="0">
              <a:spcBef>
                <a:spcPts val="0"/>
              </a:spcBef>
              <a:spcAft>
                <a:spcPts val="0"/>
              </a:spcAft>
              <a:buSzPts val="1400"/>
              <a:buFont typeface="Cardo"/>
              <a:buChar char="○"/>
              <a:defRPr>
                <a:latin typeface="Cardo"/>
                <a:ea typeface="Cardo"/>
                <a:cs typeface="Cardo"/>
                <a:sym typeface="Cardo"/>
              </a:defRPr>
            </a:lvl5pPr>
            <a:lvl6pPr indent="-317500" lvl="5" marL="2743200" rtl="0">
              <a:spcBef>
                <a:spcPts val="0"/>
              </a:spcBef>
              <a:spcAft>
                <a:spcPts val="0"/>
              </a:spcAft>
              <a:buSzPts val="1400"/>
              <a:buFont typeface="Cardo"/>
              <a:buChar char="■"/>
              <a:defRPr>
                <a:latin typeface="Cardo"/>
                <a:ea typeface="Cardo"/>
                <a:cs typeface="Cardo"/>
                <a:sym typeface="Cardo"/>
              </a:defRPr>
            </a:lvl6pPr>
            <a:lvl7pPr indent="-317500" lvl="6" marL="3200400" rtl="0">
              <a:spcBef>
                <a:spcPts val="0"/>
              </a:spcBef>
              <a:spcAft>
                <a:spcPts val="0"/>
              </a:spcAft>
              <a:buSzPts val="1400"/>
              <a:buFont typeface="Cardo"/>
              <a:buChar char="●"/>
              <a:defRPr>
                <a:latin typeface="Cardo"/>
                <a:ea typeface="Cardo"/>
                <a:cs typeface="Cardo"/>
                <a:sym typeface="Cardo"/>
              </a:defRPr>
            </a:lvl7pPr>
            <a:lvl8pPr indent="-317500" lvl="7" marL="3657600" rtl="0">
              <a:spcBef>
                <a:spcPts val="0"/>
              </a:spcBef>
              <a:spcAft>
                <a:spcPts val="0"/>
              </a:spcAft>
              <a:buSzPts val="1400"/>
              <a:buFont typeface="Cardo"/>
              <a:buChar char="○"/>
              <a:defRPr>
                <a:latin typeface="Cardo"/>
                <a:ea typeface="Cardo"/>
                <a:cs typeface="Cardo"/>
                <a:sym typeface="Cardo"/>
              </a:defRPr>
            </a:lvl8pPr>
            <a:lvl9pPr indent="-317500" lvl="8" marL="4114800" rtl="0">
              <a:spcBef>
                <a:spcPts val="0"/>
              </a:spcBef>
              <a:spcAft>
                <a:spcPts val="0"/>
              </a:spcAft>
              <a:buSzPts val="1400"/>
              <a:buFont typeface="Cardo"/>
              <a:buChar char="■"/>
              <a:defRPr>
                <a:latin typeface="Cardo"/>
                <a:ea typeface="Cardo"/>
                <a:cs typeface="Cardo"/>
                <a:sym typeface="Cardo"/>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nvSpPr>
        <p:spPr>
          <a:xfrm>
            <a:off x="3408000" y="4545725"/>
            <a:ext cx="23280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latin typeface="Roboto Mono"/>
                <a:ea typeface="Roboto Mono"/>
                <a:cs typeface="Roboto Mono"/>
                <a:sym typeface="Roboto Mono"/>
              </a:rPr>
              <a:t>https://eloquent-lab.github.io/</a:t>
            </a:r>
            <a:endParaRPr sz="900">
              <a:latin typeface="Roboto Mono"/>
              <a:ea typeface="Roboto Mono"/>
              <a:cs typeface="Roboto Mono"/>
              <a:sym typeface="Roboto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bg>
      <p:bgPr>
        <a:solidFill>
          <a:srgbClr val="C9DAF8"/>
        </a:solid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170850" y="1211875"/>
            <a:ext cx="8802300" cy="1460400"/>
          </a:xfrm>
          <a:prstGeom prst="rect">
            <a:avLst/>
          </a:prstGeom>
        </p:spPr>
        <p:txBody>
          <a:bodyPr anchorCtr="0" anchor="t" bIns="91425" lIns="91425" spcFirstLastPara="1" rIns="91425" wrap="square" tIns="91425">
            <a:normAutofit/>
          </a:bodyPr>
          <a:lstStyle>
            <a:lvl1pPr lvl="0" algn="ctr">
              <a:spcBef>
                <a:spcPts val="0"/>
              </a:spcBef>
              <a:spcAft>
                <a:spcPts val="0"/>
              </a:spcAft>
              <a:buSzPts val="10000"/>
              <a:buFont typeface="Courier New"/>
              <a:buNone/>
              <a:defRPr sz="10000">
                <a:latin typeface="Courier New"/>
                <a:ea typeface="Courier New"/>
                <a:cs typeface="Courier New"/>
                <a:sym typeface="Courier New"/>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nvSpPr>
        <p:spPr>
          <a:xfrm>
            <a:off x="493800" y="244000"/>
            <a:ext cx="81564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dk1"/>
                </a:solidFill>
                <a:latin typeface="Courier New"/>
                <a:ea typeface="Courier New"/>
                <a:cs typeface="Courier New"/>
                <a:sym typeface="Courier New"/>
              </a:rPr>
              <a:t>This slide will be removed before presentation and is only here as an authoring aid</a:t>
            </a:r>
            <a:endParaRPr sz="1200">
              <a:solidFill>
                <a:schemeClr val="dk1"/>
              </a:solidFill>
              <a:latin typeface="Courier New"/>
              <a:ea typeface="Courier New"/>
              <a:cs typeface="Courier New"/>
              <a:sym typeface="Courier New"/>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 Baby blue">
  <p:cSld name="CUSTOM_3_1_1_1_1_4_1_1_1_1">
    <p:bg>
      <p:bgPr>
        <a:blipFill>
          <a:blip r:embed="rId2">
            <a:alphaModFix/>
          </a:blip>
          <a:stretch>
            <a:fillRect/>
          </a:stretch>
        </a:blipFill>
      </p:bgPr>
    </p:bg>
    <p:spTree>
      <p:nvGrpSpPr>
        <p:cNvPr id="24" name="Shape 24"/>
        <p:cNvGrpSpPr/>
        <p:nvPr/>
      </p:nvGrpSpPr>
      <p:grpSpPr>
        <a:xfrm>
          <a:off x="0" y="0"/>
          <a:ext cx="0" cy="0"/>
          <a:chOff x="0" y="0"/>
          <a:chExt cx="0" cy="0"/>
        </a:xfrm>
      </p:grpSpPr>
      <p:pic>
        <p:nvPicPr>
          <p:cNvPr id="25" name="Google Shape;25;p6"/>
          <p:cNvPicPr preferRelativeResize="0"/>
          <p:nvPr/>
        </p:nvPicPr>
        <p:blipFill rotWithShape="1">
          <a:blip r:embed="rId3">
            <a:alphaModFix/>
          </a:blip>
          <a:srcRect b="9" l="0" r="0" t="9"/>
          <a:stretch/>
        </p:blipFill>
        <p:spPr>
          <a:xfrm>
            <a:off x="0" y="0"/>
            <a:ext cx="9144002" cy="5143502"/>
          </a:xfrm>
          <a:prstGeom prst="rect">
            <a:avLst/>
          </a:prstGeom>
          <a:noFill/>
          <a:ln>
            <a:noFill/>
          </a:ln>
        </p:spPr>
      </p:pic>
      <p:sp>
        <p:nvSpPr>
          <p:cNvPr id="26" name="Google Shape;26;p6"/>
          <p:cNvSpPr txBox="1"/>
          <p:nvPr>
            <p:ph type="title"/>
          </p:nvPr>
        </p:nvSpPr>
        <p:spPr>
          <a:xfrm>
            <a:off x="450000" y="2073900"/>
            <a:ext cx="4486500" cy="572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accent1"/>
              </a:buClr>
              <a:buSzPts val="2900"/>
              <a:buFont typeface="Lexend Deca"/>
              <a:buNone/>
              <a:defRPr b="0" sz="2900">
                <a:solidFill>
                  <a:schemeClr val="accent1"/>
                </a:solidFill>
                <a:latin typeface="Lexend Deca"/>
                <a:ea typeface="Lexend Deca"/>
                <a:cs typeface="Lexend Deca"/>
                <a:sym typeface="Lexend Deca"/>
              </a:defRPr>
            </a:lvl1pPr>
            <a:lvl2pPr lvl="1" rtl="0">
              <a:spcBef>
                <a:spcPts val="0"/>
              </a:spcBef>
              <a:spcAft>
                <a:spcPts val="0"/>
              </a:spcAft>
              <a:buClr>
                <a:srgbClr val="C8E4DD"/>
              </a:buClr>
              <a:buSzPts val="3400"/>
              <a:buNone/>
              <a:defRPr sz="3400">
                <a:solidFill>
                  <a:srgbClr val="C8E4DD"/>
                </a:solidFill>
              </a:defRPr>
            </a:lvl2pPr>
            <a:lvl3pPr lvl="2" rtl="0">
              <a:spcBef>
                <a:spcPts val="0"/>
              </a:spcBef>
              <a:spcAft>
                <a:spcPts val="0"/>
              </a:spcAft>
              <a:buClr>
                <a:srgbClr val="C8E4DD"/>
              </a:buClr>
              <a:buSzPts val="3400"/>
              <a:buNone/>
              <a:defRPr sz="3400">
                <a:solidFill>
                  <a:srgbClr val="C8E4DD"/>
                </a:solidFill>
              </a:defRPr>
            </a:lvl3pPr>
            <a:lvl4pPr lvl="3" rtl="0">
              <a:spcBef>
                <a:spcPts val="0"/>
              </a:spcBef>
              <a:spcAft>
                <a:spcPts val="0"/>
              </a:spcAft>
              <a:buClr>
                <a:srgbClr val="C8E4DD"/>
              </a:buClr>
              <a:buSzPts val="3400"/>
              <a:buNone/>
              <a:defRPr sz="3400">
                <a:solidFill>
                  <a:srgbClr val="C8E4DD"/>
                </a:solidFill>
              </a:defRPr>
            </a:lvl4pPr>
            <a:lvl5pPr lvl="4" rtl="0">
              <a:spcBef>
                <a:spcPts val="0"/>
              </a:spcBef>
              <a:spcAft>
                <a:spcPts val="0"/>
              </a:spcAft>
              <a:buClr>
                <a:srgbClr val="C8E4DD"/>
              </a:buClr>
              <a:buSzPts val="3400"/>
              <a:buNone/>
              <a:defRPr sz="3400">
                <a:solidFill>
                  <a:srgbClr val="C8E4DD"/>
                </a:solidFill>
              </a:defRPr>
            </a:lvl5pPr>
            <a:lvl6pPr lvl="5" rtl="0">
              <a:spcBef>
                <a:spcPts val="0"/>
              </a:spcBef>
              <a:spcAft>
                <a:spcPts val="0"/>
              </a:spcAft>
              <a:buClr>
                <a:srgbClr val="C8E4DD"/>
              </a:buClr>
              <a:buSzPts val="3400"/>
              <a:buNone/>
              <a:defRPr sz="3400">
                <a:solidFill>
                  <a:srgbClr val="C8E4DD"/>
                </a:solidFill>
              </a:defRPr>
            </a:lvl6pPr>
            <a:lvl7pPr lvl="6" rtl="0">
              <a:spcBef>
                <a:spcPts val="0"/>
              </a:spcBef>
              <a:spcAft>
                <a:spcPts val="0"/>
              </a:spcAft>
              <a:buClr>
                <a:srgbClr val="C8E4DD"/>
              </a:buClr>
              <a:buSzPts val="3400"/>
              <a:buNone/>
              <a:defRPr sz="3400">
                <a:solidFill>
                  <a:srgbClr val="C8E4DD"/>
                </a:solidFill>
              </a:defRPr>
            </a:lvl7pPr>
            <a:lvl8pPr lvl="7" rtl="0">
              <a:spcBef>
                <a:spcPts val="0"/>
              </a:spcBef>
              <a:spcAft>
                <a:spcPts val="0"/>
              </a:spcAft>
              <a:buClr>
                <a:srgbClr val="C8E4DD"/>
              </a:buClr>
              <a:buSzPts val="3400"/>
              <a:buNone/>
              <a:defRPr sz="3400">
                <a:solidFill>
                  <a:srgbClr val="C8E4DD"/>
                </a:solidFill>
              </a:defRPr>
            </a:lvl8pPr>
            <a:lvl9pPr lvl="8" rtl="0">
              <a:spcBef>
                <a:spcPts val="0"/>
              </a:spcBef>
              <a:spcAft>
                <a:spcPts val="0"/>
              </a:spcAft>
              <a:buClr>
                <a:srgbClr val="C8E4DD"/>
              </a:buClr>
              <a:buSzPts val="3400"/>
              <a:buNone/>
              <a:defRPr sz="3400">
                <a:solidFill>
                  <a:srgbClr val="C8E4DD"/>
                </a:solidFill>
              </a:defRPr>
            </a:lvl9pPr>
          </a:lstStyle>
          <a:p/>
        </p:txBody>
      </p:sp>
      <p:sp>
        <p:nvSpPr>
          <p:cNvPr id="27" name="Google Shape;27;p6"/>
          <p:cNvSpPr txBox="1"/>
          <p:nvPr>
            <p:ph idx="1" type="subTitle"/>
          </p:nvPr>
        </p:nvSpPr>
        <p:spPr>
          <a:xfrm>
            <a:off x="447350" y="2720700"/>
            <a:ext cx="3707700" cy="3489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FFFFFF"/>
              </a:buClr>
              <a:buSzPts val="1800"/>
              <a:buFont typeface="Cardo"/>
              <a:buNone/>
              <a:defRPr i="1">
                <a:solidFill>
                  <a:srgbClr val="FFFFFF"/>
                </a:solidFill>
                <a:latin typeface="Cardo"/>
                <a:ea typeface="Cardo"/>
                <a:cs typeface="Cardo"/>
                <a:sym typeface="Card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8" name="Google Shape;28;p6"/>
          <p:cNvPicPr preferRelativeResize="0"/>
          <p:nvPr/>
        </p:nvPicPr>
        <p:blipFill rotWithShape="1">
          <a:blip r:embed="rId4">
            <a:alphaModFix/>
          </a:blip>
          <a:srcRect b="0" l="0" r="0" t="0"/>
          <a:stretch/>
        </p:blipFill>
        <p:spPr>
          <a:xfrm>
            <a:off x="4905050" y="904550"/>
            <a:ext cx="4238950" cy="42389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blue">
  <p:cSld name="CUSTOM_4_1_1_1_1_1_1_1_1_1">
    <p:bg>
      <p:bgPr>
        <a:solidFill>
          <a:schemeClr val="dk1"/>
        </a:solidFill>
      </p:bgPr>
    </p:bg>
    <p:spTree>
      <p:nvGrpSpPr>
        <p:cNvPr id="29" name="Shape 29"/>
        <p:cNvGrpSpPr/>
        <p:nvPr/>
      </p:nvGrpSpPr>
      <p:grpSpPr>
        <a:xfrm>
          <a:off x="0" y="0"/>
          <a:ext cx="0" cy="0"/>
          <a:chOff x="0" y="0"/>
          <a:chExt cx="0" cy="0"/>
        </a:xfrm>
      </p:grpSpPr>
      <p:pic>
        <p:nvPicPr>
          <p:cNvPr id="30" name="Google Shape;30;p7"/>
          <p:cNvPicPr preferRelativeResize="0"/>
          <p:nvPr/>
        </p:nvPicPr>
        <p:blipFill>
          <a:blip r:embed="rId2">
            <a:alphaModFix/>
          </a:blip>
          <a:stretch>
            <a:fillRect/>
          </a:stretch>
        </p:blipFill>
        <p:spPr>
          <a:xfrm>
            <a:off x="8487075" y="4653475"/>
            <a:ext cx="206918" cy="211776"/>
          </a:xfrm>
          <a:prstGeom prst="rect">
            <a:avLst/>
          </a:prstGeom>
          <a:noFill/>
          <a:ln>
            <a:noFill/>
          </a:ln>
        </p:spPr>
      </p:pic>
      <p:pic>
        <p:nvPicPr>
          <p:cNvPr id="31" name="Google Shape;31;p7"/>
          <p:cNvPicPr preferRelativeResize="0"/>
          <p:nvPr/>
        </p:nvPicPr>
        <p:blipFill rotWithShape="1">
          <a:blip r:embed="rId3">
            <a:alphaModFix/>
          </a:blip>
          <a:srcRect b="-10" l="56718" r="13245" t="0"/>
          <a:stretch/>
        </p:blipFill>
        <p:spPr>
          <a:xfrm>
            <a:off x="8462975" y="4655300"/>
            <a:ext cx="252400" cy="2117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With header bar">
  <p:cSld name="CUSTOM_4_1_1_1_1_1">
    <p:bg>
      <p:bgPr>
        <a:solidFill>
          <a:schemeClr val="lt1"/>
        </a:solidFill>
      </p:bgPr>
    </p:bg>
    <p:spTree>
      <p:nvGrpSpPr>
        <p:cNvPr id="32" name="Shape 32"/>
        <p:cNvGrpSpPr/>
        <p:nvPr/>
      </p:nvGrpSpPr>
      <p:grpSpPr>
        <a:xfrm>
          <a:off x="0" y="0"/>
          <a:ext cx="0" cy="0"/>
          <a:chOff x="0" y="0"/>
          <a:chExt cx="0" cy="0"/>
        </a:xfrm>
      </p:grpSpPr>
      <p:sp>
        <p:nvSpPr>
          <p:cNvPr id="33" name="Google Shape;33;p8"/>
          <p:cNvSpPr txBox="1"/>
          <p:nvPr>
            <p:ph type="title"/>
          </p:nvPr>
        </p:nvSpPr>
        <p:spPr>
          <a:xfrm>
            <a:off x="450000" y="736950"/>
            <a:ext cx="8189400" cy="572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2900"/>
              <a:buFont typeface="Lexend Deca"/>
              <a:buNone/>
              <a:defRPr>
                <a:solidFill>
                  <a:schemeClr val="dk1"/>
                </a:solidFill>
                <a:latin typeface="Lexend Deca"/>
                <a:ea typeface="Lexend Deca"/>
                <a:cs typeface="Lexend Deca"/>
                <a:sym typeface="Lexend Deca"/>
              </a:defRPr>
            </a:lvl1pPr>
            <a:lvl2pPr lvl="1" rtl="0" algn="l">
              <a:lnSpc>
                <a:spcPct val="100000"/>
              </a:lnSpc>
              <a:spcBef>
                <a:spcPts val="0"/>
              </a:spcBef>
              <a:spcAft>
                <a:spcPts val="0"/>
              </a:spcAft>
              <a:buClr>
                <a:schemeClr val="accent2"/>
              </a:buClr>
              <a:buSzPts val="2900"/>
              <a:buNone/>
              <a:defRPr sz="2900">
                <a:solidFill>
                  <a:schemeClr val="accent2"/>
                </a:solidFill>
              </a:defRPr>
            </a:lvl2pPr>
            <a:lvl3pPr lvl="2" rtl="0" algn="l">
              <a:lnSpc>
                <a:spcPct val="100000"/>
              </a:lnSpc>
              <a:spcBef>
                <a:spcPts val="0"/>
              </a:spcBef>
              <a:spcAft>
                <a:spcPts val="0"/>
              </a:spcAft>
              <a:buClr>
                <a:schemeClr val="accent2"/>
              </a:buClr>
              <a:buSzPts val="2900"/>
              <a:buNone/>
              <a:defRPr sz="2900">
                <a:solidFill>
                  <a:schemeClr val="accent2"/>
                </a:solidFill>
              </a:defRPr>
            </a:lvl3pPr>
            <a:lvl4pPr lvl="3" rtl="0" algn="l">
              <a:lnSpc>
                <a:spcPct val="100000"/>
              </a:lnSpc>
              <a:spcBef>
                <a:spcPts val="0"/>
              </a:spcBef>
              <a:spcAft>
                <a:spcPts val="0"/>
              </a:spcAft>
              <a:buClr>
                <a:schemeClr val="accent2"/>
              </a:buClr>
              <a:buSzPts val="2900"/>
              <a:buNone/>
              <a:defRPr sz="2900">
                <a:solidFill>
                  <a:schemeClr val="accent2"/>
                </a:solidFill>
              </a:defRPr>
            </a:lvl4pPr>
            <a:lvl5pPr lvl="4" rtl="0" algn="l">
              <a:lnSpc>
                <a:spcPct val="100000"/>
              </a:lnSpc>
              <a:spcBef>
                <a:spcPts val="0"/>
              </a:spcBef>
              <a:spcAft>
                <a:spcPts val="0"/>
              </a:spcAft>
              <a:buClr>
                <a:schemeClr val="accent2"/>
              </a:buClr>
              <a:buSzPts val="2900"/>
              <a:buNone/>
              <a:defRPr sz="2900">
                <a:solidFill>
                  <a:schemeClr val="accent2"/>
                </a:solidFill>
              </a:defRPr>
            </a:lvl5pPr>
            <a:lvl6pPr lvl="5" rtl="0" algn="l">
              <a:lnSpc>
                <a:spcPct val="100000"/>
              </a:lnSpc>
              <a:spcBef>
                <a:spcPts val="0"/>
              </a:spcBef>
              <a:spcAft>
                <a:spcPts val="0"/>
              </a:spcAft>
              <a:buClr>
                <a:schemeClr val="accent2"/>
              </a:buClr>
              <a:buSzPts val="2900"/>
              <a:buNone/>
              <a:defRPr sz="2900">
                <a:solidFill>
                  <a:schemeClr val="accent2"/>
                </a:solidFill>
              </a:defRPr>
            </a:lvl6pPr>
            <a:lvl7pPr lvl="6" rtl="0" algn="l">
              <a:lnSpc>
                <a:spcPct val="100000"/>
              </a:lnSpc>
              <a:spcBef>
                <a:spcPts val="0"/>
              </a:spcBef>
              <a:spcAft>
                <a:spcPts val="0"/>
              </a:spcAft>
              <a:buClr>
                <a:schemeClr val="accent2"/>
              </a:buClr>
              <a:buSzPts val="2900"/>
              <a:buNone/>
              <a:defRPr sz="2900">
                <a:solidFill>
                  <a:schemeClr val="accent2"/>
                </a:solidFill>
              </a:defRPr>
            </a:lvl7pPr>
            <a:lvl8pPr lvl="7" rtl="0" algn="l">
              <a:lnSpc>
                <a:spcPct val="100000"/>
              </a:lnSpc>
              <a:spcBef>
                <a:spcPts val="0"/>
              </a:spcBef>
              <a:spcAft>
                <a:spcPts val="0"/>
              </a:spcAft>
              <a:buClr>
                <a:schemeClr val="accent2"/>
              </a:buClr>
              <a:buSzPts val="2900"/>
              <a:buNone/>
              <a:defRPr sz="2900">
                <a:solidFill>
                  <a:schemeClr val="accent2"/>
                </a:solidFill>
              </a:defRPr>
            </a:lvl8pPr>
            <a:lvl9pPr lvl="8" rtl="0" algn="l">
              <a:lnSpc>
                <a:spcPct val="100000"/>
              </a:lnSpc>
              <a:spcBef>
                <a:spcPts val="0"/>
              </a:spcBef>
              <a:spcAft>
                <a:spcPts val="0"/>
              </a:spcAft>
              <a:buClr>
                <a:schemeClr val="accent2"/>
              </a:buClr>
              <a:buSzPts val="2900"/>
              <a:buNone/>
              <a:defRPr sz="2900">
                <a:solidFill>
                  <a:schemeClr val="accent2"/>
                </a:solidFill>
              </a:defRPr>
            </a:lvl9pPr>
          </a:lstStyle>
          <a:p/>
        </p:txBody>
      </p:sp>
      <p:sp>
        <p:nvSpPr>
          <p:cNvPr id="34" name="Google Shape;34;p8"/>
          <p:cNvSpPr txBox="1"/>
          <p:nvPr>
            <p:ph idx="1" type="subTitle"/>
          </p:nvPr>
        </p:nvSpPr>
        <p:spPr>
          <a:xfrm>
            <a:off x="1369425" y="4763"/>
            <a:ext cx="1379100" cy="278400"/>
          </a:xfrm>
          <a:prstGeom prst="rect">
            <a:avLst/>
          </a:prstGeom>
          <a:noFill/>
          <a:ln cap="flat" cmpd="sng" w="9525">
            <a:solidFill>
              <a:schemeClr val="dk1"/>
            </a:solidFill>
            <a:prstDash val="solid"/>
            <a:round/>
            <a:headEnd len="sm" w="sm" type="none"/>
            <a:tailEnd len="sm" w="sm" type="none"/>
          </a:ln>
        </p:spPr>
        <p:txBody>
          <a:bodyPr anchorCtr="0" anchor="ctr" bIns="0" lIns="90000" spcFirstLastPara="1" rIns="0" wrap="square" tIns="0">
            <a:noAutofit/>
          </a:bodyPr>
          <a:lstStyle>
            <a:lvl1pPr lvl="0" rtl="0" algn="l">
              <a:lnSpc>
                <a:spcPct val="115000"/>
              </a:lnSpc>
              <a:spcBef>
                <a:spcPts val="0"/>
              </a:spcBef>
              <a:spcAft>
                <a:spcPts val="0"/>
              </a:spcAft>
              <a:buSzPts val="1000"/>
              <a:buFont typeface="Lexend Deca"/>
              <a:buNone/>
              <a:defRPr sz="1000">
                <a:latin typeface="Lexend Deca"/>
                <a:ea typeface="Lexend Deca"/>
                <a:cs typeface="Lexend Deca"/>
                <a:sym typeface="Lexend Deca"/>
              </a:defRPr>
            </a:lvl1pPr>
            <a:lvl2pPr lvl="1" rtl="0" algn="l">
              <a:lnSpc>
                <a:spcPct val="115000"/>
              </a:lnSpc>
              <a:spcBef>
                <a:spcPts val="0"/>
              </a:spcBef>
              <a:spcAft>
                <a:spcPts val="0"/>
              </a:spcAft>
              <a:buSzPts val="1200"/>
              <a:buFont typeface="Lexend Deca"/>
              <a:buNone/>
              <a:defRPr>
                <a:latin typeface="Lexend Deca"/>
                <a:ea typeface="Lexend Deca"/>
                <a:cs typeface="Lexend Deca"/>
                <a:sym typeface="Lexend Deca"/>
              </a:defRPr>
            </a:lvl2pPr>
            <a:lvl3pPr lvl="2" rtl="0" algn="l">
              <a:lnSpc>
                <a:spcPct val="115000"/>
              </a:lnSpc>
              <a:spcBef>
                <a:spcPts val="800"/>
              </a:spcBef>
              <a:spcAft>
                <a:spcPts val="0"/>
              </a:spcAft>
              <a:buSzPts val="1200"/>
              <a:buFont typeface="Lexend Deca"/>
              <a:buNone/>
              <a:defRPr>
                <a:latin typeface="Lexend Deca"/>
                <a:ea typeface="Lexend Deca"/>
                <a:cs typeface="Lexend Deca"/>
                <a:sym typeface="Lexend Deca"/>
              </a:defRPr>
            </a:lvl3pPr>
            <a:lvl4pPr lvl="3" rtl="0" algn="l">
              <a:lnSpc>
                <a:spcPct val="115000"/>
              </a:lnSpc>
              <a:spcBef>
                <a:spcPts val="800"/>
              </a:spcBef>
              <a:spcAft>
                <a:spcPts val="0"/>
              </a:spcAft>
              <a:buSzPts val="1200"/>
              <a:buFont typeface="Lexend Deca"/>
              <a:buNone/>
              <a:defRPr>
                <a:latin typeface="Lexend Deca"/>
                <a:ea typeface="Lexend Deca"/>
                <a:cs typeface="Lexend Deca"/>
                <a:sym typeface="Lexend Deca"/>
              </a:defRPr>
            </a:lvl4pPr>
            <a:lvl5pPr lvl="4" rtl="0" algn="l">
              <a:lnSpc>
                <a:spcPct val="115000"/>
              </a:lnSpc>
              <a:spcBef>
                <a:spcPts val="800"/>
              </a:spcBef>
              <a:spcAft>
                <a:spcPts val="0"/>
              </a:spcAft>
              <a:buSzPts val="1200"/>
              <a:buFont typeface="Lexend Deca"/>
              <a:buNone/>
              <a:defRPr>
                <a:latin typeface="Lexend Deca"/>
                <a:ea typeface="Lexend Deca"/>
                <a:cs typeface="Lexend Deca"/>
                <a:sym typeface="Lexend Deca"/>
              </a:defRPr>
            </a:lvl5pPr>
            <a:lvl6pPr lvl="5" rtl="0" algn="l">
              <a:lnSpc>
                <a:spcPct val="115000"/>
              </a:lnSpc>
              <a:spcBef>
                <a:spcPts val="800"/>
              </a:spcBef>
              <a:spcAft>
                <a:spcPts val="0"/>
              </a:spcAft>
              <a:buSzPts val="1200"/>
              <a:buFont typeface="Lexend Deca"/>
              <a:buNone/>
              <a:defRPr>
                <a:latin typeface="Lexend Deca"/>
                <a:ea typeface="Lexend Deca"/>
                <a:cs typeface="Lexend Deca"/>
                <a:sym typeface="Lexend Deca"/>
              </a:defRPr>
            </a:lvl6pPr>
            <a:lvl7pPr lvl="6" rtl="0" algn="l">
              <a:lnSpc>
                <a:spcPct val="115000"/>
              </a:lnSpc>
              <a:spcBef>
                <a:spcPts val="800"/>
              </a:spcBef>
              <a:spcAft>
                <a:spcPts val="0"/>
              </a:spcAft>
              <a:buSzPts val="1200"/>
              <a:buFont typeface="Lexend Deca"/>
              <a:buNone/>
              <a:defRPr>
                <a:latin typeface="Lexend Deca"/>
                <a:ea typeface="Lexend Deca"/>
                <a:cs typeface="Lexend Deca"/>
                <a:sym typeface="Lexend Deca"/>
              </a:defRPr>
            </a:lvl7pPr>
            <a:lvl8pPr lvl="7" rtl="0" algn="l">
              <a:lnSpc>
                <a:spcPct val="115000"/>
              </a:lnSpc>
              <a:spcBef>
                <a:spcPts val="800"/>
              </a:spcBef>
              <a:spcAft>
                <a:spcPts val="0"/>
              </a:spcAft>
              <a:buSzPts val="1200"/>
              <a:buFont typeface="Lexend Deca"/>
              <a:buNone/>
              <a:defRPr>
                <a:latin typeface="Lexend Deca"/>
                <a:ea typeface="Lexend Deca"/>
                <a:cs typeface="Lexend Deca"/>
                <a:sym typeface="Lexend Deca"/>
              </a:defRPr>
            </a:lvl8pPr>
            <a:lvl9pPr lvl="8" rtl="0" algn="l">
              <a:lnSpc>
                <a:spcPct val="115000"/>
              </a:lnSpc>
              <a:spcBef>
                <a:spcPts val="800"/>
              </a:spcBef>
              <a:spcAft>
                <a:spcPts val="800"/>
              </a:spcAft>
              <a:buSzPts val="1200"/>
              <a:buFont typeface="Lexend Deca"/>
              <a:buNone/>
              <a:defRPr>
                <a:latin typeface="Lexend Deca"/>
                <a:ea typeface="Lexend Deca"/>
                <a:cs typeface="Lexend Deca"/>
                <a:sym typeface="Lexend Deca"/>
              </a:defRPr>
            </a:lvl9pPr>
          </a:lstStyle>
          <a:p/>
        </p:txBody>
      </p:sp>
      <p:sp>
        <p:nvSpPr>
          <p:cNvPr id="35" name="Google Shape;35;p8"/>
          <p:cNvSpPr txBox="1"/>
          <p:nvPr>
            <p:ph idx="2" type="subTitle"/>
          </p:nvPr>
        </p:nvSpPr>
        <p:spPr>
          <a:xfrm>
            <a:off x="-5425" y="4763"/>
            <a:ext cx="1379100" cy="27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0000" spcFirstLastPara="1" rIns="120775" wrap="square" tIns="91425">
            <a:noAutofit/>
          </a:bodyPr>
          <a:lstStyle>
            <a:lvl1pPr lvl="0" rtl="0" algn="l">
              <a:lnSpc>
                <a:spcPct val="115000"/>
              </a:lnSpc>
              <a:spcBef>
                <a:spcPts val="0"/>
              </a:spcBef>
              <a:spcAft>
                <a:spcPts val="0"/>
              </a:spcAft>
              <a:buClr>
                <a:srgbClr val="FFFFFF"/>
              </a:buClr>
              <a:buSzPts val="1000"/>
              <a:buFont typeface="Lexend Deca"/>
              <a:buNone/>
              <a:defRPr sz="1000">
                <a:solidFill>
                  <a:srgbClr val="FFFFFF"/>
                </a:solidFill>
                <a:latin typeface="Lexend Deca"/>
                <a:ea typeface="Lexend Deca"/>
                <a:cs typeface="Lexend Deca"/>
                <a:sym typeface="Lexend Deca"/>
              </a:defRPr>
            </a:lvl1pPr>
            <a:lvl2pPr lvl="1" rtl="0" algn="l">
              <a:lnSpc>
                <a:spcPct val="115000"/>
              </a:lnSpc>
              <a:spcBef>
                <a:spcPts val="0"/>
              </a:spcBef>
              <a:spcAft>
                <a:spcPts val="0"/>
              </a:spcAft>
              <a:buSzPts val="1200"/>
              <a:buFont typeface="Lexend Deca"/>
              <a:buNone/>
              <a:defRPr>
                <a:latin typeface="Lexend Deca"/>
                <a:ea typeface="Lexend Deca"/>
                <a:cs typeface="Lexend Deca"/>
                <a:sym typeface="Lexend Deca"/>
              </a:defRPr>
            </a:lvl2pPr>
            <a:lvl3pPr lvl="2" rtl="0" algn="l">
              <a:lnSpc>
                <a:spcPct val="115000"/>
              </a:lnSpc>
              <a:spcBef>
                <a:spcPts val="0"/>
              </a:spcBef>
              <a:spcAft>
                <a:spcPts val="0"/>
              </a:spcAft>
              <a:buSzPts val="1200"/>
              <a:buFont typeface="Lexend Deca"/>
              <a:buNone/>
              <a:defRPr>
                <a:latin typeface="Lexend Deca"/>
                <a:ea typeface="Lexend Deca"/>
                <a:cs typeface="Lexend Deca"/>
                <a:sym typeface="Lexend Deca"/>
              </a:defRPr>
            </a:lvl3pPr>
            <a:lvl4pPr lvl="3" rtl="0" algn="l">
              <a:lnSpc>
                <a:spcPct val="115000"/>
              </a:lnSpc>
              <a:spcBef>
                <a:spcPts val="0"/>
              </a:spcBef>
              <a:spcAft>
                <a:spcPts val="0"/>
              </a:spcAft>
              <a:buSzPts val="1200"/>
              <a:buFont typeface="Lexend Deca"/>
              <a:buNone/>
              <a:defRPr>
                <a:latin typeface="Lexend Deca"/>
                <a:ea typeface="Lexend Deca"/>
                <a:cs typeface="Lexend Deca"/>
                <a:sym typeface="Lexend Deca"/>
              </a:defRPr>
            </a:lvl4pPr>
            <a:lvl5pPr lvl="4" rtl="0" algn="l">
              <a:lnSpc>
                <a:spcPct val="115000"/>
              </a:lnSpc>
              <a:spcBef>
                <a:spcPts val="0"/>
              </a:spcBef>
              <a:spcAft>
                <a:spcPts val="0"/>
              </a:spcAft>
              <a:buSzPts val="1200"/>
              <a:buFont typeface="Lexend Deca"/>
              <a:buNone/>
              <a:defRPr>
                <a:latin typeface="Lexend Deca"/>
                <a:ea typeface="Lexend Deca"/>
                <a:cs typeface="Lexend Deca"/>
                <a:sym typeface="Lexend Deca"/>
              </a:defRPr>
            </a:lvl5pPr>
            <a:lvl6pPr lvl="5" rtl="0" algn="l">
              <a:lnSpc>
                <a:spcPct val="115000"/>
              </a:lnSpc>
              <a:spcBef>
                <a:spcPts val="0"/>
              </a:spcBef>
              <a:spcAft>
                <a:spcPts val="0"/>
              </a:spcAft>
              <a:buSzPts val="1200"/>
              <a:buFont typeface="Lexend Deca"/>
              <a:buNone/>
              <a:defRPr>
                <a:latin typeface="Lexend Deca"/>
                <a:ea typeface="Lexend Deca"/>
                <a:cs typeface="Lexend Deca"/>
                <a:sym typeface="Lexend Deca"/>
              </a:defRPr>
            </a:lvl6pPr>
            <a:lvl7pPr lvl="6" rtl="0" algn="l">
              <a:lnSpc>
                <a:spcPct val="115000"/>
              </a:lnSpc>
              <a:spcBef>
                <a:spcPts val="0"/>
              </a:spcBef>
              <a:spcAft>
                <a:spcPts val="0"/>
              </a:spcAft>
              <a:buSzPts val="1200"/>
              <a:buFont typeface="Lexend Deca"/>
              <a:buNone/>
              <a:defRPr>
                <a:latin typeface="Lexend Deca"/>
                <a:ea typeface="Lexend Deca"/>
                <a:cs typeface="Lexend Deca"/>
                <a:sym typeface="Lexend Deca"/>
              </a:defRPr>
            </a:lvl7pPr>
            <a:lvl8pPr lvl="7" rtl="0" algn="l">
              <a:lnSpc>
                <a:spcPct val="115000"/>
              </a:lnSpc>
              <a:spcBef>
                <a:spcPts val="0"/>
              </a:spcBef>
              <a:spcAft>
                <a:spcPts val="0"/>
              </a:spcAft>
              <a:buSzPts val="1200"/>
              <a:buFont typeface="Lexend Deca"/>
              <a:buNone/>
              <a:defRPr>
                <a:latin typeface="Lexend Deca"/>
                <a:ea typeface="Lexend Deca"/>
                <a:cs typeface="Lexend Deca"/>
                <a:sym typeface="Lexend Deca"/>
              </a:defRPr>
            </a:lvl8pPr>
            <a:lvl9pPr lvl="8" rtl="0" algn="l">
              <a:lnSpc>
                <a:spcPct val="115000"/>
              </a:lnSpc>
              <a:spcBef>
                <a:spcPts val="0"/>
              </a:spcBef>
              <a:spcAft>
                <a:spcPts val="0"/>
              </a:spcAft>
              <a:buSzPts val="1200"/>
              <a:buFont typeface="Lexend Deca"/>
              <a:buNone/>
              <a:defRPr>
                <a:latin typeface="Lexend Deca"/>
                <a:ea typeface="Lexend Deca"/>
                <a:cs typeface="Lexend Deca"/>
                <a:sym typeface="Lexend Deca"/>
              </a:defRPr>
            </a:lvl9pPr>
          </a:lstStyle>
          <a:p/>
        </p:txBody>
      </p:sp>
      <p:pic>
        <p:nvPicPr>
          <p:cNvPr id="36" name="Google Shape;36;p8"/>
          <p:cNvPicPr preferRelativeResize="0"/>
          <p:nvPr/>
        </p:nvPicPr>
        <p:blipFill rotWithShape="1">
          <a:blip r:embed="rId2">
            <a:alphaModFix/>
          </a:blip>
          <a:srcRect b="0" l="0" r="0" t="0"/>
          <a:stretch/>
        </p:blipFill>
        <p:spPr>
          <a:xfrm>
            <a:off x="8487075" y="4653475"/>
            <a:ext cx="206918" cy="211776"/>
          </a:xfrm>
          <a:prstGeom prst="rect">
            <a:avLst/>
          </a:prstGeom>
          <a:noFill/>
          <a:ln>
            <a:noFill/>
          </a:ln>
        </p:spPr>
      </p:pic>
      <p:sp>
        <p:nvSpPr>
          <p:cNvPr id="37" name="Google Shape;37;p8"/>
          <p:cNvSpPr txBox="1"/>
          <p:nvPr>
            <p:ph idx="3" type="body"/>
          </p:nvPr>
        </p:nvSpPr>
        <p:spPr>
          <a:xfrm>
            <a:off x="455250" y="1763425"/>
            <a:ext cx="6864900" cy="3101700"/>
          </a:xfrm>
          <a:prstGeom prst="rect">
            <a:avLst/>
          </a:prstGeom>
          <a:noFill/>
          <a:ln>
            <a:noFill/>
          </a:ln>
        </p:spPr>
        <p:txBody>
          <a:bodyPr anchorCtr="0" anchor="t" bIns="0" lIns="0" spcFirstLastPara="1" rIns="0" wrap="square" tIns="0">
            <a:noAutofit/>
          </a:bodyPr>
          <a:lstStyle>
            <a:lvl1pPr indent="-330200" lvl="0" marL="457200" rtl="0" algn="l">
              <a:lnSpc>
                <a:spcPct val="115000"/>
              </a:lnSpc>
              <a:spcBef>
                <a:spcPts val="0"/>
              </a:spcBef>
              <a:spcAft>
                <a:spcPts val="0"/>
              </a:spcAft>
              <a:buSzPts val="1600"/>
              <a:buChar char="■"/>
              <a:defRPr/>
            </a:lvl1pPr>
            <a:lvl2pPr indent="-304800" lvl="1" marL="914400" rtl="0" algn="l">
              <a:lnSpc>
                <a:spcPct val="115000"/>
              </a:lnSpc>
              <a:spcBef>
                <a:spcPts val="800"/>
              </a:spcBef>
              <a:spcAft>
                <a:spcPts val="0"/>
              </a:spcAft>
              <a:buSzPts val="1200"/>
              <a:buChar char="■"/>
              <a:defRPr/>
            </a:lvl2pPr>
            <a:lvl3pPr indent="-304800" lvl="2" marL="1371600" rtl="0" algn="l">
              <a:lnSpc>
                <a:spcPct val="115000"/>
              </a:lnSpc>
              <a:spcBef>
                <a:spcPts val="800"/>
              </a:spcBef>
              <a:spcAft>
                <a:spcPts val="0"/>
              </a:spcAft>
              <a:buSzPts val="1200"/>
              <a:buChar char="■"/>
              <a:defRPr/>
            </a:lvl3pPr>
            <a:lvl4pPr indent="-304800" lvl="3" marL="1828800" rtl="0" algn="l">
              <a:lnSpc>
                <a:spcPct val="115000"/>
              </a:lnSpc>
              <a:spcBef>
                <a:spcPts val="800"/>
              </a:spcBef>
              <a:spcAft>
                <a:spcPts val="0"/>
              </a:spcAft>
              <a:buSzPts val="1200"/>
              <a:buChar char="●"/>
              <a:defRPr/>
            </a:lvl4pPr>
            <a:lvl5pPr indent="-304800" lvl="4" marL="2286000" rtl="0" algn="l">
              <a:lnSpc>
                <a:spcPct val="115000"/>
              </a:lnSpc>
              <a:spcBef>
                <a:spcPts val="800"/>
              </a:spcBef>
              <a:spcAft>
                <a:spcPts val="0"/>
              </a:spcAft>
              <a:buSzPts val="1200"/>
              <a:buChar char="■"/>
              <a:defRPr/>
            </a:lvl5pPr>
            <a:lvl6pPr indent="-304800" lvl="5" marL="2743200" rtl="0" algn="l">
              <a:lnSpc>
                <a:spcPct val="115000"/>
              </a:lnSpc>
              <a:spcBef>
                <a:spcPts val="800"/>
              </a:spcBef>
              <a:spcAft>
                <a:spcPts val="0"/>
              </a:spcAft>
              <a:buSzPts val="1200"/>
              <a:buChar char="■"/>
              <a:defRPr/>
            </a:lvl6pPr>
            <a:lvl7pPr indent="-304800" lvl="6" marL="3200400" rtl="0" algn="l">
              <a:lnSpc>
                <a:spcPct val="115000"/>
              </a:lnSpc>
              <a:spcBef>
                <a:spcPts val="800"/>
              </a:spcBef>
              <a:spcAft>
                <a:spcPts val="0"/>
              </a:spcAft>
              <a:buSzPts val="1200"/>
              <a:buChar char="●"/>
              <a:defRPr/>
            </a:lvl7pPr>
            <a:lvl8pPr indent="-304800" lvl="7" marL="3657600" rtl="0" algn="l">
              <a:lnSpc>
                <a:spcPct val="115000"/>
              </a:lnSpc>
              <a:spcBef>
                <a:spcPts val="800"/>
              </a:spcBef>
              <a:spcAft>
                <a:spcPts val="0"/>
              </a:spcAft>
              <a:buSzPts val="1200"/>
              <a:buChar char="■"/>
              <a:defRPr/>
            </a:lvl8pPr>
            <a:lvl9pPr indent="-304800" lvl="8" marL="4114800" rtl="0" algn="l">
              <a:lnSpc>
                <a:spcPct val="115000"/>
              </a:lnSpc>
              <a:spcBef>
                <a:spcPts val="800"/>
              </a:spcBef>
              <a:spcAft>
                <a:spcPts val="800"/>
              </a:spcAft>
              <a:buSzPts val="1200"/>
              <a:buChar char="■"/>
              <a:defRPr/>
            </a:lvl9pPr>
          </a:lstStyle>
          <a:p/>
        </p:txBody>
      </p:sp>
      <p:sp>
        <p:nvSpPr>
          <p:cNvPr id="38" name="Google Shape;38;p8"/>
          <p:cNvSpPr txBox="1"/>
          <p:nvPr>
            <p:ph idx="4" type="subTitle"/>
          </p:nvPr>
        </p:nvSpPr>
        <p:spPr>
          <a:xfrm>
            <a:off x="447350" y="1195650"/>
            <a:ext cx="3707700" cy="3489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600"/>
              <a:buFont typeface="Cardo"/>
              <a:buNone/>
              <a:defRPr i="1">
                <a:latin typeface="Cardo"/>
                <a:ea typeface="Cardo"/>
                <a:cs typeface="Cardo"/>
                <a:sym typeface="Cardo"/>
              </a:defRPr>
            </a:lvl1pPr>
            <a:lvl2pPr lvl="1" rtl="0" algn="l">
              <a:lnSpc>
                <a:spcPct val="115000"/>
              </a:lnSpc>
              <a:spcBef>
                <a:spcPts val="800"/>
              </a:spcBef>
              <a:spcAft>
                <a:spcPts val="0"/>
              </a:spcAft>
              <a:buSzPts val="1200"/>
              <a:buNone/>
              <a:defRPr/>
            </a:lvl2pPr>
            <a:lvl3pPr lvl="2" rtl="0" algn="l">
              <a:lnSpc>
                <a:spcPct val="115000"/>
              </a:lnSpc>
              <a:spcBef>
                <a:spcPts val="800"/>
              </a:spcBef>
              <a:spcAft>
                <a:spcPts val="0"/>
              </a:spcAft>
              <a:buSzPts val="1200"/>
              <a:buNone/>
              <a:defRPr/>
            </a:lvl3pPr>
            <a:lvl4pPr lvl="3" rtl="0" algn="l">
              <a:lnSpc>
                <a:spcPct val="115000"/>
              </a:lnSpc>
              <a:spcBef>
                <a:spcPts val="800"/>
              </a:spcBef>
              <a:spcAft>
                <a:spcPts val="0"/>
              </a:spcAft>
              <a:buSzPts val="1200"/>
              <a:buNone/>
              <a:defRPr/>
            </a:lvl4pPr>
            <a:lvl5pPr lvl="4" rtl="0" algn="l">
              <a:lnSpc>
                <a:spcPct val="115000"/>
              </a:lnSpc>
              <a:spcBef>
                <a:spcPts val="800"/>
              </a:spcBef>
              <a:spcAft>
                <a:spcPts val="0"/>
              </a:spcAft>
              <a:buSzPts val="1200"/>
              <a:buNone/>
              <a:defRPr/>
            </a:lvl5pPr>
            <a:lvl6pPr lvl="5" rtl="0" algn="l">
              <a:lnSpc>
                <a:spcPct val="115000"/>
              </a:lnSpc>
              <a:spcBef>
                <a:spcPts val="800"/>
              </a:spcBef>
              <a:spcAft>
                <a:spcPts val="0"/>
              </a:spcAft>
              <a:buSzPts val="1200"/>
              <a:buNone/>
              <a:defRPr/>
            </a:lvl6pPr>
            <a:lvl7pPr lvl="6" rtl="0" algn="l">
              <a:lnSpc>
                <a:spcPct val="115000"/>
              </a:lnSpc>
              <a:spcBef>
                <a:spcPts val="800"/>
              </a:spcBef>
              <a:spcAft>
                <a:spcPts val="0"/>
              </a:spcAft>
              <a:buSzPts val="1200"/>
              <a:buNone/>
              <a:defRPr/>
            </a:lvl7pPr>
            <a:lvl8pPr lvl="7" rtl="0" algn="l">
              <a:lnSpc>
                <a:spcPct val="115000"/>
              </a:lnSpc>
              <a:spcBef>
                <a:spcPts val="800"/>
              </a:spcBef>
              <a:spcAft>
                <a:spcPts val="0"/>
              </a:spcAft>
              <a:buSzPts val="1200"/>
              <a:buNone/>
              <a:defRPr/>
            </a:lvl8pPr>
            <a:lvl9pPr lvl="8" rtl="0" algn="l">
              <a:lnSpc>
                <a:spcPct val="115000"/>
              </a:lnSpc>
              <a:spcBef>
                <a:spcPts val="800"/>
              </a:spcBef>
              <a:spcAft>
                <a:spcPts val="80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9F7F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Font typeface="Playfair Display"/>
              <a:buNone/>
              <a:defRPr b="1" sz="2800">
                <a:solidFill>
                  <a:schemeClr val="dk1"/>
                </a:solidFill>
                <a:latin typeface="Playfair Display"/>
                <a:ea typeface="Playfair Display"/>
                <a:cs typeface="Playfair Display"/>
                <a:sym typeface="Playfair Display"/>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Cardo"/>
              <a:buChar char="●"/>
              <a:defRPr sz="1800">
                <a:solidFill>
                  <a:schemeClr val="dk2"/>
                </a:solidFill>
                <a:latin typeface="Cardo"/>
                <a:ea typeface="Cardo"/>
                <a:cs typeface="Cardo"/>
                <a:sym typeface="Cardo"/>
              </a:defRPr>
            </a:lvl1pPr>
            <a:lvl2pPr indent="-317500" lvl="1" marL="9144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2pPr>
            <a:lvl3pPr indent="-317500" lvl="2" marL="13716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3pPr>
            <a:lvl4pPr indent="-317500" lvl="3" marL="18288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4pPr>
            <a:lvl5pPr indent="-317500" lvl="4" marL="22860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5pPr>
            <a:lvl6pPr indent="-317500" lvl="5" marL="27432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6pPr>
            <a:lvl7pPr indent="-317500" lvl="6" marL="32004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7pPr>
            <a:lvl8pPr indent="-317500" lvl="7" marL="36576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8pPr>
            <a:lvl9pPr indent="-317500" lvl="8" marL="4114800" rtl="0">
              <a:lnSpc>
                <a:spcPct val="115000"/>
              </a:lnSpc>
              <a:spcBef>
                <a:spcPts val="0"/>
              </a:spcBef>
              <a:spcAft>
                <a:spcPts val="0"/>
              </a:spcAft>
              <a:buClr>
                <a:schemeClr val="dk2"/>
              </a:buClr>
              <a:buSzPts val="1400"/>
              <a:buFont typeface="Cardo"/>
              <a:buChar char="■"/>
              <a:defRPr>
                <a:solidFill>
                  <a:schemeClr val="dk2"/>
                </a:solidFill>
                <a:latin typeface="Cardo"/>
                <a:ea typeface="Cardo"/>
                <a:cs typeface="Cardo"/>
                <a:sym typeface="Card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1"/>
        </a:solidFill>
      </p:bgPr>
    </p:bg>
    <p:spTree>
      <p:nvGrpSpPr>
        <p:cNvPr id="42" name="Shape 42"/>
        <p:cNvGrpSpPr/>
        <p:nvPr/>
      </p:nvGrpSpPr>
      <p:grpSpPr>
        <a:xfrm>
          <a:off x="0" y="0"/>
          <a:ext cx="0" cy="0"/>
          <a:chOff x="0" y="0"/>
          <a:chExt cx="0" cy="0"/>
        </a:xfrm>
      </p:grpSpPr>
      <p:sp>
        <p:nvSpPr>
          <p:cNvPr id="43" name="Google Shape;43;p9"/>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GB" sz="11250">
                <a:solidFill>
                  <a:srgbClr val="2F2F2F"/>
                </a:solidFill>
                <a:highlight>
                  <a:srgbClr val="F9F7F1"/>
                </a:highlight>
                <a:latin typeface="Playfair Display"/>
                <a:ea typeface="Playfair Display"/>
                <a:cs typeface="Playfair Display"/>
                <a:sym typeface="Playfair Display"/>
              </a:rPr>
              <a:t>ELOQUENT</a:t>
            </a:r>
            <a:endParaRPr b="1"/>
          </a:p>
          <a:p>
            <a:pPr indent="0" lvl="0" marL="0" rtl="0" algn="ctr">
              <a:spcBef>
                <a:spcPts val="0"/>
              </a:spcBef>
              <a:spcAft>
                <a:spcPts val="0"/>
              </a:spcAft>
              <a:buNone/>
            </a:pPr>
            <a:r>
              <a:rPr b="1" lang="en-GB" sz="1833">
                <a:solidFill>
                  <a:srgbClr val="2F2F2F"/>
                </a:solidFill>
                <a:highlight>
                  <a:srgbClr val="F9F7F1"/>
                </a:highlight>
                <a:latin typeface="Playfair Display"/>
                <a:ea typeface="Playfair Display"/>
                <a:cs typeface="Playfair Display"/>
                <a:sym typeface="Playfair Display"/>
              </a:rPr>
              <a:t>EVALUATION OF GENERATIVE LANGUAGE MODEL QUALITY AND CHARACTERISTICS</a:t>
            </a:r>
            <a:endParaRPr b="1" sz="2972">
              <a:latin typeface="Playfair Display"/>
              <a:ea typeface="Playfair Display"/>
              <a:cs typeface="Playfair Display"/>
              <a:sym typeface="Playfair Display"/>
            </a:endParaRPr>
          </a:p>
          <a:p>
            <a:pPr indent="0" lvl="0" marL="0" rtl="0" algn="ctr">
              <a:spcBef>
                <a:spcPts val="0"/>
              </a:spcBef>
              <a:spcAft>
                <a:spcPts val="0"/>
              </a:spcAft>
              <a:buNone/>
            </a:pPr>
            <a:r>
              <a:t/>
            </a:r>
            <a:endParaRPr sz="1833">
              <a:solidFill>
                <a:srgbClr val="2F2F2F"/>
              </a:solidFill>
              <a:highlight>
                <a:srgbClr val="F9F7F1"/>
              </a:highlight>
            </a:endParaRPr>
          </a:p>
        </p:txBody>
      </p:sp>
      <p:sp>
        <p:nvSpPr>
          <p:cNvPr id="44" name="Google Shape;44;p9"/>
          <p:cNvSpPr txBox="1"/>
          <p:nvPr>
            <p:ph idx="1" type="subTitle"/>
          </p:nvPr>
        </p:nvSpPr>
        <p:spPr>
          <a:xfrm>
            <a:off x="311700" y="2624725"/>
            <a:ext cx="8520600" cy="251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GB" sz="1400">
                <a:latin typeface="Times New Roman"/>
                <a:ea typeface="Times New Roman"/>
                <a:cs typeface="Times New Roman"/>
                <a:sym typeface="Times New Roman"/>
              </a:rPr>
              <a:t>Jussi Karlgren</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Aarne Talman</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Magnus Sahlgren</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Ekaterina Artemova</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Ondrej Bojar</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Stergios Chatzikyriakidis</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Timothee Mickus</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Vladislav Mikhailov</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Erik Velldal</a:t>
            </a:r>
            <a:endParaRPr i="1" sz="1400">
              <a:latin typeface="Times New Roman"/>
              <a:ea typeface="Times New Roman"/>
              <a:cs typeface="Times New Roman"/>
              <a:sym typeface="Times New Roman"/>
            </a:endParaRPr>
          </a:p>
          <a:p>
            <a:pPr indent="0" lvl="0" marL="0" rtl="0" algn="ctr">
              <a:spcBef>
                <a:spcPts val="0"/>
              </a:spcBef>
              <a:spcAft>
                <a:spcPts val="0"/>
              </a:spcAft>
              <a:buNone/>
            </a:pPr>
            <a:r>
              <a:rPr i="1" lang="en-GB" sz="1400">
                <a:latin typeface="Times New Roman"/>
                <a:ea typeface="Times New Roman"/>
                <a:cs typeface="Times New Roman"/>
                <a:sym typeface="Times New Roman"/>
              </a:rPr>
              <a:t>Lilja Øvrelid</a:t>
            </a:r>
            <a:endParaRPr i="1" sz="1400">
              <a:latin typeface="Times New Roman"/>
              <a:ea typeface="Times New Roman"/>
              <a:cs typeface="Times New Roman"/>
              <a:sym typeface="Times New Roman"/>
            </a:endParaRPr>
          </a:p>
          <a:p>
            <a:pPr indent="0" lvl="0" marL="0" rtl="0" algn="ctr">
              <a:spcBef>
                <a:spcPts val="0"/>
              </a:spcBef>
              <a:spcAft>
                <a:spcPts val="0"/>
              </a:spcAft>
              <a:buNone/>
            </a:pPr>
            <a:r>
              <a:t/>
            </a:r>
            <a:endParaRPr i="1" sz="1400">
              <a:latin typeface="Times New Roman"/>
              <a:ea typeface="Times New Roman"/>
              <a:cs typeface="Times New Roman"/>
              <a:sym typeface="Times New Roman"/>
            </a:endParaRPr>
          </a:p>
        </p:txBody>
      </p:sp>
      <p:sp>
        <p:nvSpPr>
          <p:cNvPr id="45" name="Google Shape;45;p9"/>
          <p:cNvSpPr txBox="1"/>
          <p:nvPr/>
        </p:nvSpPr>
        <p:spPr>
          <a:xfrm rot="-1499832">
            <a:off x="-196549" y="611843"/>
            <a:ext cx="3584462" cy="466938"/>
          </a:xfrm>
          <a:prstGeom prst="rect">
            <a:avLst/>
          </a:prstGeom>
          <a:solidFill>
            <a:srgbClr val="F9F7F1"/>
          </a:solidFill>
          <a:ln cap="flat" cmpd="sng" w="9525">
            <a:solidFill>
              <a:srgbClr val="FF0000"/>
            </a:solidFill>
            <a:prstDash val="dot"/>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GB" sz="1833">
                <a:solidFill>
                  <a:srgbClr val="FF0000"/>
                </a:solidFill>
                <a:highlight>
                  <a:srgbClr val="F9F7F1"/>
                </a:highlight>
                <a:latin typeface="Playfair Display"/>
                <a:ea typeface="Playfair Display"/>
                <a:cs typeface="Playfair Display"/>
                <a:sym typeface="Playfair Display"/>
              </a:rPr>
              <a:t>Get ready for the 2</a:t>
            </a:r>
            <a:r>
              <a:rPr b="1" baseline="30000" lang="en-GB" sz="1833">
                <a:solidFill>
                  <a:srgbClr val="FF0000"/>
                </a:solidFill>
                <a:highlight>
                  <a:srgbClr val="F9F7F1"/>
                </a:highlight>
                <a:latin typeface="Playfair Display"/>
                <a:ea typeface="Playfair Display"/>
                <a:cs typeface="Playfair Display"/>
                <a:sym typeface="Playfair Display"/>
              </a:rPr>
              <a:t>nd</a:t>
            </a:r>
            <a:r>
              <a:rPr b="1" lang="en-GB" sz="1833">
                <a:solidFill>
                  <a:srgbClr val="FF0000"/>
                </a:solidFill>
                <a:highlight>
                  <a:srgbClr val="F9F7F1"/>
                </a:highlight>
                <a:latin typeface="Playfair Display"/>
                <a:ea typeface="Playfair Display"/>
                <a:cs typeface="Playfair Display"/>
                <a:sym typeface="Playfair Display"/>
              </a:rPr>
              <a:t> edition!</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600">
                <a:solidFill>
                  <a:srgbClr val="2F2F2F"/>
                </a:solidFill>
                <a:highlight>
                  <a:srgbClr val="F9F7F1"/>
                </a:highlight>
              </a:rPr>
              <a:t>First</a:t>
            </a:r>
            <a:r>
              <a:rPr lang="en-GB" sz="3600">
                <a:solidFill>
                  <a:srgbClr val="2F2F2F"/>
                </a:solidFill>
                <a:highlight>
                  <a:srgbClr val="F9F7F1"/>
                </a:highlight>
              </a:rPr>
              <a:t> ELOQUENT edition: 4 Tasks</a:t>
            </a:r>
            <a:endParaRPr sz="3600"/>
          </a:p>
        </p:txBody>
      </p:sp>
      <p:sp>
        <p:nvSpPr>
          <p:cNvPr id="51" name="Google Shape;51;p10"/>
          <p:cNvSpPr txBox="1"/>
          <p:nvPr>
            <p:ph idx="1" type="body"/>
          </p:nvPr>
        </p:nvSpPr>
        <p:spPr>
          <a:xfrm>
            <a:off x="311700" y="1575450"/>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rabicPeriod"/>
            </a:pPr>
            <a:r>
              <a:rPr b="1" lang="en-GB" sz="2000"/>
              <a:t>Quiz: </a:t>
            </a:r>
            <a:r>
              <a:rPr lang="en-GB" sz="2000"/>
              <a:t>Topical competence</a:t>
            </a:r>
            <a:endParaRPr sz="2000"/>
          </a:p>
          <a:p>
            <a:pPr indent="-355600" lvl="0" marL="457200" rtl="0" algn="l">
              <a:spcBef>
                <a:spcPts val="1000"/>
              </a:spcBef>
              <a:spcAft>
                <a:spcPts val="0"/>
              </a:spcAft>
              <a:buSzPts val="2000"/>
              <a:buAutoNum type="arabicPeriod"/>
            </a:pPr>
            <a:r>
              <a:rPr b="1" lang="en-GB" sz="2000"/>
              <a:t>Hallucigen</a:t>
            </a:r>
            <a:r>
              <a:rPr lang="en-GB" sz="2000"/>
              <a:t>: Veracity and Hallucination</a:t>
            </a:r>
            <a:endParaRPr sz="2000"/>
          </a:p>
          <a:p>
            <a:pPr indent="-355600" lvl="0" marL="457200" rtl="0" algn="l">
              <a:spcBef>
                <a:spcPts val="1000"/>
              </a:spcBef>
              <a:spcAft>
                <a:spcPts val="0"/>
              </a:spcAft>
              <a:buSzPts val="2000"/>
              <a:buAutoNum type="arabicPeriod"/>
            </a:pPr>
            <a:r>
              <a:rPr b="1" lang="en-GB" sz="2000"/>
              <a:t>Robustness: </a:t>
            </a:r>
            <a:r>
              <a:rPr lang="en-GB" sz="2000"/>
              <a:t>Handling variation</a:t>
            </a:r>
            <a:endParaRPr sz="2000"/>
          </a:p>
          <a:p>
            <a:pPr indent="-355600" lvl="0" marL="457200" rtl="0" algn="l">
              <a:spcBef>
                <a:spcPts val="1000"/>
              </a:spcBef>
              <a:spcAft>
                <a:spcPts val="1000"/>
              </a:spcAft>
              <a:buSzPts val="2000"/>
              <a:buAutoNum type="arabicPeriod"/>
            </a:pPr>
            <a:r>
              <a:rPr b="1" lang="en-GB" sz="2000"/>
              <a:t>Voight-Kampff: </a:t>
            </a:r>
            <a:r>
              <a:rPr lang="en-GB" sz="2000"/>
              <a:t>Identifying machine-generated text</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 level goals of ELOQUENT</a:t>
            </a:r>
            <a:endParaRPr/>
          </a:p>
        </p:txBody>
      </p:sp>
      <p:sp>
        <p:nvSpPr>
          <p:cNvPr id="57" name="Google Shape;57;p1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GB" sz="1700"/>
              <a:t>assessing </a:t>
            </a:r>
            <a:r>
              <a:rPr b="1" lang="en-GB" sz="1700"/>
              <a:t>Trustworthiness</a:t>
            </a:r>
            <a:r>
              <a:rPr lang="en-GB" sz="1700"/>
              <a:t>, a many-faceted notion which involves topical relevance and truthfulness, discourse competence, reasoning in language, controllability, and robustness across varied input.</a:t>
            </a:r>
            <a:endParaRPr sz="1700"/>
          </a:p>
          <a:p>
            <a:pPr indent="-336550" lvl="0" marL="457200" rtl="0" algn="l">
              <a:lnSpc>
                <a:spcPct val="100000"/>
              </a:lnSpc>
              <a:spcBef>
                <a:spcPts val="0"/>
              </a:spcBef>
              <a:spcAft>
                <a:spcPts val="0"/>
              </a:spcAft>
              <a:buSzPts val="1700"/>
              <a:buChar char="●"/>
            </a:pPr>
            <a:r>
              <a:rPr lang="en-GB" sz="1700"/>
              <a:t>exploring effects of </a:t>
            </a:r>
            <a:r>
              <a:rPr b="1" lang="en-GB" sz="1700"/>
              <a:t>Multi-linguality</a:t>
            </a:r>
            <a:r>
              <a:rPr lang="en-GB" sz="1700"/>
              <a:t> and the notion of </a:t>
            </a:r>
            <a:r>
              <a:rPr b="1" lang="en-GB" sz="1700"/>
              <a:t>Cultural fit</a:t>
            </a:r>
            <a:r>
              <a:rPr lang="en-GB" sz="1700"/>
              <a:t>: the suitability of a language model for some cultural and linguistic area. </a:t>
            </a:r>
            <a:endParaRPr sz="1700"/>
          </a:p>
          <a:p>
            <a:pPr indent="-336550" lvl="0" marL="457200" rtl="0" algn="l">
              <a:lnSpc>
                <a:spcPct val="100000"/>
              </a:lnSpc>
              <a:spcBef>
                <a:spcPts val="0"/>
              </a:spcBef>
              <a:spcAft>
                <a:spcPts val="0"/>
              </a:spcAft>
              <a:buSzPts val="1700"/>
              <a:buChar char="●"/>
            </a:pPr>
            <a:r>
              <a:rPr lang="en-GB" sz="1700"/>
              <a:t>probing the </a:t>
            </a:r>
            <a:r>
              <a:rPr b="1" lang="en-GB" sz="1700"/>
              <a:t>Limits of Language Models</a:t>
            </a:r>
            <a:r>
              <a:rPr lang="en-GB" sz="1700"/>
              <a:t>: what is world knowledge and what is generative capacity?</a:t>
            </a:r>
            <a:endParaRPr sz="1700"/>
          </a:p>
          <a:p>
            <a:pPr indent="-336550" lvl="0" marL="457200" rtl="0" algn="l">
              <a:lnSpc>
                <a:spcPct val="100000"/>
              </a:lnSpc>
              <a:spcBef>
                <a:spcPts val="0"/>
              </a:spcBef>
              <a:spcAft>
                <a:spcPts val="0"/>
              </a:spcAft>
              <a:buSzPts val="1700"/>
              <a:buChar char="●"/>
            </a:pPr>
            <a:r>
              <a:rPr lang="en-GB" sz="1700"/>
              <a:t>making use of </a:t>
            </a:r>
            <a:r>
              <a:rPr b="1" lang="en-GB" sz="1700"/>
              <a:t>Self-assessment</a:t>
            </a:r>
            <a:r>
              <a:rPr lang="en-GB" sz="1700"/>
              <a:t>: the reliability of a language model to assess the quality of itself or some other language model, using as little human effort as possible.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ELOQUENT is o</a:t>
            </a:r>
            <a:r>
              <a:rPr lang="en-GB"/>
              <a:t>f general interest</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63" name="Google Shape;63;p1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i="1">
              <a:latin typeface="Cardo"/>
              <a:ea typeface="Cardo"/>
              <a:cs typeface="Cardo"/>
              <a:sym typeface="Cardo"/>
            </a:endParaRPr>
          </a:p>
          <a:p>
            <a:pPr indent="-342900" lvl="0" marL="457200" rtl="0" algn="l">
              <a:spcBef>
                <a:spcPts val="1200"/>
              </a:spcBef>
              <a:spcAft>
                <a:spcPts val="0"/>
              </a:spcAft>
              <a:buSzPts val="1800"/>
              <a:buChar char="●"/>
            </a:pPr>
            <a:r>
              <a:rPr lang="en-GB"/>
              <a:t>Several EU projects with focus on evaluation and benchmarking</a:t>
            </a:r>
            <a:endParaRPr/>
          </a:p>
          <a:p>
            <a:pPr indent="-342900" lvl="0" marL="457200" rtl="0" algn="l">
              <a:spcBef>
                <a:spcPts val="0"/>
              </a:spcBef>
              <a:spcAft>
                <a:spcPts val="0"/>
              </a:spcAft>
              <a:buSzPts val="1800"/>
              <a:buChar char="●"/>
            </a:pPr>
            <a:r>
              <a:rPr lang="en-GB"/>
              <a:t>This work is aligned with several AIoD projects</a:t>
            </a:r>
            <a:endParaRPr/>
          </a:p>
          <a:p>
            <a:pPr indent="-342900" lvl="0" marL="457200" rtl="0" algn="l">
              <a:spcBef>
                <a:spcPts val="0"/>
              </a:spcBef>
              <a:spcAft>
                <a:spcPts val="0"/>
              </a:spcAft>
              <a:buSzPts val="1800"/>
              <a:buChar char="●"/>
            </a:pPr>
            <a:r>
              <a:rPr lang="en-GB"/>
              <a:t>ELOQUENT is part of the DeployAI project</a:t>
            </a:r>
            <a:endParaRPr/>
          </a:p>
          <a:p>
            <a:pPr indent="0" lvl="0" marL="0" rtl="0" algn="l">
              <a:spcBef>
                <a:spcPts val="1200"/>
              </a:spcBef>
              <a:spcAft>
                <a:spcPts val="1200"/>
              </a:spcAft>
              <a:buNone/>
            </a:pPr>
            <a:r>
              <a:t/>
            </a:r>
            <a:endParaRPr>
              <a:latin typeface="Cardo"/>
              <a:ea typeface="Cardo"/>
              <a:cs typeface="Cardo"/>
              <a:sym typeface="Card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tasks for the 2025 edition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39285"/>
              <a:buFont typeface="Arial"/>
              <a:buNone/>
            </a:pPr>
            <a:r>
              <a:rPr lang="en-GB"/>
              <a:t>Dictionary Definition task</a:t>
            </a:r>
            <a:endParaRPr/>
          </a:p>
        </p:txBody>
      </p:sp>
      <p:sp>
        <p:nvSpPr>
          <p:cNvPr id="74" name="Google Shape;7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dictionary board game which is marketed in various languages under various names (Balderdash, Fictionary, Rappakalja, ...) is based on a player picking a rare word from a dictionary and the other players writing sham definitions for the word. Each player then needs to identify which definition is the actual one and players gain points from fooling other players into believing their suggested definitions are the actual real one. </a:t>
            </a:r>
            <a:endParaRPr/>
          </a:p>
          <a:p>
            <a:pPr indent="0" lvl="0" marL="0" rtl="0" algn="l">
              <a:spcBef>
                <a:spcPts val="1200"/>
              </a:spcBef>
              <a:spcAft>
                <a:spcPts val="0"/>
              </a:spcAft>
              <a:buNone/>
            </a:pPr>
            <a:r>
              <a:rPr lang="en-GB"/>
              <a:t>A variant of this game will be given as a task</a:t>
            </a:r>
            <a:endParaRPr/>
          </a:p>
          <a:p>
            <a:pPr indent="0" lvl="0" marL="0" rtl="0" algn="l">
              <a:spcBef>
                <a:spcPts val="1200"/>
              </a:spcBef>
              <a:spcAft>
                <a:spcPts val="1200"/>
              </a:spcAft>
              <a:buNone/>
            </a:pPr>
            <a:r>
              <a:rPr lang="en-GB"/>
              <a:t>Entertaining low threshold entry level task for participant systems.  </a:t>
            </a:r>
            <a:endParaRPr/>
          </a:p>
        </p:txBody>
      </p:sp>
      <p:pic>
        <p:nvPicPr>
          <p:cNvPr id="75" name="Google Shape;75;p14"/>
          <p:cNvPicPr preferRelativeResize="0"/>
          <p:nvPr/>
        </p:nvPicPr>
        <p:blipFill>
          <a:blip r:embed="rId3">
            <a:alphaModFix/>
          </a:blip>
          <a:stretch>
            <a:fillRect/>
          </a:stretch>
        </p:blipFill>
        <p:spPr>
          <a:xfrm>
            <a:off x="7436175" y="3430750"/>
            <a:ext cx="1707824" cy="1712749"/>
          </a:xfrm>
          <a:prstGeom prst="rect">
            <a:avLst/>
          </a:prstGeom>
          <a:noFill/>
          <a:ln>
            <a:noFill/>
          </a:ln>
        </p:spPr>
      </p:pic>
      <p:sp>
        <p:nvSpPr>
          <p:cNvPr id="76" name="Google Shape;76;p14"/>
          <p:cNvSpPr txBox="1"/>
          <p:nvPr/>
        </p:nvSpPr>
        <p:spPr>
          <a:xfrm>
            <a:off x="5597600" y="21015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Can your LLM write convincing dictionary definitions?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Voight-Kampff task</a:t>
            </a:r>
            <a:endParaRPr b="0" sz="2000"/>
          </a:p>
        </p:txBody>
      </p:sp>
      <p:sp>
        <p:nvSpPr>
          <p:cNvPr id="82" name="Google Shape;8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Can we differentiate human-generated from AI-generated text?</a:t>
            </a:r>
            <a:endParaRPr/>
          </a:p>
          <a:p>
            <a:pPr indent="-342900" lvl="0" marL="457200" rtl="0" algn="l">
              <a:spcBef>
                <a:spcPts val="1200"/>
              </a:spcBef>
              <a:spcAft>
                <a:spcPts val="0"/>
              </a:spcAft>
              <a:buSzPts val="1800"/>
              <a:buChar char="●"/>
            </a:pPr>
            <a:r>
              <a:rPr lang="en-GB"/>
              <a:t>In collaboration with PAN lab</a:t>
            </a:r>
            <a:endParaRPr/>
          </a:p>
          <a:p>
            <a:pPr indent="-342900" lvl="0" marL="457200" rtl="0" algn="l">
              <a:spcBef>
                <a:spcPts val="0"/>
              </a:spcBef>
              <a:spcAft>
                <a:spcPts val="0"/>
              </a:spcAft>
              <a:buSzPts val="1800"/>
              <a:buChar char="●"/>
            </a:pPr>
            <a:r>
              <a:rPr lang="en-GB"/>
              <a:t>Builder-breaker set-up:</a:t>
            </a:r>
            <a:endParaRPr/>
          </a:p>
          <a:p>
            <a:pPr indent="-317500" lvl="1" marL="914400" rtl="0" algn="l">
              <a:spcBef>
                <a:spcPts val="0"/>
              </a:spcBef>
              <a:spcAft>
                <a:spcPts val="0"/>
              </a:spcAft>
              <a:buSzPts val="1400"/>
              <a:buChar char="○"/>
            </a:pPr>
            <a:r>
              <a:rPr lang="en-GB"/>
              <a:t>Participants in ELOQUENT generate texts</a:t>
            </a:r>
            <a:endParaRPr/>
          </a:p>
          <a:p>
            <a:pPr indent="-317500" lvl="1" marL="914400" rtl="0" algn="l">
              <a:spcBef>
                <a:spcPts val="0"/>
              </a:spcBef>
              <a:spcAft>
                <a:spcPts val="0"/>
              </a:spcAft>
              <a:buSzPts val="1400"/>
              <a:buChar char="○"/>
            </a:pPr>
            <a:r>
              <a:rPr lang="en-GB"/>
              <a:t>Participants in PAN build detectors</a:t>
            </a:r>
            <a:endParaRPr/>
          </a:p>
          <a:p>
            <a:pPr indent="-342900" lvl="0" marL="457200" rtl="0" algn="l">
              <a:spcBef>
                <a:spcPts val="0"/>
              </a:spcBef>
              <a:spcAft>
                <a:spcPts val="0"/>
              </a:spcAft>
              <a:buSzPts val="1800"/>
              <a:buChar char="●"/>
            </a:pPr>
            <a:r>
              <a:rPr lang="en-GB"/>
              <a:t>Also entry level task, easy to complete Task </a:t>
            </a:r>
            <a:endParaRPr/>
          </a:p>
          <a:p>
            <a:pPr indent="-342900" lvl="0" marL="457200" rtl="0" algn="l">
              <a:spcBef>
                <a:spcPts val="0"/>
              </a:spcBef>
              <a:spcAft>
                <a:spcPts val="0"/>
              </a:spcAft>
              <a:buSzPts val="1800"/>
              <a:buChar char="●"/>
            </a:pPr>
            <a:r>
              <a:rPr lang="en-GB"/>
              <a:t>This task will ask participants in the ELOQUENT lab to generate material for the PAN lab task on distinguishing human authored texts from machine generated texts, a task which has considerably public, legal, and commercial interest. </a:t>
            </a:r>
            <a:endParaRPr/>
          </a:p>
          <a:p>
            <a:pPr indent="-342900" lvl="0" marL="457200" rtl="0" algn="l">
              <a:spcBef>
                <a:spcPts val="0"/>
              </a:spcBef>
              <a:spcAft>
                <a:spcPts val="0"/>
              </a:spcAft>
              <a:buSzPts val="1800"/>
              <a:buChar char="●"/>
            </a:pPr>
            <a:r>
              <a:rPr lang="en-GB"/>
              <a:t>Last year, few participants</a:t>
            </a:r>
            <a:endParaRPr/>
          </a:p>
          <a:p>
            <a:pPr indent="-342900" lvl="0" marL="457200" rtl="0" algn="l">
              <a:spcBef>
                <a:spcPts val="0"/>
              </a:spcBef>
              <a:spcAft>
                <a:spcPts val="0"/>
              </a:spcAft>
              <a:buSzPts val="1800"/>
              <a:buChar char="●"/>
            </a:pPr>
            <a:r>
              <a:rPr lang="en-GB"/>
              <a:t>Ranking matters</a:t>
            </a:r>
            <a:endParaRPr/>
          </a:p>
        </p:txBody>
      </p:sp>
      <p:pic>
        <p:nvPicPr>
          <p:cNvPr id="83" name="Google Shape;83;p15"/>
          <p:cNvPicPr preferRelativeResize="0"/>
          <p:nvPr/>
        </p:nvPicPr>
        <p:blipFill>
          <a:blip r:embed="rId3">
            <a:alphaModFix/>
          </a:blip>
          <a:stretch>
            <a:fillRect/>
          </a:stretch>
        </p:blipFill>
        <p:spPr>
          <a:xfrm>
            <a:off x="6996775" y="-5"/>
            <a:ext cx="2147225" cy="2131100"/>
          </a:xfrm>
          <a:prstGeom prst="rect">
            <a:avLst/>
          </a:prstGeom>
          <a:noFill/>
          <a:ln>
            <a:noFill/>
          </a:ln>
        </p:spPr>
      </p:pic>
      <p:sp>
        <p:nvSpPr>
          <p:cNvPr id="84" name="Google Shape;84;p15"/>
          <p:cNvSpPr txBox="1"/>
          <p:nvPr/>
        </p:nvSpPr>
        <p:spPr>
          <a:xfrm>
            <a:off x="6276625" y="4091825"/>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Has a machine or a human written this?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Robustness</a:t>
            </a:r>
            <a:endParaRPr b="0" i="1" sz="2000"/>
          </a:p>
        </p:txBody>
      </p:sp>
      <p:sp>
        <p:nvSpPr>
          <p:cNvPr id="90" name="Google Shape;9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Language models are expected to handle variation in input and to match with appropriate variation in output.</a:t>
            </a:r>
            <a:endParaRPr/>
          </a:p>
          <a:p>
            <a:pPr indent="0" lvl="0" marL="0" rtl="0" algn="l">
              <a:spcBef>
                <a:spcPts val="1200"/>
              </a:spcBef>
              <a:spcAft>
                <a:spcPts val="1200"/>
              </a:spcAft>
              <a:buNone/>
            </a:pPr>
            <a:r>
              <a:t/>
            </a:r>
            <a:endParaRPr/>
          </a:p>
        </p:txBody>
      </p:sp>
      <p:pic>
        <p:nvPicPr>
          <p:cNvPr id="91" name="Google Shape;91;p16"/>
          <p:cNvPicPr preferRelativeResize="0"/>
          <p:nvPr/>
        </p:nvPicPr>
        <p:blipFill>
          <a:blip r:embed="rId3">
            <a:alphaModFix/>
          </a:blip>
          <a:stretch>
            <a:fillRect/>
          </a:stretch>
        </p:blipFill>
        <p:spPr>
          <a:xfrm>
            <a:off x="6937327" y="3383650"/>
            <a:ext cx="1569775" cy="1587500"/>
          </a:xfrm>
          <a:prstGeom prst="rect">
            <a:avLst/>
          </a:prstGeom>
          <a:noFill/>
          <a:ln>
            <a:noFill/>
          </a:ln>
        </p:spPr>
      </p:pic>
      <p:sp>
        <p:nvSpPr>
          <p:cNvPr id="92" name="Google Shape;92;p16"/>
          <p:cNvSpPr/>
          <p:nvPr/>
        </p:nvSpPr>
        <p:spPr>
          <a:xfrm>
            <a:off x="5660575" y="3238500"/>
            <a:ext cx="870900" cy="580500"/>
          </a:xfrm>
          <a:prstGeom prst="wedgeRoundRectCallout">
            <a:avLst>
              <a:gd fmla="val 82286" name="adj1"/>
              <a:gd fmla="val 115646" name="adj2"/>
              <a:gd fmla="val 0" name="adj3"/>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rdo"/>
                <a:ea typeface="Cardo"/>
                <a:cs typeface="Cardo"/>
                <a:sym typeface="Cardo"/>
              </a:rPr>
              <a:t>☠☢✯⛈︎❅❅</a:t>
            </a:r>
            <a:endParaRPr>
              <a:latin typeface="Cardo"/>
              <a:ea typeface="Cardo"/>
              <a:cs typeface="Cardo"/>
              <a:sym typeface="Cardo"/>
            </a:endParaRPr>
          </a:p>
        </p:txBody>
      </p:sp>
      <p:sp>
        <p:nvSpPr>
          <p:cNvPr id="93" name="Google Shape;93;p16"/>
          <p:cNvSpPr/>
          <p:nvPr/>
        </p:nvSpPr>
        <p:spPr>
          <a:xfrm>
            <a:off x="8507100" y="2803150"/>
            <a:ext cx="636900" cy="580500"/>
          </a:xfrm>
          <a:prstGeom prst="wedgeRoundRectCallout">
            <a:avLst>
              <a:gd fmla="val -44006" name="adj1"/>
              <a:gd fmla="val 190642" name="adj2"/>
              <a:gd fmla="val 0" name="adj3"/>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rdo"/>
                <a:ea typeface="Cardo"/>
                <a:cs typeface="Cardo"/>
                <a:sym typeface="Cardo"/>
              </a:rPr>
              <a:t>☺❀❣🎶☀</a:t>
            </a:r>
            <a:endParaRPr>
              <a:latin typeface="Cardo"/>
              <a:ea typeface="Cardo"/>
              <a:cs typeface="Cardo"/>
              <a:sym typeface="Cardo"/>
            </a:endParaRPr>
          </a:p>
        </p:txBody>
      </p:sp>
      <p:sp>
        <p:nvSpPr>
          <p:cNvPr id="94" name="Google Shape;94;p16"/>
          <p:cNvSpPr txBox="1"/>
          <p:nvPr/>
        </p:nvSpPr>
        <p:spPr>
          <a:xfrm>
            <a:off x="311700" y="2063850"/>
            <a:ext cx="5080500" cy="18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2"/>
                </a:solidFill>
                <a:latin typeface="Cardo"/>
                <a:ea typeface="Cardo"/>
                <a:cs typeface="Cardo"/>
                <a:sym typeface="Cardo"/>
              </a:rPr>
              <a:t>Experiment:</a:t>
            </a:r>
            <a:endParaRPr sz="1800">
              <a:solidFill>
                <a:schemeClr val="dk2"/>
              </a:solidFill>
              <a:latin typeface="Cardo"/>
              <a:ea typeface="Cardo"/>
              <a:cs typeface="Cardo"/>
              <a:sym typeface="Cardo"/>
            </a:endParaRPr>
          </a:p>
          <a:p>
            <a:pPr indent="-317500" lvl="1" marL="914400" rtl="0" algn="l">
              <a:lnSpc>
                <a:spcPct val="115000"/>
              </a:lnSpc>
              <a:spcBef>
                <a:spcPts val="1200"/>
              </a:spcBef>
              <a:spcAft>
                <a:spcPts val="0"/>
              </a:spcAft>
              <a:buClr>
                <a:schemeClr val="dk2"/>
              </a:buClr>
              <a:buSzPts val="1400"/>
              <a:buFont typeface="Cardo"/>
              <a:buChar char="○"/>
            </a:pPr>
            <a:r>
              <a:rPr lang="en-GB">
                <a:solidFill>
                  <a:schemeClr val="dk2"/>
                </a:solidFill>
                <a:latin typeface="Cardo"/>
                <a:ea typeface="Cardo"/>
                <a:cs typeface="Cardo"/>
                <a:sym typeface="Cardo"/>
              </a:rPr>
              <a:t>Prompts varied by dialectal, sociolectal, and idiosyncratic variation.</a:t>
            </a:r>
            <a:endParaRPr>
              <a:solidFill>
                <a:schemeClr val="dk2"/>
              </a:solidFill>
              <a:latin typeface="Cardo"/>
              <a:ea typeface="Cardo"/>
              <a:cs typeface="Cardo"/>
              <a:sym typeface="Cardo"/>
            </a:endParaRPr>
          </a:p>
          <a:p>
            <a:pPr indent="-317500" lvl="2" marL="13716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Any ideas for data collection?</a:t>
            </a:r>
            <a:endParaRPr>
              <a:solidFill>
                <a:schemeClr val="dk2"/>
              </a:solidFill>
              <a:latin typeface="Cardo"/>
              <a:ea typeface="Cardo"/>
              <a:cs typeface="Cardo"/>
              <a:sym typeface="Cardo"/>
            </a:endParaRPr>
          </a:p>
          <a:p>
            <a:pPr indent="-317500" lvl="1" marL="9144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Multilingual examples given</a:t>
            </a:r>
            <a:endParaRPr>
              <a:solidFill>
                <a:schemeClr val="dk2"/>
              </a:solidFill>
              <a:latin typeface="Cardo"/>
              <a:ea typeface="Cardo"/>
              <a:cs typeface="Cardo"/>
              <a:sym typeface="Cardo"/>
            </a:endParaRPr>
          </a:p>
          <a:p>
            <a:pPr indent="-317500" lvl="2" marL="13716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How to use them? Ideas?</a:t>
            </a:r>
            <a:endParaRPr>
              <a:solidFill>
                <a:schemeClr val="dk2"/>
              </a:solidFill>
              <a:latin typeface="Cardo"/>
              <a:ea typeface="Cardo"/>
              <a:cs typeface="Cardo"/>
              <a:sym typeface="Cardo"/>
            </a:endParaRPr>
          </a:p>
        </p:txBody>
      </p:sp>
      <p:sp>
        <p:nvSpPr>
          <p:cNvPr id="95" name="Google Shape;95;p16"/>
          <p:cNvSpPr txBox="1"/>
          <p:nvPr/>
        </p:nvSpPr>
        <p:spPr>
          <a:xfrm>
            <a:off x="6093600" y="11940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Will your LLM tell all of us the same thing?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DIMENSIONS OF VARIATION and EXAMPLE TOPICS</a:t>
            </a:r>
            <a:endParaRPr/>
          </a:p>
        </p:txBody>
      </p:sp>
      <p:sp>
        <p:nvSpPr>
          <p:cNvPr id="101" name="Google Shape;10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formality</a:t>
            </a:r>
            <a:endParaRPr/>
          </a:p>
          <a:p>
            <a:pPr indent="0" lvl="0" marL="0" rtl="0" algn="l">
              <a:spcBef>
                <a:spcPts val="1200"/>
              </a:spcBef>
              <a:spcAft>
                <a:spcPts val="0"/>
              </a:spcAft>
              <a:buNone/>
            </a:pPr>
            <a:r>
              <a:rPr lang="en-GB"/>
              <a:t>dialect</a:t>
            </a:r>
            <a:endParaRPr/>
          </a:p>
          <a:p>
            <a:pPr indent="0" lvl="0" marL="0" rtl="0" algn="l">
              <a:spcBef>
                <a:spcPts val="1200"/>
              </a:spcBef>
              <a:spcAft>
                <a:spcPts val="0"/>
              </a:spcAft>
              <a:buNone/>
            </a:pPr>
            <a:r>
              <a:rPr lang="en-GB"/>
              <a:t>personal relation</a:t>
            </a:r>
            <a:endParaRPr/>
          </a:p>
          <a:p>
            <a:pPr indent="0" lvl="0" marL="0" rtl="0" algn="l">
              <a:spcBef>
                <a:spcPts val="1200"/>
              </a:spcBef>
              <a:spcAft>
                <a:spcPts val="0"/>
              </a:spcAft>
              <a:buNone/>
            </a:pPr>
            <a:r>
              <a:rPr lang="en-GB"/>
              <a:t>sophistication</a:t>
            </a:r>
            <a:endParaRPr/>
          </a:p>
          <a:p>
            <a:pPr indent="0" lvl="0" marL="0" rtl="0" algn="l">
              <a:spcBef>
                <a:spcPts val="1200"/>
              </a:spcBef>
              <a:spcAft>
                <a:spcPts val="0"/>
              </a:spcAft>
              <a:buNone/>
            </a:pPr>
            <a:r>
              <a:rPr lang="en-GB"/>
              <a:t>rudeness</a:t>
            </a:r>
            <a:endParaRPr/>
          </a:p>
          <a:p>
            <a:pPr indent="0" lvl="0" marL="0" rtl="0" algn="l">
              <a:spcBef>
                <a:spcPts val="1200"/>
              </a:spcBef>
              <a:spcAft>
                <a:spcPts val="1200"/>
              </a:spcAft>
              <a:buNone/>
            </a:pPr>
            <a:r>
              <a:t/>
            </a:r>
            <a:endParaRPr/>
          </a:p>
        </p:txBody>
      </p:sp>
      <p:sp>
        <p:nvSpPr>
          <p:cNvPr id="102" name="Google Shape;102;p17"/>
          <p:cNvSpPr txBox="1"/>
          <p:nvPr/>
        </p:nvSpPr>
        <p:spPr>
          <a:xfrm>
            <a:off x="3081825" y="1554875"/>
            <a:ext cx="5034600" cy="8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Write to mom saying that I will not make it tonight.</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Write to mommy saying that I will not make it tonight.</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Write to dad saying that I will not make it tonight.</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Write to my father saying that I will not make it tonight.</a:t>
            </a:r>
            <a:endParaRPr/>
          </a:p>
        </p:txBody>
      </p:sp>
      <p:sp>
        <p:nvSpPr>
          <p:cNvPr id="103" name="Google Shape;103;p17"/>
          <p:cNvSpPr txBox="1"/>
          <p:nvPr/>
        </p:nvSpPr>
        <p:spPr>
          <a:xfrm>
            <a:off x="3492600" y="3165925"/>
            <a:ext cx="4351800" cy="111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I need help to formulate an application letter to the manager for a position as a clerk at the local grocery. He is a quite picky person, so it needs be written correctly.</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Hey I want a job at the supermarket hlep me write a letter to the manager. He's totally anal about every fucking thing.</a:t>
            </a:r>
            <a:endParaRPr/>
          </a:p>
        </p:txBody>
      </p:sp>
      <p:sp>
        <p:nvSpPr>
          <p:cNvPr id="104" name="Google Shape;104;p17"/>
          <p:cNvSpPr txBox="1"/>
          <p:nvPr/>
        </p:nvSpPr>
        <p:spPr>
          <a:xfrm>
            <a:off x="1939100" y="2440050"/>
            <a:ext cx="63156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Skriv till mamma och säg att jag inte orkar komma över ikväll. </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Skriv till mor och säg att jag inte orkar komma ikväll.</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Skriv till mamma och säg att jag inte ids komma över ikväll.</a:t>
            </a:r>
            <a:endParaRPr/>
          </a:p>
        </p:txBody>
      </p:sp>
      <p:sp>
        <p:nvSpPr>
          <p:cNvPr id="105" name="Google Shape;105;p17"/>
          <p:cNvSpPr txBox="1"/>
          <p:nvPr/>
        </p:nvSpPr>
        <p:spPr>
          <a:xfrm>
            <a:off x="311700" y="3516075"/>
            <a:ext cx="3180900" cy="159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Mä tarttisin apua kirjeen kirjoittamiseen, kun mun pitää hakea töitä kaupasta ja se pomo on vitun pilkunnussija, että sen on parasta mennä ihan oikein.</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chemeClr val="dk1"/>
                </a:solidFill>
                <a:latin typeface="Courier New"/>
                <a:ea typeface="Courier New"/>
                <a:cs typeface="Courier New"/>
                <a:sym typeface="Courier New"/>
              </a:rPr>
              <a:t>Auta minua laatimaan työhakemus myymälään. Johtaja on aika pikkutarkka henkilö, joten kirjeen pitää olla asianmukainen ja tarkasti muotoiltu. </a:t>
            </a:r>
            <a:endParaRPr sz="12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Preference Score Prediction Task</a:t>
            </a:r>
            <a:endParaRPr/>
          </a:p>
        </p:txBody>
      </p:sp>
      <p:sp>
        <p:nvSpPr>
          <p:cNvPr id="111" name="Google Shape;11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Alignment is based on RL;HF but how about the converse?</a:t>
            </a:r>
            <a:endParaRPr/>
          </a:p>
          <a:p>
            <a:pPr indent="0" lvl="0" marL="0" rtl="0" algn="l">
              <a:spcBef>
                <a:spcPts val="1200"/>
              </a:spcBef>
              <a:spcAft>
                <a:spcPts val="0"/>
              </a:spcAft>
              <a:buNone/>
            </a:pPr>
            <a:r>
              <a:rPr lang="en-GB"/>
              <a:t>Can generative language models reproduced human preferences?</a:t>
            </a:r>
            <a:endParaRPr/>
          </a:p>
          <a:p>
            <a:pPr indent="0" lvl="0" marL="0" rtl="0" algn="l">
              <a:spcBef>
                <a:spcPts val="1200"/>
              </a:spcBef>
              <a:spcAft>
                <a:spcPts val="0"/>
              </a:spcAft>
              <a:buNone/>
            </a:pPr>
            <a:r>
              <a:rPr lang="en-GB"/>
              <a:t>Are</a:t>
            </a:r>
            <a:r>
              <a:rPr lang="en-GB"/>
              <a:t> systems capable of predicting Likert scores across candidate model responses for a given prompt?</a:t>
            </a:r>
            <a:endParaRPr/>
          </a:p>
          <a:p>
            <a:pPr indent="457200" lvl="0" marL="0" rtl="0" algn="l">
              <a:spcBef>
                <a:spcPts val="1200"/>
              </a:spcBef>
              <a:spcAft>
                <a:spcPts val="0"/>
              </a:spcAft>
              <a:buNone/>
            </a:pPr>
            <a:r>
              <a:rPr lang="en-GB"/>
              <a:t>Fluency, Repetition, Formatting, Relevance, Factuality, Inconsistency </a:t>
            </a:r>
            <a:endParaRPr/>
          </a:p>
          <a:p>
            <a:pPr indent="0" lvl="0" marL="0" rtl="0" algn="l">
              <a:spcBef>
                <a:spcPts val="1200"/>
              </a:spcBef>
              <a:spcAft>
                <a:spcPts val="1200"/>
              </a:spcAft>
              <a:buNone/>
            </a:pPr>
            <a:r>
              <a:rPr lang="en-GB"/>
              <a:t>Ideas? Thoughts?</a:t>
            </a:r>
            <a:endParaRPr/>
          </a:p>
        </p:txBody>
      </p:sp>
      <p:sp>
        <p:nvSpPr>
          <p:cNvPr id="112" name="Google Shape;112;p18"/>
          <p:cNvSpPr txBox="1"/>
          <p:nvPr/>
        </p:nvSpPr>
        <p:spPr>
          <a:xfrm>
            <a:off x="6093600" y="11940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Does </a:t>
            </a:r>
            <a:r>
              <a:rPr lang="en-GB" sz="1500">
                <a:solidFill>
                  <a:srgbClr val="2F2F2F"/>
                </a:solidFill>
                <a:highlight>
                  <a:srgbClr val="F9F7F1"/>
                </a:highlight>
                <a:latin typeface="Times New Roman"/>
                <a:ea typeface="Times New Roman"/>
                <a:cs typeface="Times New Roman"/>
                <a:sym typeface="Times New Roman"/>
              </a:rPr>
              <a:t>your</a:t>
            </a:r>
            <a:r>
              <a:rPr lang="en-GB" sz="1500">
                <a:solidFill>
                  <a:srgbClr val="2F2F2F"/>
                </a:solidFill>
                <a:highlight>
                  <a:srgbClr val="F9F7F1"/>
                </a:highlight>
                <a:latin typeface="Times New Roman"/>
                <a:ea typeface="Times New Roman"/>
                <a:cs typeface="Times New Roman"/>
                <a:sym typeface="Times New Roman"/>
              </a:rPr>
              <a:t> LLM agree with humans?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Reasoning task </a:t>
            </a:r>
            <a:endParaRPr/>
          </a:p>
        </p:txBody>
      </p:sp>
      <p:sp>
        <p:nvSpPr>
          <p:cNvPr id="118" name="Google Shape;11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Reasoning is often done with language, to integrate complex information</a:t>
            </a:r>
            <a:endParaRPr/>
          </a:p>
          <a:p>
            <a:pPr indent="-342900" lvl="0" marL="457200" rtl="0" algn="l">
              <a:spcBef>
                <a:spcPts val="0"/>
              </a:spcBef>
              <a:spcAft>
                <a:spcPts val="0"/>
              </a:spcAft>
              <a:buSzPts val="1800"/>
              <a:buChar char="●"/>
            </a:pPr>
            <a:r>
              <a:rPr lang="en-GB"/>
              <a:t>Language models are expected to do reasoning over at least analogy, causality, and deduction</a:t>
            </a:r>
            <a:endParaRPr/>
          </a:p>
          <a:p>
            <a:pPr indent="-342900" lvl="0" marL="457200" rtl="0" algn="l">
              <a:spcBef>
                <a:spcPts val="0"/>
              </a:spcBef>
              <a:spcAft>
                <a:spcPts val="0"/>
              </a:spcAft>
              <a:buSzPts val="1800"/>
              <a:buChar char="●"/>
            </a:pPr>
            <a:r>
              <a:rPr lang="en-GB"/>
              <a:t>Can reasoning be investigated without depending on some  topic or some knowledge?</a:t>
            </a:r>
            <a:endParaRPr/>
          </a:p>
          <a:p>
            <a:pPr indent="-342900" lvl="0" marL="457200" rtl="0" algn="l">
              <a:spcBef>
                <a:spcPts val="0"/>
              </a:spcBef>
              <a:spcAft>
                <a:spcPts val="0"/>
              </a:spcAft>
              <a:buSzPts val="1800"/>
              <a:buChar char="●"/>
            </a:pPr>
            <a:r>
              <a:rPr lang="en-GB"/>
              <a:t>We want to study </a:t>
            </a:r>
            <a:endParaRPr/>
          </a:p>
          <a:p>
            <a:pPr indent="-317500" lvl="1" marL="914400" rtl="0" algn="l">
              <a:spcBef>
                <a:spcPts val="0"/>
              </a:spcBef>
              <a:spcAft>
                <a:spcPts val="0"/>
              </a:spcAft>
              <a:buSzPts val="1400"/>
              <a:buChar char="○"/>
            </a:pPr>
            <a:r>
              <a:rPr lang="en-GB"/>
              <a:t>reasoning in noisy dialogue environments with  interjections, backchannels, split utterances</a:t>
            </a:r>
            <a:endParaRPr/>
          </a:p>
          <a:p>
            <a:pPr indent="-317500" lvl="1" marL="914400" rtl="0" algn="l">
              <a:spcBef>
                <a:spcPts val="0"/>
              </a:spcBef>
              <a:spcAft>
                <a:spcPts val="0"/>
              </a:spcAft>
              <a:buSzPts val="1400"/>
              <a:buChar char="○"/>
            </a:pPr>
            <a:r>
              <a:rPr lang="en-GB"/>
              <a:t>inference based on certainty and uncertainty</a:t>
            </a:r>
            <a:endParaRPr/>
          </a:p>
          <a:p>
            <a:pPr indent="-317500" lvl="1" marL="914400" rtl="0" algn="l">
              <a:spcBef>
                <a:spcPts val="0"/>
              </a:spcBef>
              <a:spcAft>
                <a:spcPts val="0"/>
              </a:spcAft>
              <a:buSzPts val="1400"/>
              <a:buChar char="○"/>
            </a:pPr>
            <a:r>
              <a:rPr lang="en-GB"/>
              <a:t>implicit evidence</a:t>
            </a:r>
            <a:endParaRPr/>
          </a:p>
          <a:p>
            <a:pPr indent="-368300" lvl="0" marL="457200" rtl="0" algn="l">
              <a:spcBef>
                <a:spcPts val="0"/>
              </a:spcBef>
              <a:spcAft>
                <a:spcPts val="0"/>
              </a:spcAft>
              <a:buSzPts val="2200"/>
              <a:buChar char="●"/>
            </a:pPr>
            <a:r>
              <a:rPr lang="en-GB"/>
              <a:t>Ideas? Thoughts?</a:t>
            </a:r>
            <a:endParaRPr sz="2200"/>
          </a:p>
        </p:txBody>
      </p:sp>
      <p:sp>
        <p:nvSpPr>
          <p:cNvPr id="119" name="Google Shape;119;p19"/>
          <p:cNvSpPr txBox="1"/>
          <p:nvPr/>
        </p:nvSpPr>
        <p:spPr>
          <a:xfrm>
            <a:off x="6093600" y="119400"/>
            <a:ext cx="2738700" cy="11082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Can</a:t>
            </a:r>
            <a:r>
              <a:rPr lang="en-GB" sz="1500">
                <a:solidFill>
                  <a:srgbClr val="2F2F2F"/>
                </a:solidFill>
                <a:highlight>
                  <a:srgbClr val="F9F7F1"/>
                </a:highlight>
                <a:latin typeface="Times New Roman"/>
                <a:ea typeface="Times New Roman"/>
                <a:cs typeface="Times New Roman"/>
                <a:sym typeface="Times New Roman"/>
              </a:rPr>
              <a:t> your LLM keep track of a .. eh ... hey ... </a:t>
            </a:r>
            <a:endParaRPr sz="1500">
              <a:solidFill>
                <a:srgbClr val="2F2F2F"/>
              </a:solidFill>
              <a:highlight>
                <a:srgbClr val="F9F7F1"/>
              </a:highlight>
              <a:latin typeface="Times New Roman"/>
              <a:ea typeface="Times New Roman"/>
              <a:cs typeface="Times New Roman"/>
              <a:sym typeface="Times New Roman"/>
            </a:endParaRPr>
          </a:p>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What?</a:t>
            </a:r>
            <a:endParaRPr sz="1500">
              <a:solidFill>
                <a:srgbClr val="2F2F2F"/>
              </a:solidFill>
              <a:highlight>
                <a:srgbClr val="F9F7F1"/>
              </a:highlight>
              <a:latin typeface="Times New Roman"/>
              <a:ea typeface="Times New Roman"/>
              <a:cs typeface="Times New Roman"/>
              <a:sym typeface="Times New Roman"/>
            </a:endParaRPr>
          </a:p>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 thought?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Topical Quiz Task</a:t>
            </a:r>
            <a:endParaRPr/>
          </a:p>
        </p:txBody>
      </p:sp>
      <p:sp>
        <p:nvSpPr>
          <p:cNvPr id="125" name="Google Shape;125;p20"/>
          <p:cNvSpPr txBox="1"/>
          <p:nvPr>
            <p:ph idx="1" type="body"/>
          </p:nvPr>
        </p:nvSpPr>
        <p:spPr>
          <a:xfrm>
            <a:off x="311700" y="863550"/>
            <a:ext cx="8520600" cy="3416400"/>
          </a:xfrm>
          <a:prstGeom prst="rect">
            <a:avLst/>
          </a:prstGeom>
        </p:spPr>
        <p:txBody>
          <a:bodyPr anchorCtr="0" anchor="ctr" bIns="91425" lIns="91425" spcFirstLastPara="1" rIns="91425" wrap="square" tIns="91425">
            <a:normAutofit/>
          </a:bodyPr>
          <a:lstStyle/>
          <a:p>
            <a:pPr indent="0" lvl="0" marL="0" rtl="0" algn="ctr">
              <a:lnSpc>
                <a:spcPct val="150000"/>
              </a:lnSpc>
              <a:spcBef>
                <a:spcPts val="0"/>
              </a:spcBef>
              <a:spcAft>
                <a:spcPts val="0"/>
              </a:spcAft>
              <a:buNone/>
            </a:pPr>
            <a:r>
              <a:rPr lang="en-GB"/>
              <a:t>Needs to be redone. Any ideas?</a:t>
            </a:r>
            <a:endParaRPr/>
          </a:p>
          <a:p>
            <a:pPr indent="0" lvl="0" marL="0" rtl="0" algn="l">
              <a:spcBef>
                <a:spcPts val="1200"/>
              </a:spcBef>
              <a:spcAft>
                <a:spcPts val="1200"/>
              </a:spcAft>
              <a:buNone/>
            </a:pPr>
            <a:r>
              <a:t/>
            </a:r>
            <a:endParaRPr/>
          </a:p>
        </p:txBody>
      </p:sp>
      <p:sp>
        <p:nvSpPr>
          <p:cNvPr id="126" name="Google Shape;126;p20"/>
          <p:cNvSpPr txBox="1"/>
          <p:nvPr/>
        </p:nvSpPr>
        <p:spPr>
          <a:xfrm>
            <a:off x="724275" y="2630800"/>
            <a:ext cx="7129500" cy="193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2"/>
                </a:solidFill>
                <a:latin typeface="Cardo"/>
                <a:ea typeface="Cardo"/>
                <a:cs typeface="Cardo"/>
                <a:sym typeface="Cardo"/>
              </a:rPr>
              <a:t>Last year:</a:t>
            </a:r>
            <a:endParaRPr sz="1800">
              <a:solidFill>
                <a:schemeClr val="dk2"/>
              </a:solidFill>
              <a:latin typeface="Cardo"/>
              <a:ea typeface="Cardo"/>
              <a:cs typeface="Cardo"/>
              <a:sym typeface="Cardo"/>
            </a:endParaRPr>
          </a:p>
          <a:p>
            <a:pPr indent="-342900" lvl="0" marL="457200" rtl="0" algn="l">
              <a:lnSpc>
                <a:spcPct val="115000"/>
              </a:lnSpc>
              <a:spcBef>
                <a:spcPts val="1200"/>
              </a:spcBef>
              <a:spcAft>
                <a:spcPts val="0"/>
              </a:spcAft>
              <a:buClr>
                <a:schemeClr val="dk2"/>
              </a:buClr>
              <a:buSzPts val="1800"/>
              <a:buFont typeface="Cardo"/>
              <a:buChar char="●"/>
            </a:pPr>
            <a:r>
              <a:rPr lang="en-GB" sz="1800">
                <a:solidFill>
                  <a:schemeClr val="dk2"/>
                </a:solidFill>
                <a:latin typeface="Cardo"/>
                <a:ea typeface="Cardo"/>
                <a:cs typeface="Cardo"/>
                <a:sym typeface="Cardo"/>
              </a:rPr>
              <a:t>Each participating system must </a:t>
            </a:r>
            <a:endParaRPr sz="1800">
              <a:solidFill>
                <a:schemeClr val="dk2"/>
              </a:solidFill>
              <a:latin typeface="Cardo"/>
              <a:ea typeface="Cardo"/>
              <a:cs typeface="Cardo"/>
              <a:sym typeface="Cardo"/>
            </a:endParaRPr>
          </a:p>
          <a:p>
            <a:pPr indent="-317500" lvl="1" marL="9144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accept a topic and a prompt string defined in human language,</a:t>
            </a:r>
            <a:endParaRPr>
              <a:solidFill>
                <a:schemeClr val="dk2"/>
              </a:solidFill>
              <a:latin typeface="Cardo"/>
              <a:ea typeface="Cardo"/>
              <a:cs typeface="Cardo"/>
              <a:sym typeface="Cardo"/>
            </a:endParaRPr>
          </a:p>
          <a:p>
            <a:pPr indent="-317500" lvl="1" marL="9144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generate a test with a set of questions for that topic,</a:t>
            </a:r>
            <a:endParaRPr>
              <a:solidFill>
                <a:schemeClr val="dk2"/>
              </a:solidFill>
              <a:latin typeface="Cardo"/>
              <a:ea typeface="Cardo"/>
              <a:cs typeface="Cardo"/>
              <a:sym typeface="Cardo"/>
            </a:endParaRPr>
          </a:p>
          <a:p>
            <a:pPr indent="-317500" lvl="1" marL="9144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accept tests generated by other systems and respond to them, and </a:t>
            </a:r>
            <a:endParaRPr>
              <a:solidFill>
                <a:schemeClr val="dk2"/>
              </a:solidFill>
              <a:latin typeface="Cardo"/>
              <a:ea typeface="Cardo"/>
              <a:cs typeface="Cardo"/>
              <a:sym typeface="Cardo"/>
            </a:endParaRPr>
          </a:p>
          <a:p>
            <a:pPr indent="-317500" lvl="1" marL="914400" rtl="0" algn="l">
              <a:lnSpc>
                <a:spcPct val="115000"/>
              </a:lnSpc>
              <a:spcBef>
                <a:spcPts val="0"/>
              </a:spcBef>
              <a:spcAft>
                <a:spcPts val="0"/>
              </a:spcAft>
              <a:buClr>
                <a:schemeClr val="dk2"/>
              </a:buClr>
              <a:buSzPts val="1400"/>
              <a:buFont typeface="Cardo"/>
              <a:buChar char="○"/>
            </a:pPr>
            <a:r>
              <a:rPr lang="en-GB">
                <a:solidFill>
                  <a:schemeClr val="dk2"/>
                </a:solidFill>
                <a:latin typeface="Cardo"/>
                <a:ea typeface="Cardo"/>
                <a:cs typeface="Cardo"/>
                <a:sym typeface="Cardo"/>
              </a:rPr>
              <a:t>score responses given by other systems to the test it generated.</a:t>
            </a:r>
            <a:endParaRPr/>
          </a:p>
        </p:txBody>
      </p:sp>
      <p:pic>
        <p:nvPicPr>
          <p:cNvPr id="127" name="Google Shape;127;p20"/>
          <p:cNvPicPr preferRelativeResize="0"/>
          <p:nvPr/>
        </p:nvPicPr>
        <p:blipFill>
          <a:blip r:embed="rId3">
            <a:alphaModFix/>
          </a:blip>
          <a:stretch>
            <a:fillRect/>
          </a:stretch>
        </p:blipFill>
        <p:spPr>
          <a:xfrm>
            <a:off x="6870600" y="2944250"/>
            <a:ext cx="1961699" cy="1307799"/>
          </a:xfrm>
          <a:prstGeom prst="rect">
            <a:avLst/>
          </a:prstGeom>
          <a:noFill/>
          <a:ln>
            <a:noFill/>
          </a:ln>
        </p:spPr>
      </p:pic>
      <p:sp>
        <p:nvSpPr>
          <p:cNvPr id="128" name="Google Shape;128;p20"/>
          <p:cNvSpPr txBox="1"/>
          <p:nvPr/>
        </p:nvSpPr>
        <p:spPr>
          <a:xfrm>
            <a:off x="6304125" y="7115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Is your LLM really clever? Can it mark its own homework?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Hallucigen task</a:t>
            </a:r>
            <a:endParaRPr/>
          </a:p>
        </p:txBody>
      </p:sp>
      <p:sp>
        <p:nvSpPr>
          <p:cNvPr id="134" name="Google Shape;134;p21"/>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lnSpc>
                <a:spcPct val="150000"/>
              </a:lnSpc>
              <a:spcBef>
                <a:spcPts val="0"/>
              </a:spcBef>
              <a:spcAft>
                <a:spcPts val="0"/>
              </a:spcAft>
              <a:buNone/>
            </a:pPr>
            <a:r>
              <a:rPr lang="en-GB"/>
              <a:t>Task will move to other organisational framework for next year TBD</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1: Quiz -</a:t>
            </a:r>
            <a:r>
              <a:rPr b="0" lang="en-GB" sz="2750"/>
              <a:t> </a:t>
            </a:r>
            <a:r>
              <a:rPr b="0" i="1" lang="en-GB" sz="2750">
                <a:solidFill>
                  <a:schemeClr val="dk2"/>
                </a:solidFill>
              </a:rPr>
              <a:t>Does the language model know about a topic?</a:t>
            </a:r>
            <a:endParaRPr b="0" sz="2750"/>
          </a:p>
        </p:txBody>
      </p:sp>
      <p:sp>
        <p:nvSpPr>
          <p:cNvPr id="140" name="Google Shape;14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Can topical competence be self-evaluated using synthetic data generated by the model itself?</a:t>
            </a:r>
            <a:endParaRPr/>
          </a:p>
          <a:p>
            <a:pPr indent="-342900" lvl="0" marL="457200" rtl="0" algn="l">
              <a:spcBef>
                <a:spcPts val="0"/>
              </a:spcBef>
              <a:spcAft>
                <a:spcPts val="0"/>
              </a:spcAft>
              <a:buSzPts val="1800"/>
              <a:buChar char="●"/>
            </a:pPr>
            <a:r>
              <a:rPr lang="en-GB"/>
              <a:t>Round-robin task</a:t>
            </a:r>
            <a:endParaRPr/>
          </a:p>
          <a:p>
            <a:pPr indent="-342900" lvl="0" marL="457200" rtl="0" algn="l">
              <a:spcBef>
                <a:spcPts val="0"/>
              </a:spcBef>
              <a:spcAft>
                <a:spcPts val="0"/>
              </a:spcAft>
              <a:buSzPts val="1800"/>
              <a:buChar char="●"/>
            </a:pPr>
            <a:r>
              <a:rPr lang="en-GB"/>
              <a:t>Each participating system must </a:t>
            </a:r>
            <a:endParaRPr/>
          </a:p>
          <a:p>
            <a:pPr indent="-317500" lvl="1" marL="914400" rtl="0" algn="l">
              <a:spcBef>
                <a:spcPts val="0"/>
              </a:spcBef>
              <a:spcAft>
                <a:spcPts val="0"/>
              </a:spcAft>
              <a:buSzPts val="1400"/>
              <a:buChar char="○"/>
            </a:pPr>
            <a:r>
              <a:rPr lang="en-GB"/>
              <a:t>accept a topic and a prompt string defined in human language,</a:t>
            </a:r>
            <a:endParaRPr/>
          </a:p>
          <a:p>
            <a:pPr indent="-317500" lvl="1" marL="914400" rtl="0" algn="l">
              <a:spcBef>
                <a:spcPts val="0"/>
              </a:spcBef>
              <a:spcAft>
                <a:spcPts val="0"/>
              </a:spcAft>
              <a:buSzPts val="1400"/>
              <a:buChar char="○"/>
            </a:pPr>
            <a:r>
              <a:rPr lang="en-GB"/>
              <a:t>generate a test with a set of questions for that topic,</a:t>
            </a:r>
            <a:endParaRPr/>
          </a:p>
          <a:p>
            <a:pPr indent="-317500" lvl="1" marL="914400" rtl="0" algn="l">
              <a:spcBef>
                <a:spcPts val="0"/>
              </a:spcBef>
              <a:spcAft>
                <a:spcPts val="0"/>
              </a:spcAft>
              <a:buSzPts val="1400"/>
              <a:buChar char="○"/>
            </a:pPr>
            <a:r>
              <a:rPr lang="en-GB"/>
              <a:t>accept tests generated by other systems and respond to them, and </a:t>
            </a:r>
            <a:endParaRPr/>
          </a:p>
          <a:p>
            <a:pPr indent="-317500" lvl="1" marL="914400" rtl="0" algn="l">
              <a:spcBef>
                <a:spcPts val="0"/>
              </a:spcBef>
              <a:spcAft>
                <a:spcPts val="0"/>
              </a:spcAft>
              <a:buSzPts val="1400"/>
              <a:buChar char="○"/>
            </a:pPr>
            <a:r>
              <a:rPr lang="en-GB"/>
              <a:t>score responses given by other systems to the test it generated.</a:t>
            </a:r>
            <a:endParaRPr/>
          </a:p>
          <a:p>
            <a:pPr indent="-342900" lvl="0" marL="457200" rtl="0" algn="l">
              <a:spcBef>
                <a:spcPts val="0"/>
              </a:spcBef>
              <a:spcAft>
                <a:spcPts val="0"/>
              </a:spcAft>
              <a:buSzPts val="1800"/>
              <a:buChar char="●"/>
            </a:pPr>
            <a:r>
              <a:rPr lang="en-GB"/>
              <a:t>Quality of tests is probably more interesting than the quality of responses!</a:t>
            </a:r>
            <a:endParaRPr/>
          </a:p>
        </p:txBody>
      </p:sp>
      <p:pic>
        <p:nvPicPr>
          <p:cNvPr id="141" name="Google Shape;141;p22"/>
          <p:cNvPicPr preferRelativeResize="0"/>
          <p:nvPr/>
        </p:nvPicPr>
        <p:blipFill>
          <a:blip r:embed="rId3">
            <a:alphaModFix/>
          </a:blip>
          <a:stretch>
            <a:fillRect/>
          </a:stretch>
        </p:blipFill>
        <p:spPr>
          <a:xfrm>
            <a:off x="6870600" y="1778000"/>
            <a:ext cx="1961699" cy="1307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3"/>
          <p:cNvPicPr preferRelativeResize="0"/>
          <p:nvPr/>
        </p:nvPicPr>
        <p:blipFill>
          <a:blip r:embed="rId3">
            <a:alphaModFix/>
          </a:blip>
          <a:stretch>
            <a:fillRect/>
          </a:stretch>
        </p:blipFill>
        <p:spPr>
          <a:xfrm>
            <a:off x="970925" y="152400"/>
            <a:ext cx="7202149" cy="48387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600">
                <a:solidFill>
                  <a:srgbClr val="2F2F2F"/>
                </a:solidFill>
                <a:highlight>
                  <a:srgbClr val="F9F7F1"/>
                </a:highlight>
              </a:rPr>
              <a:t>Second ELOQUENT edition</a:t>
            </a:r>
            <a:endParaRPr sz="3600"/>
          </a:p>
        </p:txBody>
      </p:sp>
      <p:sp>
        <p:nvSpPr>
          <p:cNvPr id="152" name="Google Shape;152;p24"/>
          <p:cNvSpPr txBox="1"/>
          <p:nvPr/>
        </p:nvSpPr>
        <p:spPr>
          <a:xfrm>
            <a:off x="99775" y="4266325"/>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Is your LLM really clever? Can it mark its own homework?</a:t>
            </a:r>
            <a:endParaRPr/>
          </a:p>
        </p:txBody>
      </p:sp>
      <p:sp>
        <p:nvSpPr>
          <p:cNvPr id="153" name="Google Shape;153;p24"/>
          <p:cNvSpPr txBox="1"/>
          <p:nvPr/>
        </p:nvSpPr>
        <p:spPr>
          <a:xfrm>
            <a:off x="6093600" y="3390425"/>
            <a:ext cx="2738700" cy="11082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Can your LLM keep track of a .. eh ... hey ... </a:t>
            </a:r>
            <a:endParaRPr sz="1500">
              <a:solidFill>
                <a:srgbClr val="2F2F2F"/>
              </a:solidFill>
              <a:highlight>
                <a:srgbClr val="F9F7F1"/>
              </a:highlight>
              <a:latin typeface="Times New Roman"/>
              <a:ea typeface="Times New Roman"/>
              <a:cs typeface="Times New Roman"/>
              <a:sym typeface="Times New Roman"/>
            </a:endParaRPr>
          </a:p>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What?</a:t>
            </a:r>
            <a:endParaRPr sz="1500">
              <a:solidFill>
                <a:srgbClr val="2F2F2F"/>
              </a:solidFill>
              <a:highlight>
                <a:srgbClr val="F9F7F1"/>
              </a:highlight>
              <a:latin typeface="Times New Roman"/>
              <a:ea typeface="Times New Roman"/>
              <a:cs typeface="Times New Roman"/>
              <a:sym typeface="Times New Roman"/>
            </a:endParaRPr>
          </a:p>
          <a:p>
            <a:pPr indent="-323850" lvl="0" marL="457200" rtl="0" algn="l">
              <a:spcBef>
                <a:spcPts val="0"/>
              </a:spcBef>
              <a:spcAft>
                <a:spcPts val="0"/>
              </a:spcAft>
              <a:buClr>
                <a:srgbClr val="2F2F2F"/>
              </a:buClr>
              <a:buSzPts val="1500"/>
              <a:buFont typeface="Times New Roman"/>
              <a:buChar char="-"/>
            </a:pPr>
            <a:r>
              <a:rPr lang="en-GB" sz="1500">
                <a:solidFill>
                  <a:srgbClr val="2F2F2F"/>
                </a:solidFill>
                <a:highlight>
                  <a:srgbClr val="F9F7F1"/>
                </a:highlight>
                <a:latin typeface="Times New Roman"/>
                <a:ea typeface="Times New Roman"/>
                <a:cs typeface="Times New Roman"/>
                <a:sym typeface="Times New Roman"/>
              </a:rPr>
              <a:t>... thought? </a:t>
            </a:r>
            <a:endParaRPr/>
          </a:p>
        </p:txBody>
      </p:sp>
      <p:sp>
        <p:nvSpPr>
          <p:cNvPr id="154" name="Google Shape;154;p24"/>
          <p:cNvSpPr txBox="1"/>
          <p:nvPr/>
        </p:nvSpPr>
        <p:spPr>
          <a:xfrm>
            <a:off x="5015625" y="203370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Does yuor LLM agree with humans? </a:t>
            </a:r>
            <a:endParaRPr/>
          </a:p>
        </p:txBody>
      </p:sp>
      <p:sp>
        <p:nvSpPr>
          <p:cNvPr id="155" name="Google Shape;155;p24"/>
          <p:cNvSpPr txBox="1"/>
          <p:nvPr/>
        </p:nvSpPr>
        <p:spPr>
          <a:xfrm>
            <a:off x="1242800" y="1513300"/>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Will your LLM give the same topic to all of us?</a:t>
            </a:r>
            <a:endParaRPr/>
          </a:p>
        </p:txBody>
      </p:sp>
      <p:sp>
        <p:nvSpPr>
          <p:cNvPr id="156" name="Google Shape;156;p24"/>
          <p:cNvSpPr txBox="1"/>
          <p:nvPr/>
        </p:nvSpPr>
        <p:spPr>
          <a:xfrm>
            <a:off x="2838475" y="2847225"/>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Can your LLM fool a classifier into thinking it is human?</a:t>
            </a:r>
            <a:endParaRPr/>
          </a:p>
        </p:txBody>
      </p:sp>
      <p:sp>
        <p:nvSpPr>
          <p:cNvPr id="157" name="Google Shape;157;p24"/>
          <p:cNvSpPr txBox="1"/>
          <p:nvPr/>
        </p:nvSpPr>
        <p:spPr>
          <a:xfrm>
            <a:off x="6093600" y="1202463"/>
            <a:ext cx="2738700" cy="646500"/>
          </a:xfrm>
          <a:prstGeom prst="rect">
            <a:avLst/>
          </a:prstGeom>
          <a:noFill/>
          <a:ln cap="flat" cmpd="dbl"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2F2F2F"/>
                </a:solidFill>
                <a:highlight>
                  <a:srgbClr val="F9F7F1"/>
                </a:highlight>
                <a:latin typeface="Times New Roman"/>
                <a:ea typeface="Times New Roman"/>
                <a:cs typeface="Times New Roman"/>
                <a:sym typeface="Times New Roman"/>
              </a:rPr>
              <a:t>Can your LLM write convincing dictionary definitions?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GB"/>
              <a:t>once we have done </a:t>
            </a:r>
            <a:r>
              <a:rPr b="1" lang="en-GB"/>
              <a:t>this</a:t>
            </a:r>
            <a:r>
              <a:rPr lang="en-GB"/>
              <a:t> year's tasks we know how to evaluate LLMs and can distribute a conclusive report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GB"/>
              <a:t>once we have done this year's tasks we know how to evaluate LLMs and can distribute a conclusive report</a:t>
            </a:r>
            <a:endParaRPr/>
          </a:p>
        </p:txBody>
      </p:sp>
      <p:sp>
        <p:nvSpPr>
          <p:cNvPr id="168" name="Google Shape;168;p26"/>
          <p:cNvSpPr txBox="1"/>
          <p:nvPr/>
        </p:nvSpPr>
        <p:spPr>
          <a:xfrm rot="1260227">
            <a:off x="259353" y="2895719"/>
            <a:ext cx="8231744" cy="461812"/>
          </a:xfrm>
          <a:prstGeom prst="rect">
            <a:avLst/>
          </a:prstGeom>
          <a:noFill/>
          <a:ln cap="flat" cmpd="sng" w="9525">
            <a:solidFill>
              <a:srgbClr val="FF5500"/>
            </a:solidFill>
            <a:prstDash val="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FF5500"/>
                </a:solidFill>
                <a:latin typeface="Roboto Mono"/>
                <a:ea typeface="Roboto Mono"/>
                <a:cs typeface="Roboto Mono"/>
                <a:sym typeface="Roboto Mono"/>
              </a:rPr>
              <a:t>actually, we still think there may be more to investigate</a:t>
            </a:r>
            <a:endParaRPr sz="1800">
              <a:solidFill>
                <a:srgbClr val="FF5500"/>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idx="1" type="body"/>
          </p:nvPr>
        </p:nvSpPr>
        <p:spPr>
          <a:xfrm>
            <a:off x="311700" y="863550"/>
            <a:ext cx="8520600" cy="3416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GB" sz="1100"/>
              <a:t>Jussi Karlgren</a:t>
            </a:r>
            <a:endParaRPr sz="1100"/>
          </a:p>
          <a:p>
            <a:pPr indent="0" lvl="0" marL="0" rtl="0" algn="ctr">
              <a:spcBef>
                <a:spcPts val="0"/>
              </a:spcBef>
              <a:spcAft>
                <a:spcPts val="0"/>
              </a:spcAft>
              <a:buClr>
                <a:schemeClr val="dk1"/>
              </a:buClr>
              <a:buSzPts val="1100"/>
              <a:buFont typeface="Arial"/>
              <a:buNone/>
            </a:pPr>
            <a:r>
              <a:rPr lang="en-GB" sz="700"/>
              <a:t>Silo AI</a:t>
            </a:r>
            <a:endParaRPr sz="700"/>
          </a:p>
          <a:p>
            <a:pPr indent="0" lvl="0" marL="0" rtl="0" algn="ctr">
              <a:lnSpc>
                <a:spcPct val="100000"/>
              </a:lnSpc>
              <a:spcBef>
                <a:spcPts val="1200"/>
              </a:spcBef>
              <a:spcAft>
                <a:spcPts val="0"/>
              </a:spcAft>
              <a:buClr>
                <a:schemeClr val="dk1"/>
              </a:buClr>
              <a:buSzPts val="1100"/>
              <a:buFont typeface="Arial"/>
              <a:buNone/>
            </a:pPr>
            <a:r>
              <a:rPr lang="en-GB" sz="1100"/>
              <a:t>Aarne Talman</a:t>
            </a:r>
            <a:endParaRPr sz="1100"/>
          </a:p>
          <a:p>
            <a:pPr indent="0" lvl="0" marL="0" rtl="0" algn="ctr">
              <a:spcBef>
                <a:spcPts val="0"/>
              </a:spcBef>
              <a:spcAft>
                <a:spcPts val="0"/>
              </a:spcAft>
              <a:buClr>
                <a:schemeClr val="dk1"/>
              </a:buClr>
              <a:buSzPts val="1100"/>
              <a:buFont typeface="Arial"/>
              <a:buNone/>
            </a:pPr>
            <a:r>
              <a:rPr lang="en-GB" sz="700"/>
              <a:t>Accenture, </a:t>
            </a:r>
            <a:r>
              <a:rPr lang="en-GB" sz="700"/>
              <a:t>University of Helsinki</a:t>
            </a:r>
            <a:endParaRPr sz="700"/>
          </a:p>
          <a:p>
            <a:pPr indent="0" lvl="0" marL="0" rtl="0" algn="ctr">
              <a:lnSpc>
                <a:spcPct val="100000"/>
              </a:lnSpc>
              <a:spcBef>
                <a:spcPts val="1200"/>
              </a:spcBef>
              <a:spcAft>
                <a:spcPts val="0"/>
              </a:spcAft>
              <a:buClr>
                <a:schemeClr val="dk1"/>
              </a:buClr>
              <a:buSzPts val="1100"/>
              <a:buFont typeface="Arial"/>
              <a:buNone/>
            </a:pPr>
            <a:r>
              <a:rPr lang="en-GB" sz="1100"/>
              <a:t>Magnus Sahlgren</a:t>
            </a:r>
            <a:endParaRPr sz="1100"/>
          </a:p>
          <a:p>
            <a:pPr indent="0" lvl="0" marL="0" rtl="0" algn="ctr">
              <a:spcBef>
                <a:spcPts val="0"/>
              </a:spcBef>
              <a:spcAft>
                <a:spcPts val="0"/>
              </a:spcAft>
              <a:buNone/>
            </a:pPr>
            <a:r>
              <a:rPr lang="en-GB" sz="700"/>
              <a:t>AI Sweden</a:t>
            </a:r>
            <a:endParaRPr sz="700"/>
          </a:p>
          <a:p>
            <a:pPr indent="0" lvl="0" marL="0" rtl="0" algn="ctr">
              <a:lnSpc>
                <a:spcPct val="100000"/>
              </a:lnSpc>
              <a:spcBef>
                <a:spcPts val="1200"/>
              </a:spcBef>
              <a:spcAft>
                <a:spcPts val="0"/>
              </a:spcAft>
              <a:buNone/>
            </a:pPr>
            <a:r>
              <a:rPr lang="en-GB" sz="1100"/>
              <a:t>Timothee Mickus</a:t>
            </a:r>
            <a:endParaRPr sz="1100"/>
          </a:p>
          <a:p>
            <a:pPr indent="0" lvl="0" marL="0" rtl="0" algn="ctr">
              <a:spcBef>
                <a:spcPts val="0"/>
              </a:spcBef>
              <a:spcAft>
                <a:spcPts val="0"/>
              </a:spcAft>
              <a:buClr>
                <a:schemeClr val="dk1"/>
              </a:buClr>
              <a:buSzPts val="1100"/>
              <a:buFont typeface="Arial"/>
              <a:buNone/>
            </a:pPr>
            <a:r>
              <a:rPr lang="en-GB" sz="700"/>
              <a:t>University of Helsinki</a:t>
            </a:r>
            <a:endParaRPr i="1" sz="700">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rPr lang="en-GB" sz="1100"/>
              <a:t>Erik Velldal, Lilja Øvrelid, Vladislav Mikhailov </a:t>
            </a:r>
            <a:endParaRPr sz="1100"/>
          </a:p>
          <a:p>
            <a:pPr indent="0" lvl="0" marL="0" rtl="0" algn="ctr">
              <a:lnSpc>
                <a:spcPct val="100000"/>
              </a:lnSpc>
              <a:spcBef>
                <a:spcPts val="0"/>
              </a:spcBef>
              <a:spcAft>
                <a:spcPts val="0"/>
              </a:spcAft>
              <a:buNone/>
            </a:pPr>
            <a:r>
              <a:rPr lang="en-GB" sz="700"/>
              <a:t>University of Oslo</a:t>
            </a:r>
            <a:endParaRPr sz="700"/>
          </a:p>
          <a:p>
            <a:pPr indent="0" lvl="0" marL="0" rtl="0" algn="ctr">
              <a:lnSpc>
                <a:spcPct val="100000"/>
              </a:lnSpc>
              <a:spcBef>
                <a:spcPts val="1000"/>
              </a:spcBef>
              <a:spcAft>
                <a:spcPts val="0"/>
              </a:spcAft>
              <a:buNone/>
            </a:pPr>
            <a:r>
              <a:rPr lang="en-GB" sz="1100"/>
              <a:t>Ekaterina Artemova</a:t>
            </a:r>
            <a:endParaRPr sz="1100"/>
          </a:p>
          <a:p>
            <a:pPr indent="0" lvl="0" marL="0" rtl="0" algn="ctr">
              <a:lnSpc>
                <a:spcPct val="100000"/>
              </a:lnSpc>
              <a:spcBef>
                <a:spcPts val="0"/>
              </a:spcBef>
              <a:spcAft>
                <a:spcPts val="0"/>
              </a:spcAft>
              <a:buNone/>
            </a:pPr>
            <a:r>
              <a:rPr lang="en-GB" sz="700"/>
              <a:t>Toloka AI</a:t>
            </a:r>
            <a:endParaRPr sz="700"/>
          </a:p>
          <a:p>
            <a:pPr indent="0" lvl="0" marL="0" rtl="0" algn="ctr">
              <a:lnSpc>
                <a:spcPct val="100000"/>
              </a:lnSpc>
              <a:spcBef>
                <a:spcPts val="1000"/>
              </a:spcBef>
              <a:spcAft>
                <a:spcPts val="0"/>
              </a:spcAft>
              <a:buNone/>
            </a:pPr>
            <a:r>
              <a:rPr lang="en-GB" sz="1100"/>
              <a:t>Ondrej Bojar</a:t>
            </a:r>
            <a:endParaRPr sz="1100"/>
          </a:p>
          <a:p>
            <a:pPr indent="0" lvl="0" marL="0" rtl="0" algn="ctr">
              <a:lnSpc>
                <a:spcPct val="100000"/>
              </a:lnSpc>
              <a:spcBef>
                <a:spcPts val="0"/>
              </a:spcBef>
              <a:spcAft>
                <a:spcPts val="0"/>
              </a:spcAft>
              <a:buNone/>
            </a:pPr>
            <a:r>
              <a:rPr lang="en-GB" sz="700"/>
              <a:t>Charles University</a:t>
            </a:r>
            <a:endParaRPr sz="700"/>
          </a:p>
          <a:p>
            <a:pPr indent="0" lvl="0" marL="0" rtl="0" algn="ctr">
              <a:lnSpc>
                <a:spcPct val="100000"/>
              </a:lnSpc>
              <a:spcBef>
                <a:spcPts val="1000"/>
              </a:spcBef>
              <a:spcAft>
                <a:spcPts val="0"/>
              </a:spcAft>
              <a:buNone/>
            </a:pPr>
            <a:r>
              <a:rPr lang="en-GB" sz="1100"/>
              <a:t>Stergios Chatzikyriakidis</a:t>
            </a:r>
            <a:endParaRPr sz="1100"/>
          </a:p>
          <a:p>
            <a:pPr indent="0" lvl="0" marL="0" rtl="0" algn="ctr">
              <a:lnSpc>
                <a:spcPct val="100000"/>
              </a:lnSpc>
              <a:spcBef>
                <a:spcPts val="0"/>
              </a:spcBef>
              <a:spcAft>
                <a:spcPts val="1000"/>
              </a:spcAft>
              <a:buNone/>
            </a:pPr>
            <a:r>
              <a:rPr lang="en-GB" sz="700"/>
              <a:t>University of Crete</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oquen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1CB4E21E376642A871B4BBBF376111" ma:contentTypeVersion="13" ma:contentTypeDescription="Create a new document." ma:contentTypeScope="" ma:versionID="fc1d36082d0737f83da639fb8b43a85a">
  <xsd:schema xmlns:xsd="http://www.w3.org/2001/XMLSchema" xmlns:xs="http://www.w3.org/2001/XMLSchema" xmlns:p="http://schemas.microsoft.com/office/2006/metadata/properties" xmlns:ns2="9386251c-c754-4a6c-90dd-93fdc1e17d91" xmlns:ns3="9107b037-0cb1-47e5-b5aa-8e7cc37e5c39" targetNamespace="http://schemas.microsoft.com/office/2006/metadata/properties" ma:root="true" ma:fieldsID="e9612e84d571585f8b9862e0de2ec8a6" ns2:_="" ns3:_="">
    <xsd:import namespace="9386251c-c754-4a6c-90dd-93fdc1e17d91"/>
    <xsd:import namespace="9107b037-0cb1-47e5-b5aa-8e7cc37e5c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86251c-c754-4a6c-90dd-93fdc1e17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107b037-0cb1-47e5-b5aa-8e7cc37e5c3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f7b583d-2f8f-4825-9c51-3524deb2b25a}" ma:internalName="TaxCatchAll" ma:showField="CatchAllData" ma:web="9107b037-0cb1-47e5-b5aa-8e7cc37e5c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86251c-c754-4a6c-90dd-93fdc1e17d91">
      <Terms xmlns="http://schemas.microsoft.com/office/infopath/2007/PartnerControls"/>
    </lcf76f155ced4ddcb4097134ff3c332f>
    <TaxCatchAll xmlns="9107b037-0cb1-47e5-b5aa-8e7cc37e5c39" xsi:nil="true"/>
  </documentManagement>
</p:properties>
</file>

<file path=customXml/itemProps1.xml><?xml version="1.0" encoding="utf-8"?>
<ds:datastoreItem xmlns:ds="http://schemas.openxmlformats.org/officeDocument/2006/customXml" ds:itemID="{4F57F68F-F302-4505-B7B4-2542AAB120A1}"/>
</file>

<file path=customXml/itemProps2.xml><?xml version="1.0" encoding="utf-8"?>
<ds:datastoreItem xmlns:ds="http://schemas.openxmlformats.org/officeDocument/2006/customXml" ds:itemID="{55D8A377-7A4B-42AF-B87F-FCA27B5EA70C}"/>
</file>

<file path=customXml/itemProps3.xml><?xml version="1.0" encoding="utf-8"?>
<ds:datastoreItem xmlns:ds="http://schemas.openxmlformats.org/officeDocument/2006/customXml" ds:itemID="{5B727600-1909-403D-BB6D-5CF7CA6478DA}"/>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2024.09.12.ELOQUENT 2025 plans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0x0101009C1CB4E21E376642A871B4BBBF376111</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